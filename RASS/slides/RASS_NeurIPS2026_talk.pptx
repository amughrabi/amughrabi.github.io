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c4c055a-d664-25ec-412b-c238b248ca29}">
          <p14:sldIdLst>
            <p14:sldId id="256"/>
          </p14:sldIdLst>
        </p14:section>
        <p14:section name="Problem" id="{e5ff5a0c-218a-4b42-130f-eb07a8bf7c8c}">
          <p14:sldIdLst>
            <p14:sldId id="257"/>
          </p14:sldIdLst>
        </p14:section>
        <p14:section name="Method" id="{9d51b4c3-ed8f-e361-f643-5f0dfd327b52}">
          <p14:sldIdLst>
            <p14:sldId id="258"/>
          </p14:sldIdLst>
        </p14:section>
        <p14:section name="Results" id="{f8483f5f-3d3e-9f68-212c-74a85b1c0a48}">
          <p14:sldIdLst>
            <p14:sldId id="259"/>
            <p14:sldId id="260"/>
            <p14:sldId id="261"/>
            <p14:sldId id="262"/>
          </p14:sldIdLst>
        </p14:section>
        <p14:section name="Extensions" id="{4468491b-ae89-0ed6-afb3-0f894dff1cff}">
          <p14:sldIdLst>
            <p14:sldId id="263"/>
            <p14:sldId id="264"/>
            <p14:sldId id="265"/>
          </p14:sldIdLst>
        </p14:section>
        <p14:section name="Closing" id="{006e9f6f-8b34-a3aa-90bb-47040a00dd5c}">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3"/>
          <c:w val="0.8"/>
          <c:h val="0.78"/>
        </c:manualLayout>
      </c:layout>
      <c:scatterChart>
        <c:scatterStyle val="lineMarker"/>
        <c:varyColors val="0"/>
        <c:ser>
          <c:idx val="0"/>
          <c:order val="0"/>
          <c:tx>
            <c:strRef>
              <c:f>Sheet1!$B$1</c:f>
              <c:strCache>
                <c:ptCount val="1"/>
                <c:pt idx="0">
                  <c:v>Pass rate</c:v>
                </c:pt>
              </c:strCache>
            </c:strRef>
          </c:tx>
          <c:spPr>
            <a:solidFill>
              <a:srgbClr val="1F8A80"/>
            </a:solidFill>
            <a:ln w="38100" cap="flat">
              <a:solidFill>
                <a:srgbClr val="1F8A80"/>
              </a:solidFill>
              <a:prstDash val="solid"/>
              <a:round/>
            </a:ln>
            <a:effectLst/>
          </c:spPr>
          <c:marker>
            <c:symbol val="circle"/>
            <c:size val="11"/>
            <c:spPr>
              <a:solidFill>
                <a:srgbClr val="1F8A80"/>
              </a:solidFill>
              <a:ln w="9525" cap="flat">
                <a:solidFill>
                  <a:srgbClr val="1F8A80"/>
                </a:solidFill>
                <a:prstDash val="solid"/>
                <a:round/>
              </a:ln>
              <a:effectLst/>
            </c:spPr>
          </c:marker>
          <c:xVal>
            <c:numRef>
              <c:f>Sheet1!$A$2:$A$6</c:f>
              <c:numCache>
                <c:formatCode>General</c:formatCode>
                <c:ptCount val="5"/>
                <c:pt idx="0">
                  <c:v>48</c:v>
                </c:pt>
                <c:pt idx="1">
                  <c:v>60</c:v>
                </c:pt>
                <c:pt idx="2">
                  <c:v>72</c:v>
                </c:pt>
                <c:pt idx="3">
                  <c:v>96</c:v>
                </c:pt>
                <c:pt idx="4">
                  <c:v>120</c:v>
                </c:pt>
              </c:numCache>
            </c:numRef>
          </c:xVal>
          <c:yVal>
            <c:numRef>
              <c:f>Sheet1!$B$2:$B$6</c:f>
              <c:numCache>
                <c:formatCode>General</c:formatCode>
                <c:ptCount val="5"/>
                <c:pt idx="0">
                  <c:v>0.22</c:v>
                </c:pt>
                <c:pt idx="1">
                  <c:v>0.23</c:v>
                </c:pt>
                <c:pt idx="2">
                  <c:v>0.238</c:v>
                </c:pt>
                <c:pt idx="3">
                  <c:v>0.283</c:v>
                </c:pt>
                <c:pt idx="4">
                  <c:v>0.3</c:v>
                </c:pt>
              </c:numCache>
            </c:numRef>
          </c:yVal>
          <c:smooth val="0"/>
        </c:ser>
        <c:ser>
          <c:idx val="1"/>
          <c:order val="1"/>
          <c:tx>
            <c:strRef>
              <c:f>Sheet1!$C$1</c:f>
              <c:strCache>
                <c:ptCount val="1"/>
                <c:pt idx="0">
                  <c:v>Wilson LCB (95%)</c:v>
                </c:pt>
              </c:strCache>
            </c:strRef>
          </c:tx>
          <c:spPr>
            <a:solidFill>
              <a:srgbClr val="E4572E"/>
            </a:solidFill>
            <a:ln w="38100" cap="flat">
              <a:solidFill>
                <a:srgbClr val="E4572E"/>
              </a:solidFill>
              <a:prstDash val="solid"/>
              <a:round/>
            </a:ln>
            <a:effectLst/>
          </c:spPr>
          <c:marker>
            <c:symbol val="circle"/>
            <c:size val="11"/>
            <c:spPr>
              <a:solidFill>
                <a:srgbClr val="E4572E"/>
              </a:solidFill>
              <a:ln w="9525" cap="flat">
                <a:solidFill>
                  <a:srgbClr val="E4572E"/>
                </a:solidFill>
                <a:prstDash val="solid"/>
                <a:round/>
              </a:ln>
              <a:effectLst/>
            </c:spPr>
          </c:marker>
          <c:xVal>
            <c:numRef>
              <c:f>Sheet1!$A$2:$A$6</c:f>
              <c:numCache>
                <c:formatCode>General</c:formatCode>
                <c:ptCount val="5"/>
                <c:pt idx="0">
                  <c:v>48</c:v>
                </c:pt>
                <c:pt idx="1">
                  <c:v>60</c:v>
                </c:pt>
                <c:pt idx="2">
                  <c:v>72</c:v>
                </c:pt>
                <c:pt idx="3">
                  <c:v>96</c:v>
                </c:pt>
                <c:pt idx="4">
                  <c:v>120</c:v>
                </c:pt>
              </c:numCache>
            </c:numRef>
          </c:xVal>
          <c:yVal>
            <c:numRef>
              <c:f>Sheet1!$C$2:$C$6</c:f>
              <c:numCache>
                <c:formatCode>General</c:formatCode>
                <c:ptCount val="5"/>
                <c:pt idx="0">
                  <c:v>0.182</c:v>
                </c:pt>
                <c:pt idx="1">
                  <c:v>0.191</c:v>
                </c:pt>
                <c:pt idx="2">
                  <c:v>0.198</c:v>
                </c:pt>
                <c:pt idx="3">
                  <c:v>0.241</c:v>
                </c:pt>
                <c:pt idx="4">
                  <c:v>0.257</c:v>
                </c:pt>
              </c:numCache>
            </c:numRef>
          </c:yVal>
          <c:smooth val="0"/>
        </c:ser>
        <c:dLbls>
          <c:numFmt formatCode="General"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26"/>
          <c:min val="42"/>
        </c:scaling>
        <c:delete val="1"/>
        <c:axPos val="b"/>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valAx>
      <c:valAx>
        <c:axId val="2094734552"/>
        <c:scaling>
          <c:orientation val="minMax"/>
          <c:max val="0.32"/>
          <c:min val="0"/>
        </c:scaling>
        <c:delete val="0"/>
        <c:axPos val="l"/>
        <c:majorGridlines>
          <c:spPr>
            <a:ln w="9525" cap="flat">
              <a:solidFill>
                <a:srgbClr val="DDE3E6"/>
              </a:solidFill>
              <a:prstDash val="solid"/>
              <a:round/>
            </a:ln>
          </c:spPr>
        </c:majorGridlines>
        <c:title>
          <c:tx>
            <c:rich>
              <a:bodyPr/>
              <a:lstStyle/>
              <a:p>
                <a:pPr>
                  <a:defRPr sz="1600" b="0" i="0" u="none" strike="noStrike">
                    <a:solidFill>
                      <a:srgbClr val="3B4752"/>
                    </a:solidFill>
                    <a:latin typeface="+mn-lt"/>
                  </a:defRPr>
                </a:pPr>
                <a:r>
                  <a:rPr sz="1600" b="0" i="0" u="none" strike="noStrike">
                    <a:solidFill>
                      <a:srgbClr val="3B4752"/>
                    </a:solidFill>
                    <a:latin typeface="+mn-lt"/>
                  </a:rPr>
                  <a:t>Pass probability</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600" b="0" i="0" u="none" strike="noStrike">
                <a:solidFill>
                  <a:srgbClr val="3B4752"/>
                </a:solidFill>
                <a:latin typeface="+mn-lt"/>
              </a:defRPr>
            </a:pPr>
            <a:endParaRPr lang="en-US"/>
          </a:p>
        </c:txPr>
        <c:crossAx val="2094734554"/>
        <c:crosses val="autoZero"/>
        <c:crossBetween val="midCat"/>
        <c:majorUnit val="0.08"/>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3"/>
          <c:y val="0.03"/>
          <c:w val="0.8"/>
          <c:h val="0.78"/>
        </c:manualLayout>
      </c:layout>
      <c:scatterChart>
        <c:scatterStyle val="lineMarker"/>
        <c:varyColors val="0"/>
        <c:ser>
          <c:idx val="0"/>
          <c:order val="0"/>
          <c:tx>
            <c:strRef>
              <c:f>Sheet1!$B$1</c:f>
              <c:strCache>
                <c:ptCount val="1"/>
                <c:pt idx="0">
                  <c:v>Pass rate</c:v>
                </c:pt>
              </c:strCache>
            </c:strRef>
          </c:tx>
          <c:spPr>
            <a:solidFill>
              <a:srgbClr val="1F8A80"/>
            </a:solidFill>
            <a:ln w="38100" cap="flat">
              <a:solidFill>
                <a:srgbClr val="1F8A80"/>
              </a:solidFill>
              <a:prstDash val="solid"/>
              <a:round/>
            </a:ln>
            <a:effectLst/>
          </c:spPr>
          <c:marker>
            <c:symbol val="circle"/>
            <c:size val="11"/>
            <c:spPr>
              <a:solidFill>
                <a:srgbClr val="1F8A80"/>
              </a:solidFill>
              <a:ln w="9525" cap="flat">
                <a:solidFill>
                  <a:srgbClr val="1F8A80"/>
                </a:solidFill>
                <a:prstDash val="solid"/>
                <a:round/>
              </a:ln>
              <a:effectLst/>
            </c:spPr>
          </c:marker>
          <c:xVal>
            <c:numRef>
              <c:f>Sheet1!$A$2:$A$6</c:f>
              <c:numCache>
                <c:formatCode>General</c:formatCode>
                <c:ptCount val="5"/>
                <c:pt idx="0">
                  <c:v>48</c:v>
                </c:pt>
                <c:pt idx="1">
                  <c:v>60</c:v>
                </c:pt>
                <c:pt idx="2">
                  <c:v>72</c:v>
                </c:pt>
                <c:pt idx="3">
                  <c:v>96</c:v>
                </c:pt>
                <c:pt idx="4">
                  <c:v>120</c:v>
                </c:pt>
              </c:numCache>
            </c:numRef>
          </c:xVal>
          <c:yVal>
            <c:numRef>
              <c:f>Sheet1!$B$2:$B$6</c:f>
              <c:numCache>
                <c:formatCode>General</c:formatCode>
                <c:ptCount val="5"/>
                <c:pt idx="0">
                  <c:v>0.22</c:v>
                </c:pt>
                <c:pt idx="1">
                  <c:v>0.23</c:v>
                </c:pt>
                <c:pt idx="2">
                  <c:v>0.238</c:v>
                </c:pt>
                <c:pt idx="3">
                  <c:v>0.283</c:v>
                </c:pt>
                <c:pt idx="4">
                  <c:v>0.3</c:v>
                </c:pt>
              </c:numCache>
            </c:numRef>
          </c:yVal>
          <c:smooth val="0"/>
        </c:ser>
        <c:ser>
          <c:idx val="1"/>
          <c:order val="1"/>
          <c:tx>
            <c:strRef>
              <c:f>Sheet1!$C$1</c:f>
              <c:strCache>
                <c:ptCount val="1"/>
                <c:pt idx="0">
                  <c:v>Wilson LCB (95%)</c:v>
                </c:pt>
              </c:strCache>
            </c:strRef>
          </c:tx>
          <c:spPr>
            <a:solidFill>
              <a:srgbClr val="E4572E"/>
            </a:solidFill>
            <a:ln w="38100" cap="flat">
              <a:solidFill>
                <a:srgbClr val="E4572E"/>
              </a:solidFill>
              <a:prstDash val="solid"/>
              <a:round/>
            </a:ln>
            <a:effectLst/>
          </c:spPr>
          <c:marker>
            <c:symbol val="circle"/>
            <c:size val="11"/>
            <c:spPr>
              <a:solidFill>
                <a:srgbClr val="E4572E"/>
              </a:solidFill>
              <a:ln w="9525" cap="flat">
                <a:solidFill>
                  <a:srgbClr val="E4572E"/>
                </a:solidFill>
                <a:prstDash val="solid"/>
                <a:round/>
              </a:ln>
              <a:effectLst/>
            </c:spPr>
          </c:marker>
          <c:xVal>
            <c:numRef>
              <c:f>Sheet1!$A$2:$A$6</c:f>
              <c:numCache>
                <c:formatCode>General</c:formatCode>
                <c:ptCount val="5"/>
                <c:pt idx="0">
                  <c:v>48</c:v>
                </c:pt>
                <c:pt idx="1">
                  <c:v>60</c:v>
                </c:pt>
                <c:pt idx="2">
                  <c:v>72</c:v>
                </c:pt>
                <c:pt idx="3">
                  <c:v>96</c:v>
                </c:pt>
                <c:pt idx="4">
                  <c:v>120</c:v>
                </c:pt>
              </c:numCache>
            </c:numRef>
          </c:xVal>
          <c:yVal>
            <c:numRef>
              <c:f>Sheet1!$C$2:$C$6</c:f>
              <c:numCache>
                <c:formatCode>General</c:formatCode>
                <c:ptCount val="5"/>
                <c:pt idx="0">
                  <c:v>0.182</c:v>
                </c:pt>
                <c:pt idx="1">
                  <c:v>0.191</c:v>
                </c:pt>
                <c:pt idx="2">
                  <c:v>0.198</c:v>
                </c:pt>
                <c:pt idx="3">
                  <c:v>0.241</c:v>
                </c:pt>
                <c:pt idx="4">
                  <c:v>0.257</c:v>
                </c:pt>
              </c:numCache>
            </c:numRef>
          </c:yVal>
          <c:smooth val="0"/>
        </c:ser>
        <c:dLbls>
          <c:numFmt formatCode="General"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dLbls>
        <c:axId val="2094734554"/>
        <c:axId val="2094734552"/>
      </c:scatterChart>
      <c:valAx>
        <c:axId val="2094734554"/>
        <c:scaling>
          <c:orientation val="minMax"/>
          <c:max val="126"/>
          <c:min val="42"/>
        </c:scaling>
        <c:delete val="1"/>
        <c:axPos val="b"/>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2"/>
        <c:crosses val="autoZero"/>
        <c:auto val="1"/>
        <c:lblAlgn val="ctr"/>
        <c:noMultiLvlLbl val="1"/>
      </c:valAx>
      <c:valAx>
        <c:axId val="2094734552"/>
        <c:scaling>
          <c:orientation val="minMax"/>
          <c:max val="0.32"/>
          <c:min val="0"/>
        </c:scaling>
        <c:delete val="0"/>
        <c:axPos val="l"/>
        <c:majorGridlines>
          <c:spPr>
            <a:ln w="9525" cap="flat">
              <a:solidFill>
                <a:srgbClr val="DDE3E6"/>
              </a:solidFill>
              <a:prstDash val="solid"/>
              <a:round/>
            </a:ln>
          </c:spPr>
        </c:majorGridlines>
        <c:title>
          <c:tx>
            <c:rich>
              <a:bodyPr/>
              <a:lstStyle/>
              <a:p>
                <a:pPr>
                  <a:defRPr sz="1600" b="0" i="0" u="none" strike="noStrike">
                    <a:solidFill>
                      <a:srgbClr val="3B4752"/>
                    </a:solidFill>
                    <a:latin typeface="+mn-lt"/>
                  </a:defRPr>
                </a:pPr>
                <a:r>
                  <a:rPr sz="1600" b="0" i="0" u="none" strike="noStrike">
                    <a:solidFill>
                      <a:srgbClr val="3B4752"/>
                    </a:solidFill>
                    <a:latin typeface="+mn-lt"/>
                  </a:rPr>
                  <a:t>Pass probability</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600" b="0" i="0" u="none" strike="noStrike">
                <a:solidFill>
                  <a:srgbClr val="3B4752"/>
                </a:solidFill>
                <a:latin typeface="+mn-lt"/>
              </a:defRPr>
            </a:pPr>
            <a:endParaRPr lang="en-US"/>
          </a:p>
        </c:txPr>
        <c:crossAx val="2094734554"/>
        <c:crosses val="autoZero"/>
        <c:crossBetween val="midCat"/>
        <c:majorUnit val="0.08"/>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25"/>
          <c:y val="0.02"/>
          <c:w val="0.62"/>
          <c:h val="0.96"/>
        </c:manualLayout>
      </c:layout>
      <c:barChart>
        <c:barDir val="bar"/>
        <c:grouping val="clustered"/>
        <c:varyColors val="0"/>
        <c:ser>
          <c:idx val="0"/>
          <c:order val="0"/>
          <c:tx>
            <c:strRef>
              <c:f>Sheet1!$B$1</c:f>
              <c:strCache>
                <c:ptCount val="1"/>
                <c:pt idx="0">
                  <c:v>Share of tolerance</c:v>
                </c:pt>
              </c:strCache>
            </c:strRef>
          </c:tx>
          <c:spPr>
            <a:solidFill>
              <a:srgbClr val="1F8A80"/>
            </a:solidFill>
            <a:effectLst/>
          </c:spPr>
          <c:invertIfNegative val="0"/>
          <c:dLbls>
            <c:numFmt formatCode="[&lt;0.01]&quot;&lt;1%&quot;;0%" sourceLinked="0"/>
            <c:txPr>
              <a:bodyPr/>
              <a:lstStyle/>
              <a:p>
                <a:pPr>
                  <a:defRPr b="1" i="0" strike="noStrike" sz="1600" u="none">
                    <a:solidFill>
                      <a:srgbClr val="17212B"/>
                    </a:solidFill>
                    <a:latin typeface="+mn-lt"/>
                  </a:defRPr>
                </a:pPr>
              </a:p>
            </c:txPr>
            <c:showLegendKey val="0"/>
            <c:showVal val="1"/>
            <c:showCatName val="0"/>
            <c:showSerName val="0"/>
            <c:showPercent val="0"/>
            <c:showBubbleSize val="0"/>
            <c:showLeaderLines val="0"/>
          </c:dLbls>
          <c:dPt>
            <c:idx val="0"/>
            <c:invertIfNegative val="0"/>
            <c:bubble3D val="0"/>
            <c:spPr>
              <a:solidFill>
                <a:srgbClr val="1F8A80"/>
              </a:solidFill>
              <a:effectLst/>
            </c:spPr>
          </c:dPt>
          <c:dPt>
            <c:idx val="1"/>
            <c:invertIfNegative val="0"/>
            <c:bubble3D val="0"/>
            <c:spPr>
              <a:solidFill>
                <a:srgbClr val="7FC8BF"/>
              </a:solidFill>
              <a:effectLst/>
            </c:spPr>
          </c:dPt>
          <c:dPt>
            <c:idx val="2"/>
            <c:invertIfNegative val="0"/>
            <c:bubble3D val="0"/>
            <c:spPr>
              <a:solidFill>
                <a:srgbClr val="7FC8BF"/>
              </a:solidFill>
              <a:effectLst/>
            </c:spPr>
          </c:dPt>
          <c:dPt>
            <c:idx val="3"/>
            <c:invertIfNegative val="0"/>
            <c:bubble3D val="0"/>
            <c:spPr>
              <a:solidFill>
                <a:srgbClr val="7FC8BF"/>
              </a:solidFill>
              <a:effectLst/>
            </c:spPr>
          </c:dPt>
          <c:dPt>
            <c:idx val="4"/>
            <c:invertIfNegative val="0"/>
            <c:bubble3D val="0"/>
            <c:spPr>
              <a:solidFill>
                <a:srgbClr val="7FC8BF"/>
              </a:solidFill>
              <a:effectLst/>
            </c:spPr>
          </c:dPt>
          <c:dPt>
            <c:idx val="5"/>
            <c:invertIfNegative val="0"/>
            <c:bubble3D val="0"/>
            <c:spPr>
              <a:solidFill>
                <a:srgbClr val="7FC8BF"/>
              </a:solidFill>
              <a:effectLst/>
            </c:spPr>
          </c:dPt>
          <c:cat>
            <c:multiLvlStrRef>
              <c:f>Sheet1!$A$2:$A$7</c:f>
              <c:multiLvlStrCache>
                <c:ptCount val="6"/>
                <c:lvl>
                  <c:pt idx="0">
                    <c:v>LPIPS KS</c:v>
                  </c:pt>
                  <c:pt idx="1">
                    <c:v>SSIM KS</c:v>
                  </c:pt>
                  <c:pt idx="2">
                    <c:v>PSNR KS</c:v>
                  </c:pt>
                  <c:pt idx="3">
                    <c:v>LPIPS mean gap</c:v>
                  </c:pt>
                  <c:pt idx="4">
                    <c:v>SSIM mean gap</c:v>
                  </c:pt>
                  <c:pt idx="5">
                    <c:v>PSNR mean gap</c:v>
                  </c:pt>
                </c:lvl>
              </c:multiLvlStrCache>
            </c:multiLvlStrRef>
          </c:cat>
          <c:val>
            <c:numRef>
              <c:f>Sheet1!$B$2:$B$7</c:f>
              <c:numCache>
                <c:formatCode>General</c:formatCode>
                <c:ptCount val="6"/>
                <c:pt idx="0">
                  <c:v>0.804</c:v>
                </c:pt>
                <c:pt idx="1">
                  <c:v>0.531</c:v>
                </c:pt>
                <c:pt idx="2">
                  <c:v>0.646</c:v>
                </c:pt>
                <c:pt idx="3">
                  <c:v>0.0046</c:v>
                </c:pt>
                <c:pt idx="4">
                  <c:v>0.592</c:v>
                </c:pt>
                <c:pt idx="5">
                  <c:v>0.306</c:v>
                </c:pt>
              </c:numCache>
            </c:numRef>
          </c:val>
        </c:ser>
        <c:dLbls>
          <c:numFmt formatCode="[&lt;0.01]&quot;&lt;1%&quot;;0%" sourceLinked="0"/>
          <c:txPr>
            <a:bodyPr/>
            <a:lstStyle/>
            <a:p>
              <a:pPr>
                <a:defRPr b="1" i="0" strike="noStrike" sz="1600" u="none">
                  <a:solidFill>
                    <a:srgbClr val="1721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600" b="0" i="0" u="none" strike="noStrike">
                <a:solidFill>
                  <a:srgbClr val="17212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2"/>
          <c:y val="0"/>
          <c:w val="0.44"/>
          <c:h val="1"/>
        </c:manualLayout>
      </c:layout>
      <c:barChart>
        <c:barDir val="bar"/>
        <c:grouping val="clustered"/>
        <c:varyColors val="0"/>
        <c:ser>
          <c:idx val="0"/>
          <c:order val="0"/>
          <c:tx>
            <c:strRef>
              <c:f>Sheet1!$B$1</c:f>
              <c:strCache>
                <c:ptCount val="1"/>
                <c:pt idx="0">
                  <c:v>Min certified size</c:v>
                </c:pt>
              </c:strCache>
            </c:strRef>
          </c:tx>
          <c:spPr>
            <a:solidFill>
              <a:srgbClr val="5B6B78"/>
            </a:solidFill>
            <a:effectLst/>
          </c:spPr>
          <c:invertIfNegative val="0"/>
          <c:dLbls>
            <c:numFmt formatCode="0" sourceLinked="0"/>
            <c:txPr>
              <a:bodyPr/>
              <a:lstStyle/>
              <a:p>
                <a:pPr>
                  <a:defRPr b="1" i="0" strike="noStrike" sz="1500" u="none">
                    <a:solidFill>
                      <a:srgbClr val="17212B"/>
                    </a:solidFill>
                    <a:latin typeface="+mn-lt"/>
                  </a:defRPr>
                </a:pPr>
              </a:p>
            </c:txPr>
            <c:showLegendKey val="0"/>
            <c:showVal val="1"/>
            <c:showCatName val="0"/>
            <c:showSerName val="0"/>
            <c:showPercent val="0"/>
            <c:showBubbleSize val="0"/>
            <c:showLeaderLines val="0"/>
          </c:dLbls>
          <c:dPt>
            <c:idx val="0"/>
            <c:invertIfNegative val="0"/>
            <c:bubble3D val="0"/>
            <c:spPr>
              <a:solidFill>
                <a:srgbClr val="5B6B78"/>
              </a:solidFill>
              <a:effectLst/>
            </c:spPr>
          </c:dPt>
          <c:dPt>
            <c:idx val="1"/>
            <c:invertIfNegative val="0"/>
            <c:bubble3D val="0"/>
            <c:spPr>
              <a:solidFill>
                <a:srgbClr val="1F8A80"/>
              </a:solidFill>
              <a:effectLst/>
            </c:spPr>
          </c:dPt>
          <c:dPt>
            <c:idx val="2"/>
            <c:invertIfNegative val="0"/>
            <c:bubble3D val="0"/>
            <c:spPr>
              <a:solidFill>
                <a:srgbClr val="7FC8BF"/>
              </a:solidFill>
              <a:effectLst/>
            </c:spPr>
          </c:dPt>
          <c:cat>
            <c:multiLvlStrRef>
              <c:f>Sheet1!$A$2:$A$4</c:f>
              <c:multiLvlStrCache>
                <c:ptCount val="3"/>
                <c:lvl>
                  <c:pt idx="0">
                    <c:v>Random</c:v>
                  </c:pt>
                  <c:pt idx="1">
                    <c:v>Balanced</c:v>
                  </c:pt>
                  <c:pt idx="2">
                    <c:v>Facility loc. (unstable)</c:v>
                  </c:pt>
                </c:lvl>
              </c:multiLvlStrCache>
            </c:multiLvlStrRef>
          </c:cat>
          <c:val>
            <c:numRef>
              <c:f>Sheet1!$B$2:$B$4</c:f>
              <c:numCache>
                <c:formatCode>General</c:formatCode>
                <c:ptCount val="3"/>
                <c:pt idx="0">
                  <c:v>48</c:v>
                </c:pt>
                <c:pt idx="1">
                  <c:v>48</c:v>
                </c:pt>
                <c:pt idx="2">
                  <c:v>36</c:v>
                </c:pt>
              </c:numCache>
            </c:numRef>
          </c:val>
        </c:ser>
        <c:dLbls>
          <c:numFmt formatCode="0" sourceLinked="0"/>
          <c:txPr>
            <a:bodyPr/>
            <a:lstStyle/>
            <a:p>
              <a:pPr>
                <a:defRPr b="1" i="0" strike="noStrike" sz="1500" u="none">
                  <a:solidFill>
                    <a:srgbClr val="1721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7212B"/>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2"/>
          <c:y val="0"/>
          <c:w val="0.44"/>
          <c:h val="1"/>
        </c:manualLayout>
      </c:layout>
      <c:barChart>
        <c:barDir val="bar"/>
        <c:grouping val="clustered"/>
        <c:varyColors val="0"/>
        <c:ser>
          <c:idx val="0"/>
          <c:order val="0"/>
          <c:tx>
            <c:strRef>
              <c:f>Sheet1!$B$1</c:f>
              <c:strCache>
                <c:ptCount val="1"/>
                <c:pt idx="0">
                  <c:v>Min certified size</c:v>
                </c:pt>
              </c:strCache>
            </c:strRef>
          </c:tx>
          <c:spPr>
            <a:solidFill>
              <a:srgbClr val="5B6B78"/>
            </a:solidFill>
            <a:effectLst/>
          </c:spPr>
          <c:invertIfNegative val="0"/>
          <c:dLbls>
            <c:numFmt formatCode="0" sourceLinked="0"/>
            <c:txPr>
              <a:bodyPr/>
              <a:lstStyle/>
              <a:p>
                <a:pPr>
                  <a:defRPr b="1" i="0" strike="noStrike" sz="1500" u="none">
                    <a:solidFill>
                      <a:srgbClr val="17212B"/>
                    </a:solidFill>
                    <a:latin typeface="+mn-lt"/>
                  </a:defRPr>
                </a:pPr>
              </a:p>
            </c:txPr>
            <c:showLegendKey val="0"/>
            <c:showVal val="1"/>
            <c:showCatName val="0"/>
            <c:showSerName val="0"/>
            <c:showPercent val="0"/>
            <c:showBubbleSize val="0"/>
            <c:showLeaderLines val="0"/>
          </c:dLbls>
          <c:dPt>
            <c:idx val="0"/>
            <c:invertIfNegative val="0"/>
            <c:bubble3D val="0"/>
            <c:spPr>
              <a:solidFill>
                <a:srgbClr val="5B6B78"/>
              </a:solidFill>
              <a:effectLst/>
            </c:spPr>
          </c:dPt>
          <c:dPt>
            <c:idx val="1"/>
            <c:invertIfNegative val="0"/>
            <c:bubble3D val="0"/>
            <c:spPr>
              <a:solidFill>
                <a:srgbClr val="1F8A80"/>
              </a:solidFill>
              <a:effectLst/>
            </c:spPr>
          </c:dPt>
          <c:dPt>
            <c:idx val="2"/>
            <c:invertIfNegative val="0"/>
            <c:bubble3D val="0"/>
            <c:spPr>
              <a:solidFill>
                <a:srgbClr val="7FC8BF"/>
              </a:solidFill>
              <a:effectLst/>
            </c:spPr>
          </c:dPt>
          <c:cat>
            <c:multiLvlStrRef>
              <c:f>Sheet1!$A$2:$A$4</c:f>
              <c:multiLvlStrCache>
                <c:ptCount val="3"/>
                <c:lvl>
                  <c:pt idx="0">
                    <c:v>Random</c:v>
                  </c:pt>
                  <c:pt idx="1">
                    <c:v>Balanced</c:v>
                  </c:pt>
                  <c:pt idx="2">
                    <c:v>Facility loc. (unstable)</c:v>
                  </c:pt>
                </c:lvl>
              </c:multiLvlStrCache>
            </c:multiLvlStrRef>
          </c:cat>
          <c:val>
            <c:numRef>
              <c:f>Sheet1!$B$2:$B$4</c:f>
              <c:numCache>
                <c:formatCode>General</c:formatCode>
                <c:ptCount val="3"/>
                <c:pt idx="0">
                  <c:v>48</c:v>
                </c:pt>
                <c:pt idx="1">
                  <c:v>48</c:v>
                </c:pt>
                <c:pt idx="2">
                  <c:v>36</c:v>
                </c:pt>
              </c:numCache>
            </c:numRef>
          </c:val>
        </c:ser>
        <c:dLbls>
          <c:numFmt formatCode="0" sourceLinked="0"/>
          <c:txPr>
            <a:bodyPr/>
            <a:lstStyle/>
            <a:p>
              <a:pPr>
                <a:defRPr b="1" i="0" strike="noStrike" sz="1500" u="none">
                  <a:solidFill>
                    <a:srgbClr val="1721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7212B"/>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2"/>
          <c:y val="0"/>
          <c:w val="0.44"/>
          <c:h val="1"/>
        </c:manualLayout>
      </c:layout>
      <c:barChart>
        <c:barDir val="bar"/>
        <c:grouping val="clustered"/>
        <c:varyColors val="0"/>
        <c:ser>
          <c:idx val="0"/>
          <c:order val="0"/>
          <c:tx>
            <c:strRef>
              <c:f>Sheet1!$B$1</c:f>
              <c:strCache>
                <c:ptCount val="1"/>
                <c:pt idx="0">
                  <c:v>Min certified size</c:v>
                </c:pt>
              </c:strCache>
            </c:strRef>
          </c:tx>
          <c:spPr>
            <a:solidFill>
              <a:srgbClr val="5B6B78"/>
            </a:solidFill>
            <a:effectLst/>
          </c:spPr>
          <c:invertIfNegative val="0"/>
          <c:dLbls>
            <c:numFmt formatCode="0" sourceLinked="0"/>
            <c:txPr>
              <a:bodyPr/>
              <a:lstStyle/>
              <a:p>
                <a:pPr>
                  <a:defRPr b="1" i="0" strike="noStrike" sz="1500" u="none">
                    <a:solidFill>
                      <a:srgbClr val="17212B"/>
                    </a:solidFill>
                    <a:latin typeface="+mn-lt"/>
                  </a:defRPr>
                </a:pPr>
              </a:p>
            </c:txPr>
            <c:showLegendKey val="0"/>
            <c:showVal val="1"/>
            <c:showCatName val="0"/>
            <c:showSerName val="0"/>
            <c:showPercent val="0"/>
            <c:showBubbleSize val="0"/>
            <c:showLeaderLines val="0"/>
          </c:dLbls>
          <c:dPt>
            <c:idx val="0"/>
            <c:invertIfNegative val="0"/>
            <c:bubble3D val="0"/>
            <c:spPr>
              <a:solidFill>
                <a:srgbClr val="5B6B78"/>
              </a:solidFill>
              <a:effectLst/>
            </c:spPr>
          </c:dPt>
          <c:dPt>
            <c:idx val="1"/>
            <c:invertIfNegative val="0"/>
            <c:bubble3D val="0"/>
            <c:spPr>
              <a:solidFill>
                <a:srgbClr val="1F8A80"/>
              </a:solidFill>
              <a:effectLst/>
            </c:spPr>
          </c:dPt>
          <c:dPt>
            <c:idx val="2"/>
            <c:invertIfNegative val="0"/>
            <c:bubble3D val="0"/>
            <c:spPr>
              <a:solidFill>
                <a:srgbClr val="7FC8BF"/>
              </a:solidFill>
              <a:effectLst/>
            </c:spPr>
          </c:dPt>
          <c:cat>
            <c:multiLvlStrRef>
              <c:f>Sheet1!$A$2:$A$4</c:f>
              <c:multiLvlStrCache>
                <c:ptCount val="3"/>
                <c:lvl>
                  <c:pt idx="0">
                    <c:v>Random</c:v>
                  </c:pt>
                  <c:pt idx="1">
                    <c:v>Balanced</c:v>
                  </c:pt>
                  <c:pt idx="2">
                    <c:v>Facility loc. (unstable)</c:v>
                  </c:pt>
                </c:lvl>
              </c:multiLvlStrCache>
            </c:multiLvlStrRef>
          </c:cat>
          <c:val>
            <c:numRef>
              <c:f>Sheet1!$B$2:$B$4</c:f>
              <c:numCache>
                <c:formatCode>General</c:formatCode>
                <c:ptCount val="3"/>
                <c:pt idx="0">
                  <c:v>48</c:v>
                </c:pt>
                <c:pt idx="1">
                  <c:v>48</c:v>
                </c:pt>
                <c:pt idx="2">
                  <c:v>36</c:v>
                </c:pt>
              </c:numCache>
            </c:numRef>
          </c:val>
        </c:ser>
        <c:dLbls>
          <c:numFmt formatCode="0" sourceLinked="0"/>
          <c:txPr>
            <a:bodyPr/>
            <a:lstStyle/>
            <a:p>
              <a:pPr>
                <a:defRPr b="1" i="0" strike="noStrike" sz="1500" u="none">
                  <a:solidFill>
                    <a:srgbClr val="1721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400" b="0" i="0" u="none" strike="noStrike">
                <a:solidFill>
                  <a:srgbClr val="17212B"/>
                </a:solidFill>
                <a:latin typeface="+mn-lt"/>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you could benchmark on 48 scenes instead of 3,521, with a statistical audit behind that choice? Hello, I'm Ahmad AlMughrabi from the University of Barcelona, presenting RASS, joint work with Flavià Serret, Ricardo Marques and Petia Radeva.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NeRF methods are trained per scene, so every ablation on our full benchmark means 3,521 trainings; producing the full logs once took a supercomputer with up to 512 H100 GPUs. So people evaluate on small ad hoc subsets, which can look right for the wrong reasons. These are real 48-scene draws: one matches every mean, yet its LPIPS distribution drifts; another matches PSNR almost exactly, while SSIM and LPIPS miss. And any single pass may be luck. So we ask: what is the smallest subset that preserves the full-benchmark summaries under explicit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RASS answers with an audit. We describe each scene with 57 descriptors and cluster the scenes into six regimes. For each budget, a generator draws 400 candidate subsets, here with equal scenes per regime. Each candidate must pass six constraints at once: the PSNR, SSIM and LPIPS means within tolerance, and a Kolmogorov-Smirnov bound on each distribution. Against luck, we audit the pass rate of the procedure, not a single subset. Once a budget is certified, we export one passing draw by a fixed rule and validate it on its own. All of this runs on existing logs, on 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400 real draws at 48 scenes. 88 pass all six constraints, a pass rate of 0.22; the seven amber ones matched every mean but failed the KS bound. The 95% Wilson lower bound, a pessimistic pass rate, is 0.182, above our target of 0.08, so the 48-scene budget is certified. The target is a yield: on average, at most about twelve cheap log checks find a passing subset.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Repeating this for each budget on our grid gives the cost-reliability frontier. Teal is the pass rate; red is its lower bound. With the target at 0.08, the smallest evaluated budget is 48 scenes: RASS-48, our screening subset for ablations.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Raise the target to 0.20, and the lower bound first clears it at 96 scenes: RASS-96. It costs twice the scenes but carries a stronger guarantee, so we recommend it for results you report. You pick the point on the frontier that matches the reliability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then check the exported RASS-48 subset itself. Each bar is the share of a tolerance it uses, and all six stay below the limit; the closest is the LPIPS KS distance, at 80 percent. That is 73 times fewer scenes than the full benchmark, eight from each regime. The guarantee is global: we do not claim per-regime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audit extends to several methods at once. In joint audits, RASS-48 passes 14 of 16 constraints for three methods, while RASS-96 passes all 16, and all 22 with nerfacto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generator plugs in. Random and balanced sampling certify at 48 scenes and facility location at 36, though its reimplementation is unstable across seeds, and balanced sampling also passes at 36 on an extended grid. k-center coverage fails up to 96 scenes, so coverage alone is not fidelity.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protocol transfers: on DL3DV, a contract re-declared for that dataset certifies 64 of 140 scenes for four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use RASS, train on RASS-48 to screen ideas or on RASS-96 to report results, and compare with our released logs on the same scenes. The guarantee is global, and neither subset replaces a full leaderboard. Everything is released, so you can rerun the audit for your own methods. So next time you shrink a benchmark, audit it.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600200"/>
            <a:ext cx="5852160" cy="1097280"/>
          </a:xfrm>
          <a:prstGeom prst="rect">
            <a:avLst/>
          </a:prstGeom>
          <a:noFill/>
          <a:ln/>
        </p:spPr>
        <p:txBody>
          <a:bodyPr wrap="square" rtlCol="0"/>
          <a:lstStyle>
            <a:lvl1pPr algn="l" indent="0" marL="0">
              <a:buNone/>
              <a:defRPr lang="en-US" sz="7200" b="1" dirty="0">
                <a:solidFill>
                  <a:schemeClr val="bg1"/>
                </a:solidFill>
              </a:defRPr>
            </a:lvl1pPr>
          </a:lstStyle>
          <a:p>
            <a:pPr algn="l" indent="0" marL="0">
              <a:buNone/>
            </a:pPr>
            <a:endParaRPr lang="en-US" sz="7200" dirty="0"/>
          </a:p>
        </p:txBody>
      </p:sp>
      <p:sp>
        <p:nvSpPr>
          <p:cNvPr id="3" name="Text 0"/>
          <p:cNvSpPr/>
          <p:nvPr>
            <p:ph idx="101" type="body" hasCustomPrompt="1"/>
          </p:nvPr>
        </p:nvSpPr>
        <p:spPr>
          <a:xfrm>
            <a:off x="548640" y="2743200"/>
            <a:ext cx="5760720" cy="914400"/>
          </a:xfrm>
          <a:prstGeom prst="rect">
            <a:avLst/>
          </a:prstGeom>
          <a:noFill/>
          <a:ln/>
        </p:spPr>
        <p:txBody>
          <a:bodyPr wrap="square" rtlCol="0"/>
          <a:lstStyle>
            <a:lvl1pPr indent="0" marL="0">
              <a:buNone/>
              <a:defRPr lang="en-US" sz="2600" dirty="0">
                <a:solidFill>
                  <a:schemeClr val="accent5"/>
                </a:solidFill>
              </a:defRPr>
            </a:lvl1pPr>
          </a:lstStyle>
          <a:p>
            <a:pPr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chemeClr val="accent4"/>
                </a:solidFill>
              </a:rPr>
              <a:t>RASS · NeurIPS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nvSpPr>
        <p:spPr>
          <a:xfrm>
            <a:off x="548640" y="6400800"/>
            <a:ext cx="4572000" cy="274320"/>
          </a:xfrm>
          <a:prstGeom prst="rect">
            <a:avLst/>
          </a:prstGeom>
          <a:noFill/>
          <a:ln/>
        </p:spPr>
        <p:txBody>
          <a:bodyPr wrap="square" lIns="0" tIns="0" rIns="0" bIns="0" rtlCol="0" anchor="ctr"/>
          <a:lstStyle/>
          <a:p>
            <a:pPr indent="0" marL="0">
              <a:buNone/>
            </a:pPr>
            <a:r>
              <a:rPr lang="en-US" sz="1000" dirty="0">
                <a:solidFill>
                  <a:schemeClr val="accent5"/>
                </a:solidFill>
              </a:rPr>
              <a:t>RASS · NeurIPS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7-1.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chart" Target="/ppt/charts/chart5.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4" Type="http://schemas.openxmlformats.org/officeDocument/2006/relationships/chart" Target="/ppt/charts/chart6.xml"/><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GCVCG/RASS" TargetMode="External"/><Relationship Id="rId4" Type="http://schemas.openxmlformats.org/officeDocument/2006/relationships/hyperlink" Target="https://kaggle.com/datasets/nobodyeh/rass-nerf-benchmark-artifact" TargetMode="External"/><Relationship Id="rId1" Type="http://schemas.openxmlformats.org/officeDocument/2006/relationships/image" Target="../media/image-11-1.png"/><Relationship Id="rId3"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1097280"/>
            <a:ext cx="5760720" cy="365760"/>
          </a:xfrm>
          <a:prstGeom prst="rect">
            <a:avLst/>
          </a:prstGeom>
          <a:noFill/>
          <a:ln/>
        </p:spPr>
        <p:txBody>
          <a:bodyPr wrap="square" lIns="0" tIns="0" rIns="0" bIns="0" rtlCol="0" anchor="ctr"/>
          <a:lstStyle/>
          <a:p>
            <a:pPr indent="0" marL="0">
              <a:buNone/>
            </a:pPr>
            <a:r>
              <a:rPr lang="en-US" sz="1400" b="1" dirty="0">
                <a:solidFill>
                  <a:schemeClr val="accent3"/>
                </a:solidFill>
              </a:rPr>
              <a:t>NeurIPS 2026 · Evaluations &amp; Datasets Track</a:t>
            </a:r>
            <a:endParaRPr lang="en-US" sz="1400" dirty="0"/>
          </a:p>
        </p:txBody>
      </p:sp>
      <p:sp>
        <p:nvSpPr>
          <p:cNvPr id="3" name="Text 0"/>
          <p:cNvSpPr/>
          <p:nvPr>
            <p:ph idx="100" type="title" hasCustomPrompt="1"/>
          </p:nvPr>
        </p:nvSpPr>
        <p:spPr>
          <a:xfrm>
            <a:off x="548640" y="1600200"/>
            <a:ext cx="5852160" cy="1097280"/>
          </a:xfrm>
          <a:prstGeom prst="rect">
            <a:avLst/>
          </a:prstGeom>
          <a:noFill/>
          <a:ln/>
        </p:spPr>
        <p:txBody>
          <a:bodyPr wrap="square" lIns="0" tIns="0" rIns="0" bIns="0" rtlCol="0" anchor="b"/>
          <a:lstStyle/>
          <a:p>
            <a:pPr algn="l" indent="0" marL="0">
              <a:buNone/>
            </a:pPr>
            <a:r>
              <a:rPr lang="en-US" sz="7200" b="1" dirty="0">
                <a:solidFill>
                  <a:schemeClr val="bg1"/>
                </a:solidFill>
              </a:rPr>
              <a:t>RASS</a:t>
            </a:r>
            <a:endParaRPr lang="en-US" sz="7200" dirty="0"/>
          </a:p>
        </p:txBody>
      </p:sp>
      <p:sp>
        <p:nvSpPr>
          <p:cNvPr id="4" name="Text 0"/>
          <p:cNvSpPr/>
          <p:nvPr>
            <p:ph idx="101" type="body" hasCustomPrompt="1"/>
          </p:nvPr>
        </p:nvSpPr>
        <p:spPr>
          <a:xfrm>
            <a:off x="548640" y="2743200"/>
            <a:ext cx="5760720" cy="914400"/>
          </a:xfrm>
          <a:prstGeom prst="rect">
            <a:avLst/>
          </a:prstGeom>
          <a:noFill/>
          <a:ln/>
        </p:spPr>
        <p:txBody>
          <a:bodyPr wrap="square" lIns="0" tIns="0" rIns="0" bIns="0" rtlCol="0" anchor="t"/>
          <a:lstStyle/>
          <a:p>
            <a:pPr indent="0" marL="0">
              <a:buNone/>
            </a:pPr>
            <a:r>
              <a:rPr lang="en-US" sz="2600" dirty="0">
                <a:solidFill>
                  <a:schemeClr val="accent5"/>
                </a:solidFill>
              </a:rPr>
              <a:t>Risk-Audited Budget Selection for Compact NeRF Benchmark Subsets</a:t>
            </a:r>
            <a:endParaRPr lang="en-US" sz="2600" dirty="0"/>
          </a:p>
        </p:txBody>
      </p:sp>
      <p:sp>
        <p:nvSpPr>
          <p:cNvPr id="5" name="Hook"/>
          <p:cNvSpPr txBox="1"/>
          <p:nvPr/>
        </p:nvSpPr>
        <p:spPr>
          <a:xfrm>
            <a:off x="548640" y="3749040"/>
            <a:ext cx="5852160" cy="685800"/>
          </a:xfrm>
          <a:prstGeom prst="rect">
            <a:avLst/>
          </a:prstGeom>
          <a:noFill/>
          <a:ln/>
        </p:spPr>
        <p:txBody>
          <a:bodyPr wrap="square" lIns="0" tIns="0" rIns="0" bIns="0" rtlCol="0" anchor="t"/>
          <a:lstStyle/>
          <a:p>
            <a:pPr indent="0" marL="0">
              <a:buNone/>
            </a:pPr>
            <a:r>
              <a:rPr lang="en-US" sz="2000" b="1" dirty="0">
                <a:solidFill>
                  <a:schemeClr val="accent3"/>
                </a:solidFill>
              </a:rPr>
              <a:t>48 scenes instead of 3,521, backed by a statistical audit</a:t>
            </a:r>
            <a:endParaRPr lang="en-US" sz="2000" dirty="0"/>
          </a:p>
        </p:txBody>
      </p:sp>
      <p:sp>
        <p:nvSpPr>
          <p:cNvPr id="6" name="Authors"/>
          <p:cNvSpPr txBox="1"/>
          <p:nvPr/>
        </p:nvSpPr>
        <p:spPr>
          <a:xfrm>
            <a:off x="548640" y="4572000"/>
            <a:ext cx="5760720" cy="365760"/>
          </a:xfrm>
          <a:prstGeom prst="rect">
            <a:avLst/>
          </a:prstGeom>
          <a:noFill/>
          <a:ln/>
        </p:spPr>
        <p:txBody>
          <a:bodyPr wrap="square" lIns="0" tIns="0" rIns="0" bIns="0" rtlCol="0" anchor="ctr"/>
          <a:lstStyle/>
          <a:p>
            <a:pPr indent="0" marL="0">
              <a:buNone/>
            </a:pPr>
            <a:r>
              <a:rPr lang="en-US" sz="1600" b="1" dirty="0">
                <a:solidFill>
                  <a:schemeClr val="bg1"/>
                </a:solidFill>
              </a:rPr>
              <a:t>Ahmad AlMughrabi · Flavià Serret · Ricardo Marques · Petia Radeva</a:t>
            </a:r>
            <a:endParaRPr lang="en-US" sz="1600" dirty="0"/>
          </a:p>
        </p:txBody>
      </p:sp>
      <p:sp>
        <p:nvSpPr>
          <p:cNvPr id="7" name="Affiliations"/>
          <p:cNvSpPr txBox="1"/>
          <p:nvPr/>
        </p:nvSpPr>
        <p:spPr>
          <a:xfrm>
            <a:off x="548640" y="4983480"/>
            <a:ext cx="5760720" cy="640080"/>
          </a:xfrm>
          <a:prstGeom prst="rect">
            <a:avLst/>
          </a:prstGeom>
          <a:noFill/>
          <a:ln/>
        </p:spPr>
        <p:txBody>
          <a:bodyPr wrap="square" lIns="0" tIns="0" rIns="0" bIns="0" rtlCol="0" anchor="t"/>
          <a:lstStyle/>
          <a:p>
            <a:pPr indent="0" marL="0">
              <a:buNone/>
            </a:pPr>
            <a:r>
              <a:rPr lang="en-US" sz="1400" dirty="0">
                <a:solidFill>
                  <a:schemeClr val="accent5"/>
                </a:solidFill>
              </a:rPr>
              <a:t>Universitat de Barcelona · Universitat Pompeu Fabra ·</a:t>
            </a:r>
            <a:endParaRPr lang="en-US" sz="1400" dirty="0"/>
          </a:p>
          <a:p>
            <a:pPr indent="0" marL="0">
              <a:buNone/>
            </a:pPr>
            <a:r>
              <a:rPr lang="en-US" sz="1400" dirty="0">
                <a:solidFill>
                  <a:schemeClr val="accent5"/>
                </a:solidFill>
              </a:rPr>
              <a:t>Institut de Neurosciències, Barcelona</a:t>
            </a:r>
            <a:endParaRPr lang="en-US" sz="1400" dirty="0"/>
          </a:p>
        </p:txBody>
      </p:sp>
      <p:pic>
        <p:nvPicPr>
          <p:cNvPr id="8" name="Scene mosaic" descr="Grid of 20 Nutrition5k food scenes; four are highlighted to represent a compact audited subset">    </p:cNvPr>
          <p:cNvPicPr>
            <a:picLocks noChangeAspect="1"/>
          </p:cNvPicPr>
          <p:nvPr/>
        </p:nvPicPr>
        <p:blipFill>
          <a:blip r:embed="rId1"/>
          <a:stretch>
            <a:fillRect/>
          </a:stretch>
        </p:blipFill>
        <p:spPr>
          <a:xfrm>
            <a:off x="6705295" y="0"/>
            <a:ext cx="54864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200" b="1" dirty="0">
                <a:solidFill>
                  <a:schemeClr val="tx1"/>
                </a:solidFill>
              </a:rPr>
              <a:t>Full NeRF benchmarks are too costly to rerun for every idea</a:t>
            </a:r>
            <a:endParaRPr lang="en-US" sz="3200" dirty="0"/>
          </a:p>
        </p:txBody>
      </p:sp>
      <p:sp>
        <p:nvSpPr>
          <p:cNvPr id="3" name="Stat trainings"/>
          <p:cNvSpPr txBox="1"/>
          <p:nvPr/>
        </p:nvSpPr>
        <p:spPr>
          <a:xfrm>
            <a:off x="548640" y="1417320"/>
            <a:ext cx="3566160" cy="914400"/>
          </a:xfrm>
          <a:prstGeom prst="rect">
            <a:avLst/>
          </a:prstGeom>
          <a:noFill/>
          <a:ln/>
        </p:spPr>
        <p:txBody>
          <a:bodyPr wrap="square" lIns="0" tIns="0" rIns="0" bIns="0" rtlCol="0" anchor="ctr"/>
          <a:lstStyle/>
          <a:p>
            <a:pPr indent="0" marL="0">
              <a:buNone/>
            </a:pPr>
            <a:r>
              <a:rPr lang="en-US" sz="6000" b="1" dirty="0">
                <a:solidFill>
                  <a:schemeClr val="accent1"/>
                </a:solidFill>
              </a:rPr>
              <a:t>3,521</a:t>
            </a:r>
            <a:endParaRPr lang="en-US" sz="6000" dirty="0"/>
          </a:p>
        </p:txBody>
      </p:sp>
      <p:sp>
        <p:nvSpPr>
          <p:cNvPr id="4" name="Stat trainings label"/>
          <p:cNvSpPr txBox="1"/>
          <p:nvPr/>
        </p:nvSpPr>
        <p:spPr>
          <a:xfrm>
            <a:off x="548640" y="2331720"/>
            <a:ext cx="3383280" cy="685800"/>
          </a:xfrm>
          <a:prstGeom prst="rect">
            <a:avLst/>
          </a:prstGeom>
          <a:noFill/>
          <a:ln/>
        </p:spPr>
        <p:txBody>
          <a:bodyPr wrap="square" lIns="0" tIns="0" rIns="0" bIns="0" rtlCol="0" anchor="t"/>
          <a:lstStyle/>
          <a:p>
            <a:pPr indent="0" marL="0">
              <a:buNone/>
            </a:pPr>
            <a:r>
              <a:rPr lang="en-US" sz="1600" dirty="0">
                <a:solidFill>
                  <a:schemeClr val="tx1"/>
                </a:solidFill>
              </a:rPr>
              <a:t>NeRF trainings for every ablation on the full benchmark</a:t>
            </a:r>
            <a:endParaRPr lang="en-US" sz="1600" dirty="0"/>
          </a:p>
        </p:txBody>
      </p:sp>
      <p:sp>
        <p:nvSpPr>
          <p:cNvPr id="5" name="Stat GPUs"/>
          <p:cNvSpPr txBox="1"/>
          <p:nvPr/>
        </p:nvSpPr>
        <p:spPr>
          <a:xfrm>
            <a:off x="548640" y="3291840"/>
            <a:ext cx="3566160" cy="731520"/>
          </a:xfrm>
          <a:prstGeom prst="rect">
            <a:avLst/>
          </a:prstGeom>
          <a:noFill/>
          <a:ln/>
        </p:spPr>
        <p:txBody>
          <a:bodyPr wrap="square" lIns="0" tIns="0" rIns="0" bIns="0" rtlCol="0" anchor="ctr"/>
          <a:lstStyle/>
          <a:p>
            <a:pPr indent="0" marL="0">
              <a:buNone/>
            </a:pPr>
            <a:r>
              <a:rPr lang="en-US" sz="4400" b="1" dirty="0">
                <a:solidFill>
                  <a:schemeClr val="accent1"/>
                </a:solidFill>
              </a:rPr>
              <a:t>512</a:t>
            </a:r>
            <a:endParaRPr lang="en-US" sz="4400" dirty="0"/>
          </a:p>
        </p:txBody>
      </p:sp>
      <p:sp>
        <p:nvSpPr>
          <p:cNvPr id="6" name="Stat GPUs label"/>
          <p:cNvSpPr txBox="1"/>
          <p:nvPr/>
        </p:nvSpPr>
        <p:spPr>
          <a:xfrm>
            <a:off x="548640" y="4023360"/>
            <a:ext cx="3383280" cy="685800"/>
          </a:xfrm>
          <a:prstGeom prst="rect">
            <a:avLst/>
          </a:prstGeom>
          <a:noFill/>
          <a:ln/>
        </p:spPr>
        <p:txBody>
          <a:bodyPr wrap="square" lIns="0" tIns="0" rIns="0" bIns="0" rtlCol="0" anchor="t"/>
          <a:lstStyle/>
          <a:p>
            <a:pPr indent="0" marL="0">
              <a:buNone/>
            </a:pPr>
            <a:r>
              <a:rPr lang="en-US" sz="1600" dirty="0">
                <a:solidFill>
                  <a:schemeClr val="tx1"/>
                </a:solidFill>
              </a:rPr>
              <a:t>H100 GPUs, at most, to produce the full logs once</a:t>
            </a:r>
            <a:endParaRPr lang="en-US" sz="1600" dirty="0"/>
          </a:p>
        </p:txBody>
      </p:sp>
      <p:sp>
        <p:nvSpPr>
          <p:cNvPr id="7" name="Failure header"/>
          <p:cNvSpPr txBox="1"/>
          <p:nvPr/>
        </p:nvSpPr>
        <p:spPr>
          <a:xfrm>
            <a:off x="4572000" y="1463040"/>
            <a:ext cx="7068312" cy="457200"/>
          </a:xfrm>
          <a:prstGeom prst="rect">
            <a:avLst/>
          </a:prstGeom>
          <a:noFill/>
          <a:ln/>
        </p:spPr>
        <p:txBody>
          <a:bodyPr wrap="square" lIns="0" tIns="0" rIns="0" bIns="0" rtlCol="0" anchor="ctr"/>
          <a:lstStyle/>
          <a:p>
            <a:pPr indent="0" marL="0">
              <a:buNone/>
            </a:pPr>
            <a:r>
              <a:rPr lang="en-US" sz="2000" b="1" dirty="0">
                <a:solidFill>
                  <a:schemeClr val="tx1"/>
                </a:solidFill>
              </a:rPr>
              <a:t>Ad hoc subsets can look right for the wrong reasons</a:t>
            </a:r>
            <a:endParaRPr lang="en-US" sz="2000" dirty="0"/>
          </a:p>
        </p:txBody>
      </p:sp>
      <p:sp>
        <p:nvSpPr>
          <p:cNvPr id="8" name="Fail icon bg 1"/>
          <p:cNvSpPr/>
          <p:nvPr/>
        </p:nvSpPr>
        <p:spPr>
          <a:xfrm>
            <a:off x="4572000" y="2011680"/>
            <a:ext cx="585216" cy="585216"/>
          </a:xfrm>
          <a:prstGeom prst="ellipse">
            <a:avLst/>
          </a:prstGeom>
          <a:solidFill>
            <a:schemeClr val="bg2"/>
          </a:solidFill>
          <a:ln/>
        </p:spPr>
      </p:sp>
      <p:pic>
        <p:nvPicPr>
          <p:cNvPr id="9" name="Image 0" descr="Tail shift">    </p:cNvPr>
          <p:cNvPicPr>
            <a:picLocks noChangeAspect="1"/>
          </p:cNvPicPr>
          <p:nvPr/>
        </p:nvPicPr>
        <p:blipFill>
          <a:blip r:embed="rId1"/>
          <a:stretch>
            <a:fillRect/>
          </a:stretch>
        </p:blipFill>
        <p:spPr>
          <a:xfrm>
            <a:off x="4709160" y="2148840"/>
            <a:ext cx="310896" cy="310896"/>
          </a:xfrm>
          <a:prstGeom prst="rect">
            <a:avLst/>
          </a:prstGeom>
        </p:spPr>
      </p:pic>
      <p:sp>
        <p:nvSpPr>
          <p:cNvPr id="10" name="Fail title 1"/>
          <p:cNvSpPr txBox="1"/>
          <p:nvPr/>
        </p:nvSpPr>
        <p:spPr>
          <a:xfrm>
            <a:off x="5349240" y="1993392"/>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Tail shift</a:t>
            </a:r>
            <a:endParaRPr lang="en-US" sz="1600" dirty="0"/>
          </a:p>
        </p:txBody>
      </p:sp>
      <p:sp>
        <p:nvSpPr>
          <p:cNvPr id="11" name="Fail desc 1"/>
          <p:cNvSpPr txBox="1"/>
          <p:nvPr/>
        </p:nvSpPr>
        <p:spPr>
          <a:xfrm>
            <a:off x="5349240" y="2313432"/>
            <a:ext cx="3657600" cy="594360"/>
          </a:xfrm>
          <a:prstGeom prst="rect">
            <a:avLst/>
          </a:prstGeom>
          <a:noFill/>
          <a:ln/>
        </p:spPr>
        <p:txBody>
          <a:bodyPr wrap="square" lIns="0" tIns="0" rIns="0" bIns="0" rtlCol="0" anchor="t"/>
          <a:lstStyle/>
          <a:p>
            <a:pPr indent="0" marL="0">
              <a:buNone/>
            </a:pPr>
            <a:r>
              <a:rPr lang="en-US" sz="1400" dirty="0">
                <a:solidFill>
                  <a:schemeClr val="accent4"/>
                </a:solidFill>
              </a:rPr>
              <a:t>A real 48-scene draw: every mean matches, but its LPIPS distribution (amber) drifts from the full set</a:t>
            </a:r>
            <a:endParaRPr lang="en-US" sz="1400" dirty="0"/>
          </a:p>
        </p:txBody>
      </p:sp>
      <p:sp>
        <p:nvSpPr>
          <p:cNvPr id="12" name="Fail example tile 1"/>
          <p:cNvSpPr/>
          <p:nvPr/>
        </p:nvSpPr>
        <p:spPr>
          <a:xfrm>
            <a:off x="9189720" y="2057400"/>
            <a:ext cx="2450592" cy="1097280"/>
          </a:xfrm>
          <a:prstGeom prst="roundRect">
            <a:avLst>
              <a:gd name="adj" fmla="val 10000"/>
            </a:avLst>
          </a:prstGeom>
          <a:solidFill>
            <a:schemeClr val="bg2"/>
          </a:solidFill>
          <a:ln/>
        </p:spPr>
      </p:sp>
      <p:pic>
        <p:nvPicPr>
          <p:cNvPr id="13" name="Fail example 1" descr="Cumulative LPIPS distribution of a real 48-scene draw versus all 3,521 scenes">    </p:cNvPr>
          <p:cNvPicPr>
            <a:picLocks noChangeAspect="1"/>
          </p:cNvPicPr>
          <p:nvPr/>
        </p:nvPicPr>
        <p:blipFill>
          <a:blip r:embed="rId2"/>
          <a:stretch>
            <a:fillRect/>
          </a:stretch>
        </p:blipFill>
        <p:spPr>
          <a:xfrm>
            <a:off x="9423924" y="2093976"/>
            <a:ext cx="1982183" cy="1024128"/>
          </a:xfrm>
          <a:prstGeom prst="rect">
            <a:avLst/>
          </a:prstGeom>
        </p:spPr>
      </p:pic>
      <p:sp>
        <p:nvSpPr>
          <p:cNvPr id="14" name="Fail icon bg 2"/>
          <p:cNvSpPr/>
          <p:nvPr/>
        </p:nvSpPr>
        <p:spPr>
          <a:xfrm>
            <a:off x="4572000" y="3310128"/>
            <a:ext cx="585216" cy="585216"/>
          </a:xfrm>
          <a:prstGeom prst="ellipse">
            <a:avLst/>
          </a:prstGeom>
          <a:solidFill>
            <a:schemeClr val="bg2"/>
          </a:solidFill>
          <a:ln/>
        </p:spPr>
      </p:sp>
      <p:pic>
        <p:nvPicPr>
          <p:cNvPr id="15" name="Image 2" descr="Metric leakage">    </p:cNvPr>
          <p:cNvPicPr>
            <a:picLocks noChangeAspect="1"/>
          </p:cNvPicPr>
          <p:nvPr/>
        </p:nvPicPr>
        <p:blipFill>
          <a:blip r:embed="rId3"/>
          <a:stretch>
            <a:fillRect/>
          </a:stretch>
        </p:blipFill>
        <p:spPr>
          <a:xfrm>
            <a:off x="4709160" y="3447288"/>
            <a:ext cx="310896" cy="310896"/>
          </a:xfrm>
          <a:prstGeom prst="rect">
            <a:avLst/>
          </a:prstGeom>
        </p:spPr>
      </p:pic>
      <p:sp>
        <p:nvSpPr>
          <p:cNvPr id="16" name="Fail title 2"/>
          <p:cNvSpPr txBox="1"/>
          <p:nvPr/>
        </p:nvSpPr>
        <p:spPr>
          <a:xfrm>
            <a:off x="5349240" y="3291840"/>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Metric leakage</a:t>
            </a:r>
            <a:endParaRPr lang="en-US" sz="1600" dirty="0"/>
          </a:p>
        </p:txBody>
      </p:sp>
      <p:sp>
        <p:nvSpPr>
          <p:cNvPr id="17" name="Fail desc 2"/>
          <p:cNvSpPr txBox="1"/>
          <p:nvPr/>
        </p:nvSpPr>
        <p:spPr>
          <a:xfrm>
            <a:off x="5349240" y="3611880"/>
            <a:ext cx="3657600" cy="594360"/>
          </a:xfrm>
          <a:prstGeom prst="rect">
            <a:avLst/>
          </a:prstGeom>
          <a:noFill/>
          <a:ln/>
        </p:spPr>
        <p:txBody>
          <a:bodyPr wrap="square" lIns="0" tIns="0" rIns="0" bIns="0" rtlCol="0" anchor="t"/>
          <a:lstStyle/>
          <a:p>
            <a:pPr indent="0" marL="0">
              <a:buNone/>
            </a:pPr>
            <a:r>
              <a:rPr lang="en-US" sz="1400" dirty="0">
                <a:solidFill>
                  <a:schemeClr val="accent4"/>
                </a:solidFill>
              </a:rPr>
              <a:t>Another real draw: PSNR uses 1% of its tolerance, while SSIM and LPIPS exceed theirs</a:t>
            </a:r>
            <a:endParaRPr lang="en-US" sz="1400" dirty="0"/>
          </a:p>
        </p:txBody>
      </p:sp>
      <p:sp>
        <p:nvSpPr>
          <p:cNvPr id="18" name="Fail example tile 2"/>
          <p:cNvSpPr/>
          <p:nvPr/>
        </p:nvSpPr>
        <p:spPr>
          <a:xfrm>
            <a:off x="9189720" y="3355848"/>
            <a:ext cx="2450592" cy="1097280"/>
          </a:xfrm>
          <a:prstGeom prst="roundRect">
            <a:avLst>
              <a:gd name="adj" fmla="val 10000"/>
            </a:avLst>
          </a:prstGeom>
          <a:solidFill>
            <a:schemeClr val="bg2"/>
          </a:solidFill>
          <a:ln/>
        </p:spPr>
      </p:sp>
      <p:pic>
        <p:nvPicPr>
          <p:cNvPr id="19" name="Fail example 2" descr="Share of tolerance used by a real draw: PSNR 1%, SSIM 162%, LPIPS 125%">    </p:cNvPr>
          <p:cNvPicPr>
            <a:picLocks noChangeAspect="1"/>
          </p:cNvPicPr>
          <p:nvPr/>
        </p:nvPicPr>
        <p:blipFill>
          <a:blip r:embed="rId4"/>
          <a:stretch>
            <a:fillRect/>
          </a:stretch>
        </p:blipFill>
        <p:spPr>
          <a:xfrm>
            <a:off x="9423924" y="3392424"/>
            <a:ext cx="1982183" cy="1024128"/>
          </a:xfrm>
          <a:prstGeom prst="rect">
            <a:avLst/>
          </a:prstGeom>
        </p:spPr>
      </p:pic>
      <p:sp>
        <p:nvSpPr>
          <p:cNvPr id="20" name="Fail icon bg 3"/>
          <p:cNvSpPr/>
          <p:nvPr/>
        </p:nvSpPr>
        <p:spPr>
          <a:xfrm>
            <a:off x="4572000" y="4608576"/>
            <a:ext cx="585216" cy="585216"/>
          </a:xfrm>
          <a:prstGeom prst="ellipse">
            <a:avLst/>
          </a:prstGeom>
          <a:solidFill>
            <a:schemeClr val="bg2"/>
          </a:solidFill>
          <a:ln/>
        </p:spPr>
      </p:sp>
      <p:pic>
        <p:nvPicPr>
          <p:cNvPr id="21" name="Image 4" descr="Sampling luck">    </p:cNvPr>
          <p:cNvPicPr>
            <a:picLocks noChangeAspect="1"/>
          </p:cNvPicPr>
          <p:nvPr/>
        </p:nvPicPr>
        <p:blipFill>
          <a:blip r:embed="rId5"/>
          <a:stretch>
            <a:fillRect/>
          </a:stretch>
        </p:blipFill>
        <p:spPr>
          <a:xfrm>
            <a:off x="4709160" y="4745736"/>
            <a:ext cx="310896" cy="310896"/>
          </a:xfrm>
          <a:prstGeom prst="rect">
            <a:avLst/>
          </a:prstGeom>
        </p:spPr>
      </p:pic>
      <p:sp>
        <p:nvSpPr>
          <p:cNvPr id="22" name="Fail title 3"/>
          <p:cNvSpPr txBox="1"/>
          <p:nvPr/>
        </p:nvSpPr>
        <p:spPr>
          <a:xfrm>
            <a:off x="5349240" y="4590288"/>
            <a:ext cx="3657600" cy="320040"/>
          </a:xfrm>
          <a:prstGeom prst="rect">
            <a:avLst/>
          </a:prstGeom>
          <a:noFill/>
          <a:ln/>
        </p:spPr>
        <p:txBody>
          <a:bodyPr wrap="square" lIns="0" tIns="0" rIns="0" bIns="0" rtlCol="0" anchor="ctr"/>
          <a:lstStyle/>
          <a:p>
            <a:pPr indent="0" marL="0">
              <a:buNone/>
            </a:pPr>
            <a:r>
              <a:rPr lang="en-US" sz="1600" b="1" dirty="0">
                <a:solidFill>
                  <a:schemeClr val="tx1"/>
                </a:solidFill>
              </a:rPr>
              <a:t>Sampling luck</a:t>
            </a:r>
            <a:endParaRPr lang="en-US" sz="1600" dirty="0"/>
          </a:p>
        </p:txBody>
      </p:sp>
      <p:sp>
        <p:nvSpPr>
          <p:cNvPr id="23" name="Fail desc 3"/>
          <p:cNvSpPr txBox="1"/>
          <p:nvPr/>
        </p:nvSpPr>
        <p:spPr>
          <a:xfrm>
            <a:off x="5349240" y="4910328"/>
            <a:ext cx="6291072" cy="594360"/>
          </a:xfrm>
          <a:prstGeom prst="rect">
            <a:avLst/>
          </a:prstGeom>
          <a:noFill/>
          <a:ln/>
        </p:spPr>
        <p:txBody>
          <a:bodyPr wrap="square" lIns="0" tIns="0" rIns="0" bIns="0" rtlCol="0" anchor="t"/>
          <a:lstStyle/>
          <a:p>
            <a:pPr indent="0" marL="0">
              <a:buNone/>
            </a:pPr>
            <a:r>
              <a:rPr lang="en-US" sz="1400" dirty="0">
                <a:solidFill>
                  <a:schemeClr val="accent4"/>
                </a:solidFill>
              </a:rPr>
              <a:t>One subset passes by chance; the next draw does not</a:t>
            </a:r>
            <a:endParaRPr lang="en-US" sz="1400" dirty="0"/>
          </a:p>
        </p:txBody>
      </p:sp>
      <p:sp>
        <p:nvSpPr>
          <p:cNvPr id="24" name="Question card"/>
          <p:cNvSpPr/>
          <p:nvPr/>
        </p:nvSpPr>
        <p:spPr>
          <a:xfrm>
            <a:off x="548640" y="5349240"/>
            <a:ext cx="11091672" cy="914400"/>
          </a:xfrm>
          <a:prstGeom prst="roundRect">
            <a:avLst>
              <a:gd name="adj" fmla="val 12000"/>
            </a:avLst>
          </a:prstGeom>
          <a:solidFill>
            <a:schemeClr val="bg2"/>
          </a:solidFill>
          <a:ln/>
        </p:spPr>
      </p:sp>
      <p:sp>
        <p:nvSpPr>
          <p:cNvPr id="25" name="Question icon bg"/>
          <p:cNvSpPr/>
          <p:nvPr/>
        </p:nvSpPr>
        <p:spPr>
          <a:xfrm>
            <a:off x="822960" y="5509260"/>
            <a:ext cx="594360" cy="594360"/>
          </a:xfrm>
          <a:prstGeom prst="ellipse">
            <a:avLst/>
          </a:prstGeom>
          <a:solidFill>
            <a:schemeClr val="accent1"/>
          </a:solidFill>
          <a:ln/>
        </p:spPr>
      </p:sp>
      <p:pic>
        <p:nvPicPr>
          <p:cNvPr id="26" name="Image 5" descr="Question">    </p:cNvPr>
          <p:cNvPicPr>
            <a:picLocks noChangeAspect="1"/>
          </p:cNvPicPr>
          <p:nvPr/>
        </p:nvPicPr>
        <p:blipFill>
          <a:blip r:embed="rId6"/>
          <a:stretch>
            <a:fillRect/>
          </a:stretch>
        </p:blipFill>
        <p:spPr>
          <a:xfrm>
            <a:off x="969264" y="5655564"/>
            <a:ext cx="301752" cy="301752"/>
          </a:xfrm>
          <a:prstGeom prst="rect">
            <a:avLst/>
          </a:prstGeom>
        </p:spPr>
      </p:pic>
      <p:sp>
        <p:nvSpPr>
          <p:cNvPr id="27" name="Question text"/>
          <p:cNvSpPr txBox="1"/>
          <p:nvPr/>
        </p:nvSpPr>
        <p:spPr>
          <a:xfrm>
            <a:off x="1645920" y="5372100"/>
            <a:ext cx="9784080" cy="868680"/>
          </a:xfrm>
          <a:prstGeom prst="rect">
            <a:avLst/>
          </a:prstGeom>
          <a:noFill/>
          <a:ln/>
        </p:spPr>
        <p:txBody>
          <a:bodyPr wrap="square" lIns="0" tIns="0" rIns="0" bIns="0" rtlCol="0" anchor="ctr"/>
          <a:lstStyle/>
          <a:p>
            <a:pPr indent="0" marL="0">
              <a:buNone/>
            </a:pPr>
            <a:r>
              <a:rPr lang="en-US" sz="2000" b="1" dirty="0">
                <a:solidFill>
                  <a:schemeClr val="accent1"/>
                </a:solidFill>
              </a:rPr>
              <a:t>Our question: </a:t>
            </a:r>
            <a:pPr indent="0" marL="0">
              <a:buNone/>
            </a:pPr>
            <a:r>
              <a:rPr lang="en-US" sz="2000" dirty="0">
                <a:solidFill>
                  <a:schemeClr val="tx1"/>
                </a:solidFill>
              </a:rPr>
              <a:t>what is the smallest subset that preserves the full-benchmark summaries, under explicit fidelity constraints?</a:t>
            </a:r>
            <a:endParaRPr lang="en-US" sz="2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200" b="1" dirty="0">
                <a:solidFill>
                  <a:schemeClr val="tx1"/>
                </a:solidFill>
              </a:rPr>
              <a:t>RASS audits a subset-generation procedure, not one lucky subset</a:t>
            </a:r>
            <a:endParaRPr lang="en-US" sz="3200" dirty="0"/>
          </a:p>
        </p:txBody>
      </p:sp>
      <p:sp>
        <p:nvSpPr>
          <p:cNvPr id="3" name="Step card 1"/>
          <p:cNvSpPr/>
          <p:nvPr/>
        </p:nvSpPr>
        <p:spPr>
          <a:xfrm>
            <a:off x="548640" y="1417320"/>
            <a:ext cx="2514600" cy="3886200"/>
          </a:xfrm>
          <a:prstGeom prst="roundRect">
            <a:avLst>
              <a:gd name="adj" fmla="val 4364"/>
            </a:avLst>
          </a:prstGeom>
          <a:solidFill>
            <a:schemeClr val="bg2"/>
          </a:solidFill>
          <a:ln/>
        </p:spPr>
      </p:sp>
      <p:sp>
        <p:nvSpPr>
          <p:cNvPr id="4" name="Step num bg 1"/>
          <p:cNvSpPr/>
          <p:nvPr/>
        </p:nvSpPr>
        <p:spPr>
          <a:xfrm>
            <a:off x="777240" y="1645920"/>
            <a:ext cx="548640" cy="548640"/>
          </a:xfrm>
          <a:prstGeom prst="ellipse">
            <a:avLst/>
          </a:prstGeom>
          <a:solidFill>
            <a:schemeClr val="accent1"/>
          </a:solidFill>
          <a:ln/>
        </p:spPr>
      </p:sp>
      <p:sp>
        <p:nvSpPr>
          <p:cNvPr id="5" name="Step num 1"/>
          <p:cNvSpPr txBox="1"/>
          <p:nvPr/>
        </p:nvSpPr>
        <p:spPr>
          <a:xfrm>
            <a:off x="777240" y="16459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Step name 1"/>
          <p:cNvSpPr txBox="1"/>
          <p:nvPr/>
        </p:nvSpPr>
        <p:spPr>
          <a:xfrm>
            <a:off x="777240" y="2331720"/>
            <a:ext cx="2057400" cy="457200"/>
          </a:xfrm>
          <a:prstGeom prst="rect">
            <a:avLst/>
          </a:prstGeom>
          <a:noFill/>
          <a:ln/>
        </p:spPr>
        <p:txBody>
          <a:bodyPr wrap="square" lIns="0" tIns="0" rIns="0" bIns="0" rtlCol="0" anchor="ctr"/>
          <a:lstStyle/>
          <a:p>
            <a:pPr indent="0" marL="0">
              <a:buNone/>
            </a:pPr>
            <a:r>
              <a:rPr lang="en-US" sz="2200" b="1" dirty="0">
                <a:solidFill>
                  <a:schemeClr val="tx1"/>
                </a:solidFill>
              </a:rPr>
              <a:t>Describe</a:t>
            </a:r>
            <a:endParaRPr lang="en-US" sz="2200" dirty="0"/>
          </a:p>
        </p:txBody>
      </p:sp>
      <p:sp>
        <p:nvSpPr>
          <p:cNvPr id="7" name="Step body 1"/>
          <p:cNvSpPr txBox="1"/>
          <p:nvPr/>
        </p:nvSpPr>
        <p:spPr>
          <a:xfrm>
            <a:off x="777240" y="2834640"/>
            <a:ext cx="2057400" cy="141732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57-D descriptor per scene</a:t>
            </a:r>
            <a:endParaRPr lang="en-US" sz="1500" dirty="0"/>
          </a:p>
          <a:p>
            <a:pPr indent="0" marL="0">
              <a:spcAft>
                <a:spcPts val="400"/>
              </a:spcAft>
              <a:buNone/>
            </a:pPr>
            <a:r>
              <a:rPr lang="en-US" sz="1500" dirty="0">
                <a:solidFill>
                  <a:schemeClr val="tx1"/>
                </a:solidFill>
              </a:rPr>
              <a:t>K-Means → 6 regimes</a:t>
            </a:r>
            <a:endParaRPr lang="en-US" sz="1500" dirty="0"/>
          </a:p>
        </p:txBody>
      </p:sp>
      <p:pic>
        <p:nvPicPr>
          <p:cNvPr id="8" name="Step visual 1" descr="Scenes in descriptor space, coloured by six regimes">    </p:cNvPr>
          <p:cNvPicPr>
            <a:picLocks noChangeAspect="1"/>
          </p:cNvPicPr>
          <p:nvPr/>
        </p:nvPicPr>
        <p:blipFill>
          <a:blip r:embed="rId1"/>
          <a:stretch>
            <a:fillRect/>
          </a:stretch>
        </p:blipFill>
        <p:spPr>
          <a:xfrm>
            <a:off x="777240" y="3611880"/>
            <a:ext cx="2057400" cy="1417320"/>
          </a:xfrm>
          <a:prstGeom prst="rect">
            <a:avLst/>
          </a:prstGeom>
        </p:spPr>
      </p:pic>
      <p:sp>
        <p:nvSpPr>
          <p:cNvPr id="9" name="Arrow 1"/>
          <p:cNvSpPr/>
          <p:nvPr/>
        </p:nvSpPr>
        <p:spPr>
          <a:xfrm>
            <a:off x="3154680" y="3200400"/>
            <a:ext cx="164592" cy="274320"/>
          </a:xfrm>
          <a:prstGeom prst="chevron">
            <a:avLst/>
          </a:prstGeom>
          <a:solidFill>
            <a:schemeClr val="accent4"/>
          </a:solidFill>
          <a:ln/>
        </p:spPr>
      </p:sp>
      <p:sp>
        <p:nvSpPr>
          <p:cNvPr id="10" name="Step card 2"/>
          <p:cNvSpPr/>
          <p:nvPr/>
        </p:nvSpPr>
        <p:spPr>
          <a:xfrm>
            <a:off x="3407969" y="1417320"/>
            <a:ext cx="2514600" cy="3886200"/>
          </a:xfrm>
          <a:prstGeom prst="roundRect">
            <a:avLst>
              <a:gd name="adj" fmla="val 4364"/>
            </a:avLst>
          </a:prstGeom>
          <a:solidFill>
            <a:schemeClr val="bg2"/>
          </a:solidFill>
          <a:ln/>
        </p:spPr>
      </p:sp>
      <p:sp>
        <p:nvSpPr>
          <p:cNvPr id="11" name="Step num bg 2"/>
          <p:cNvSpPr/>
          <p:nvPr/>
        </p:nvSpPr>
        <p:spPr>
          <a:xfrm>
            <a:off x="3636569" y="1645920"/>
            <a:ext cx="548640" cy="548640"/>
          </a:xfrm>
          <a:prstGeom prst="ellipse">
            <a:avLst/>
          </a:prstGeom>
          <a:solidFill>
            <a:schemeClr val="accent1"/>
          </a:solidFill>
          <a:ln/>
        </p:spPr>
      </p:sp>
      <p:sp>
        <p:nvSpPr>
          <p:cNvPr id="12" name="Step num 2"/>
          <p:cNvSpPr txBox="1"/>
          <p:nvPr/>
        </p:nvSpPr>
        <p:spPr>
          <a:xfrm>
            <a:off x="3636569" y="16459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Step name 2"/>
          <p:cNvSpPr txBox="1"/>
          <p:nvPr/>
        </p:nvSpPr>
        <p:spPr>
          <a:xfrm>
            <a:off x="3636569" y="2331720"/>
            <a:ext cx="2057400" cy="457200"/>
          </a:xfrm>
          <a:prstGeom prst="rect">
            <a:avLst/>
          </a:prstGeom>
          <a:noFill/>
          <a:ln/>
        </p:spPr>
        <p:txBody>
          <a:bodyPr wrap="square" lIns="0" tIns="0" rIns="0" bIns="0" rtlCol="0" anchor="ctr"/>
          <a:lstStyle/>
          <a:p>
            <a:pPr indent="0" marL="0">
              <a:buNone/>
            </a:pPr>
            <a:r>
              <a:rPr lang="en-US" sz="2200" b="1" dirty="0">
                <a:solidFill>
                  <a:schemeClr val="tx1"/>
                </a:solidFill>
              </a:rPr>
              <a:t>Generate</a:t>
            </a:r>
            <a:endParaRPr lang="en-US" sz="2200" dirty="0"/>
          </a:p>
        </p:txBody>
      </p:sp>
      <p:sp>
        <p:nvSpPr>
          <p:cNvPr id="14" name="Step body 2"/>
          <p:cNvSpPr txBox="1"/>
          <p:nvPr/>
        </p:nvSpPr>
        <p:spPr>
          <a:xfrm>
            <a:off x="3636569" y="2834640"/>
            <a:ext cx="2057400" cy="1417320"/>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Draw M = 400 candidates per budget B</a:t>
            </a:r>
            <a:endParaRPr lang="en-US" sz="1500" dirty="0"/>
          </a:p>
          <a:p>
            <a:pPr indent="0" marL="0">
              <a:spcAft>
                <a:spcPts val="400"/>
              </a:spcAft>
              <a:buNone/>
            </a:pPr>
            <a:r>
              <a:rPr lang="en-US" sz="1500" dirty="0">
                <a:solidFill>
                  <a:schemeClr val="tx1"/>
                </a:solidFill>
              </a:rPr>
              <a:t>Balanced: equal scenes per regime</a:t>
            </a:r>
            <a:endParaRPr lang="en-US" sz="1500" dirty="0"/>
          </a:p>
        </p:txBody>
      </p:sp>
      <p:pic>
        <p:nvPicPr>
          <p:cNvPr id="15" name="Step visual 2" descr="Candidate subsets, each with equal scenes from every regime">    </p:cNvPr>
          <p:cNvPicPr>
            <a:picLocks noChangeAspect="1"/>
          </p:cNvPicPr>
          <p:nvPr/>
        </p:nvPicPr>
        <p:blipFill>
          <a:blip r:embed="rId2"/>
          <a:stretch>
            <a:fillRect/>
          </a:stretch>
        </p:blipFill>
        <p:spPr>
          <a:xfrm>
            <a:off x="3636569" y="4114800"/>
            <a:ext cx="2057400" cy="731520"/>
          </a:xfrm>
          <a:prstGeom prst="rect">
            <a:avLst/>
          </a:prstGeom>
        </p:spPr>
      </p:pic>
      <p:sp>
        <p:nvSpPr>
          <p:cNvPr id="16" name="Step caption 2"/>
          <p:cNvSpPr txBox="1"/>
          <p:nvPr/>
        </p:nvSpPr>
        <p:spPr>
          <a:xfrm>
            <a:off x="3636569" y="4937760"/>
            <a:ext cx="2057400" cy="274320"/>
          </a:xfrm>
          <a:prstGeom prst="rect">
            <a:avLst/>
          </a:prstGeom>
          <a:noFill/>
          <a:ln/>
        </p:spPr>
        <p:txBody>
          <a:bodyPr wrap="square" lIns="0" tIns="0" rIns="0" bIns="0" rtlCol="0" anchor="ctr"/>
          <a:lstStyle/>
          <a:p>
            <a:pPr indent="0" marL="0">
              <a:buNone/>
            </a:pPr>
            <a:r>
              <a:rPr lang="en-US" sz="1400" b="1" dirty="0">
                <a:solidFill>
                  <a:schemeClr val="accent4"/>
                </a:solidFill>
              </a:rPr>
              <a:t>× 400 draws</a:t>
            </a:r>
            <a:endParaRPr lang="en-US" sz="1400" dirty="0"/>
          </a:p>
        </p:txBody>
      </p:sp>
      <p:sp>
        <p:nvSpPr>
          <p:cNvPr id="17" name="Arrow 2"/>
          <p:cNvSpPr/>
          <p:nvPr/>
        </p:nvSpPr>
        <p:spPr>
          <a:xfrm>
            <a:off x="6014009" y="3200400"/>
            <a:ext cx="164592" cy="274320"/>
          </a:xfrm>
          <a:prstGeom prst="chevron">
            <a:avLst/>
          </a:prstGeom>
          <a:solidFill>
            <a:schemeClr val="accent4"/>
          </a:solidFill>
          <a:ln/>
        </p:spPr>
      </p:sp>
      <p:sp>
        <p:nvSpPr>
          <p:cNvPr id="18" name="Step card 3"/>
          <p:cNvSpPr/>
          <p:nvPr/>
        </p:nvSpPr>
        <p:spPr>
          <a:xfrm>
            <a:off x="6267298" y="1417320"/>
            <a:ext cx="2514600" cy="3886200"/>
          </a:xfrm>
          <a:prstGeom prst="roundRect">
            <a:avLst>
              <a:gd name="adj" fmla="val 4364"/>
            </a:avLst>
          </a:prstGeom>
          <a:solidFill>
            <a:schemeClr val="bg2"/>
          </a:solidFill>
          <a:ln/>
        </p:spPr>
      </p:sp>
      <p:sp>
        <p:nvSpPr>
          <p:cNvPr id="19" name="Step num bg 3"/>
          <p:cNvSpPr/>
          <p:nvPr/>
        </p:nvSpPr>
        <p:spPr>
          <a:xfrm>
            <a:off x="6495898" y="1645920"/>
            <a:ext cx="548640" cy="548640"/>
          </a:xfrm>
          <a:prstGeom prst="ellipse">
            <a:avLst/>
          </a:prstGeom>
          <a:solidFill>
            <a:schemeClr val="accent1"/>
          </a:solidFill>
          <a:ln/>
        </p:spPr>
      </p:sp>
      <p:sp>
        <p:nvSpPr>
          <p:cNvPr id="20" name="Step num 3"/>
          <p:cNvSpPr txBox="1"/>
          <p:nvPr/>
        </p:nvSpPr>
        <p:spPr>
          <a:xfrm>
            <a:off x="6495898" y="16459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1" name="Step name 3"/>
          <p:cNvSpPr txBox="1"/>
          <p:nvPr/>
        </p:nvSpPr>
        <p:spPr>
          <a:xfrm>
            <a:off x="6495898" y="2331720"/>
            <a:ext cx="2057400" cy="457200"/>
          </a:xfrm>
          <a:prstGeom prst="rect">
            <a:avLst/>
          </a:prstGeom>
          <a:noFill/>
          <a:ln/>
        </p:spPr>
        <p:txBody>
          <a:bodyPr wrap="square" lIns="0" tIns="0" rIns="0" bIns="0" rtlCol="0" anchor="ctr"/>
          <a:lstStyle/>
          <a:p>
            <a:pPr indent="0" marL="0">
              <a:buNone/>
            </a:pPr>
            <a:r>
              <a:rPr lang="en-US" sz="2200" b="1" dirty="0">
                <a:solidFill>
                  <a:schemeClr val="tx1"/>
                </a:solidFill>
              </a:rPr>
              <a:t>Test</a:t>
            </a:r>
            <a:endParaRPr lang="en-US" sz="2200" dirty="0"/>
          </a:p>
        </p:txBody>
      </p:sp>
      <p:sp>
        <p:nvSpPr>
          <p:cNvPr id="22" name="Step body 3"/>
          <p:cNvSpPr txBox="1"/>
          <p:nvPr/>
        </p:nvSpPr>
        <p:spPr>
          <a:xfrm>
            <a:off x="6495898" y="2834640"/>
            <a:ext cx="2057400" cy="1417320"/>
          </a:xfrm>
          <a:prstGeom prst="rect">
            <a:avLst/>
          </a:prstGeom>
          <a:noFill/>
          <a:ln/>
        </p:spPr>
        <p:txBody>
          <a:bodyPr wrap="square" lIns="0" tIns="0" rIns="0" bIns="0" rtlCol="0" anchor="t"/>
          <a:lstStyle/>
          <a:p>
            <a:pPr indent="0" marL="0">
              <a:spcAft>
                <a:spcPts val="400"/>
              </a:spcAft>
              <a:buNone/>
            </a:pPr>
            <a:r>
              <a:rPr lang="en-US" sz="1500" i="1" dirty="0">
                <a:solidFill>
                  <a:schemeClr val="tx1"/>
                </a:solidFill>
              </a:rPr>
              <a:t>All six must hold:</a:t>
            </a:r>
            <a:endParaRPr lang="en-US" sz="1500" dirty="0"/>
          </a:p>
          <a:p>
            <a:pPr indent="0" marL="0">
              <a:spcAft>
                <a:spcPts val="400"/>
              </a:spcAft>
              <a:buNone/>
            </a:pPr>
            <a:r>
              <a:rPr lang="en-US" sz="1500" dirty="0">
                <a:solidFill>
                  <a:schemeClr val="tx1"/>
                </a:solidFill>
              </a:rPr>
              <a:t>|ΔPSNR| ≤ 0.5 dB</a:t>
            </a:r>
            <a:endParaRPr lang="en-US" sz="1500" dirty="0"/>
          </a:p>
          <a:p>
            <a:pPr indent="0" marL="0">
              <a:spcAft>
                <a:spcPts val="400"/>
              </a:spcAft>
              <a:buNone/>
            </a:pPr>
            <a:r>
              <a:rPr lang="en-US" sz="1500" dirty="0">
                <a:solidFill>
                  <a:schemeClr val="tx1"/>
                </a:solidFill>
              </a:rPr>
              <a:t>|ΔSSIM| ≤ 0.01</a:t>
            </a:r>
            <a:endParaRPr lang="en-US" sz="1500" dirty="0"/>
          </a:p>
          <a:p>
            <a:pPr indent="0" marL="0">
              <a:spcAft>
                <a:spcPts val="400"/>
              </a:spcAft>
              <a:buNone/>
            </a:pPr>
            <a:r>
              <a:rPr lang="en-US" sz="1500" dirty="0">
                <a:solidFill>
                  <a:schemeClr val="tx1"/>
                </a:solidFill>
              </a:rPr>
              <a:t>|ΔLPIPS| ≤ 0.01</a:t>
            </a:r>
            <a:endParaRPr lang="en-US" sz="1500" dirty="0"/>
          </a:p>
          <a:p>
            <a:pPr indent="0" marL="0">
              <a:spcAft>
                <a:spcPts val="400"/>
              </a:spcAft>
              <a:buNone/>
            </a:pPr>
            <a:r>
              <a:rPr lang="en-US" sz="1500" dirty="0">
                <a:solidFill>
                  <a:schemeClr val="tx1"/>
                </a:solidFill>
              </a:rPr>
              <a:t>KS ≤ 0.14, per metric</a:t>
            </a:r>
            <a:endParaRPr lang="en-US" sz="1500" dirty="0"/>
          </a:p>
        </p:txBody>
      </p:sp>
      <p:sp>
        <p:nvSpPr>
          <p:cNvPr id="23" name="Guard label 3"/>
          <p:cNvSpPr txBox="1"/>
          <p:nvPr/>
        </p:nvSpPr>
        <p:spPr>
          <a:xfrm>
            <a:off x="6495898" y="4315968"/>
            <a:ext cx="2057400" cy="274320"/>
          </a:xfrm>
          <a:prstGeom prst="rect">
            <a:avLst/>
          </a:prstGeom>
          <a:noFill/>
          <a:ln/>
        </p:spPr>
        <p:txBody>
          <a:bodyPr wrap="square" lIns="0" tIns="0" rIns="0" bIns="0" rtlCol="0" anchor="ctr"/>
          <a:lstStyle/>
          <a:p>
            <a:pPr indent="0" marL="0">
              <a:buNone/>
            </a:pPr>
            <a:r>
              <a:rPr lang="en-US" sz="1400" b="1" spc="100" kern="0" dirty="0">
                <a:solidFill>
                  <a:schemeClr val="accent4"/>
                </a:solidFill>
              </a:rPr>
              <a:t>GUARDS AGAINST</a:t>
            </a:r>
            <a:endParaRPr lang="en-US" sz="1400" dirty="0"/>
          </a:p>
        </p:txBody>
      </p:sp>
      <p:pic>
        <p:nvPicPr>
          <p:cNvPr id="24" name="Image 2" descr="Tail shift">    </p:cNvPr>
          <p:cNvPicPr>
            <a:picLocks noChangeAspect="1"/>
          </p:cNvPicPr>
          <p:nvPr/>
        </p:nvPicPr>
        <p:blipFill>
          <a:blip r:embed="rId3"/>
          <a:stretch>
            <a:fillRect/>
          </a:stretch>
        </p:blipFill>
        <p:spPr>
          <a:xfrm>
            <a:off x="6495898" y="4645152"/>
            <a:ext cx="228600" cy="228600"/>
          </a:xfrm>
          <a:prstGeom prst="rect">
            <a:avLst/>
          </a:prstGeom>
        </p:spPr>
      </p:pic>
      <p:sp>
        <p:nvSpPr>
          <p:cNvPr id="25" name="Guard 3.1"/>
          <p:cNvSpPr txBox="1"/>
          <p:nvPr/>
        </p:nvSpPr>
        <p:spPr>
          <a:xfrm>
            <a:off x="6834226" y="4617720"/>
            <a:ext cx="1719072" cy="283464"/>
          </a:xfrm>
          <a:prstGeom prst="rect">
            <a:avLst/>
          </a:prstGeom>
          <a:noFill/>
          <a:ln/>
        </p:spPr>
        <p:txBody>
          <a:bodyPr wrap="square" lIns="0" tIns="0" rIns="0" bIns="0" rtlCol="0" anchor="ctr"/>
          <a:lstStyle/>
          <a:p>
            <a:pPr indent="0" marL="0">
              <a:buNone/>
            </a:pPr>
            <a:r>
              <a:rPr lang="en-US" sz="1500" b="1" dirty="0">
                <a:solidFill>
                  <a:schemeClr val="tx1"/>
                </a:solidFill>
              </a:rPr>
              <a:t>Tail shift</a:t>
            </a:r>
            <a:endParaRPr lang="en-US" sz="1500" dirty="0"/>
          </a:p>
        </p:txBody>
      </p:sp>
      <p:pic>
        <p:nvPicPr>
          <p:cNvPr id="26" name="Image 3" descr="Metric leakage">    </p:cNvPr>
          <p:cNvPicPr>
            <a:picLocks noChangeAspect="1"/>
          </p:cNvPicPr>
          <p:nvPr/>
        </p:nvPicPr>
        <p:blipFill>
          <a:blip r:embed="rId4"/>
          <a:stretch>
            <a:fillRect/>
          </a:stretch>
        </p:blipFill>
        <p:spPr>
          <a:xfrm>
            <a:off x="6495898" y="4956048"/>
            <a:ext cx="228600" cy="228600"/>
          </a:xfrm>
          <a:prstGeom prst="rect">
            <a:avLst/>
          </a:prstGeom>
        </p:spPr>
      </p:pic>
      <p:sp>
        <p:nvSpPr>
          <p:cNvPr id="27" name="Guard 3.2"/>
          <p:cNvSpPr txBox="1"/>
          <p:nvPr/>
        </p:nvSpPr>
        <p:spPr>
          <a:xfrm>
            <a:off x="6834226" y="4928616"/>
            <a:ext cx="1719072" cy="283464"/>
          </a:xfrm>
          <a:prstGeom prst="rect">
            <a:avLst/>
          </a:prstGeom>
          <a:noFill/>
          <a:ln/>
        </p:spPr>
        <p:txBody>
          <a:bodyPr wrap="square" lIns="0" tIns="0" rIns="0" bIns="0" rtlCol="0" anchor="ctr"/>
          <a:lstStyle/>
          <a:p>
            <a:pPr indent="0" marL="0">
              <a:buNone/>
            </a:pPr>
            <a:r>
              <a:rPr lang="en-US" sz="1500" b="1" dirty="0">
                <a:solidFill>
                  <a:schemeClr val="tx1"/>
                </a:solidFill>
              </a:rPr>
              <a:t>Metric leakage</a:t>
            </a:r>
            <a:endParaRPr lang="en-US" sz="1500" dirty="0"/>
          </a:p>
        </p:txBody>
      </p:sp>
      <p:sp>
        <p:nvSpPr>
          <p:cNvPr id="28" name="Arrow 3"/>
          <p:cNvSpPr/>
          <p:nvPr/>
        </p:nvSpPr>
        <p:spPr>
          <a:xfrm>
            <a:off x="8873338" y="3200400"/>
            <a:ext cx="164592" cy="274320"/>
          </a:xfrm>
          <a:prstGeom prst="chevron">
            <a:avLst/>
          </a:prstGeom>
          <a:solidFill>
            <a:schemeClr val="accent4"/>
          </a:solidFill>
          <a:ln/>
        </p:spPr>
      </p:sp>
      <p:sp>
        <p:nvSpPr>
          <p:cNvPr id="29" name="Step card 4"/>
          <p:cNvSpPr/>
          <p:nvPr/>
        </p:nvSpPr>
        <p:spPr>
          <a:xfrm>
            <a:off x="9126626" y="1417320"/>
            <a:ext cx="2514600" cy="3886200"/>
          </a:xfrm>
          <a:prstGeom prst="roundRect">
            <a:avLst>
              <a:gd name="adj" fmla="val 4364"/>
            </a:avLst>
          </a:prstGeom>
          <a:solidFill>
            <a:schemeClr val="tx2"/>
          </a:solidFill>
          <a:ln/>
        </p:spPr>
      </p:sp>
      <p:sp>
        <p:nvSpPr>
          <p:cNvPr id="30" name="Step num bg 4"/>
          <p:cNvSpPr/>
          <p:nvPr/>
        </p:nvSpPr>
        <p:spPr>
          <a:xfrm>
            <a:off x="9355226" y="1645920"/>
            <a:ext cx="548640" cy="548640"/>
          </a:xfrm>
          <a:prstGeom prst="ellipse">
            <a:avLst/>
          </a:prstGeom>
          <a:solidFill>
            <a:schemeClr val="accent2"/>
          </a:solidFill>
          <a:ln/>
        </p:spPr>
      </p:sp>
      <p:sp>
        <p:nvSpPr>
          <p:cNvPr id="31" name="Step num 4"/>
          <p:cNvSpPr txBox="1"/>
          <p:nvPr/>
        </p:nvSpPr>
        <p:spPr>
          <a:xfrm>
            <a:off x="9355226" y="164592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32" name="Step name 4"/>
          <p:cNvSpPr txBox="1"/>
          <p:nvPr/>
        </p:nvSpPr>
        <p:spPr>
          <a:xfrm>
            <a:off x="9355226" y="2331720"/>
            <a:ext cx="2057400" cy="457200"/>
          </a:xfrm>
          <a:prstGeom prst="rect">
            <a:avLst/>
          </a:prstGeom>
          <a:noFill/>
          <a:ln/>
        </p:spPr>
        <p:txBody>
          <a:bodyPr wrap="square" lIns="0" tIns="0" rIns="0" bIns="0" rtlCol="0" anchor="ctr"/>
          <a:lstStyle/>
          <a:p>
            <a:pPr indent="0" marL="0">
              <a:buNone/>
            </a:pPr>
            <a:r>
              <a:rPr lang="en-US" sz="2200" b="1" dirty="0">
                <a:solidFill>
                  <a:schemeClr val="bg1"/>
                </a:solidFill>
              </a:rPr>
              <a:t>Audit</a:t>
            </a:r>
            <a:endParaRPr lang="en-US" sz="2200" dirty="0"/>
          </a:p>
        </p:txBody>
      </p:sp>
      <p:sp>
        <p:nvSpPr>
          <p:cNvPr id="33" name="Step body 4"/>
          <p:cNvSpPr txBox="1"/>
          <p:nvPr/>
        </p:nvSpPr>
        <p:spPr>
          <a:xfrm>
            <a:off x="9355226" y="2834640"/>
            <a:ext cx="2057400" cy="1417320"/>
          </a:xfrm>
          <a:prstGeom prst="rect">
            <a:avLst/>
          </a:prstGeom>
          <a:noFill/>
          <a:ln/>
        </p:spPr>
        <p:txBody>
          <a:bodyPr wrap="square" lIns="0" tIns="0" rIns="0" bIns="0" rtlCol="0" anchor="t"/>
          <a:lstStyle/>
          <a:p>
            <a:pPr indent="0" marL="0">
              <a:spcAft>
                <a:spcPts val="400"/>
              </a:spcAft>
              <a:buNone/>
            </a:pPr>
            <a:r>
              <a:rPr lang="en-US" sz="1500" dirty="0">
                <a:solidFill>
                  <a:schemeClr val="bg1"/>
                </a:solidFill>
              </a:rPr>
              <a:t>Wilson 95% lower bound (LCB) on the pass rate</a:t>
            </a:r>
            <a:endParaRPr lang="en-US" sz="1500" dirty="0"/>
          </a:p>
          <a:p>
            <a:pPr indent="0" marL="0">
              <a:spcAft>
                <a:spcPts val="400"/>
              </a:spcAft>
              <a:buNone/>
            </a:pPr>
            <a:r>
              <a:rPr lang="en-US" sz="1500" dirty="0">
                <a:solidFill>
                  <a:schemeClr val="bg1"/>
                </a:solidFill>
              </a:rPr>
              <a:t>Pick the smallest B with LCB ≥ </a:t>
            </a:r>
            <a:pPr indent="0" marL="0">
              <a:spcAft>
                <a:spcPts val="400"/>
              </a:spcAft>
              <a:buNone/>
            </a:pPr>
            <a:r>
              <a:rPr lang="en-US" sz="1500" i="1" dirty="0">
                <a:solidFill>
                  <a:schemeClr val="bg1"/>
                </a:solidFill>
              </a:rPr>
              <a:t>p</a:t>
            </a:r>
            <a:pPr indent="0" marL="0">
              <a:spcAft>
                <a:spcPts val="400"/>
              </a:spcAft>
              <a:buNone/>
            </a:pPr>
            <a:r>
              <a:rPr lang="en-US" sz="1500" baseline="-25000" dirty="0">
                <a:solidFill>
                  <a:schemeClr val="bg1"/>
                </a:solidFill>
              </a:rPr>
              <a:t>min</a:t>
            </a:r>
            <a:endParaRPr lang="en-US" sz="1500" dirty="0"/>
          </a:p>
        </p:txBody>
      </p:sp>
      <p:sp>
        <p:nvSpPr>
          <p:cNvPr id="34" name="Guard label 4"/>
          <p:cNvSpPr txBox="1"/>
          <p:nvPr/>
        </p:nvSpPr>
        <p:spPr>
          <a:xfrm>
            <a:off x="9355226" y="4315968"/>
            <a:ext cx="2057400" cy="274320"/>
          </a:xfrm>
          <a:prstGeom prst="rect">
            <a:avLst/>
          </a:prstGeom>
          <a:noFill/>
          <a:ln/>
        </p:spPr>
        <p:txBody>
          <a:bodyPr wrap="square" lIns="0" tIns="0" rIns="0" bIns="0" rtlCol="0" anchor="ctr"/>
          <a:lstStyle/>
          <a:p>
            <a:pPr indent="0" marL="0">
              <a:buNone/>
            </a:pPr>
            <a:r>
              <a:rPr lang="en-US" sz="1400" b="1" spc="100" kern="0" dirty="0">
                <a:solidFill>
                  <a:schemeClr val="accent5"/>
                </a:solidFill>
              </a:rPr>
              <a:t>GUARDS AGAINST</a:t>
            </a:r>
            <a:endParaRPr lang="en-US" sz="1400" dirty="0"/>
          </a:p>
        </p:txBody>
      </p:sp>
      <p:pic>
        <p:nvPicPr>
          <p:cNvPr id="35" name="Image 4" descr="Sampling luck">    </p:cNvPr>
          <p:cNvPicPr>
            <a:picLocks noChangeAspect="1"/>
          </p:cNvPicPr>
          <p:nvPr/>
        </p:nvPicPr>
        <p:blipFill>
          <a:blip r:embed="rId5"/>
          <a:stretch>
            <a:fillRect/>
          </a:stretch>
        </p:blipFill>
        <p:spPr>
          <a:xfrm>
            <a:off x="9355226" y="4645152"/>
            <a:ext cx="228600" cy="228600"/>
          </a:xfrm>
          <a:prstGeom prst="rect">
            <a:avLst/>
          </a:prstGeom>
        </p:spPr>
      </p:pic>
      <p:sp>
        <p:nvSpPr>
          <p:cNvPr id="36" name="Guard 4.1"/>
          <p:cNvSpPr txBox="1"/>
          <p:nvPr/>
        </p:nvSpPr>
        <p:spPr>
          <a:xfrm>
            <a:off x="9693554" y="4617720"/>
            <a:ext cx="1719072" cy="283464"/>
          </a:xfrm>
          <a:prstGeom prst="rect">
            <a:avLst/>
          </a:prstGeom>
          <a:noFill/>
          <a:ln/>
        </p:spPr>
        <p:txBody>
          <a:bodyPr wrap="square" lIns="0" tIns="0" rIns="0" bIns="0" rtlCol="0" anchor="ctr"/>
          <a:lstStyle/>
          <a:p>
            <a:pPr indent="0" marL="0">
              <a:buNone/>
            </a:pPr>
            <a:r>
              <a:rPr lang="en-US" sz="1500" b="1" dirty="0">
                <a:solidFill>
                  <a:schemeClr val="bg1"/>
                </a:solidFill>
              </a:rPr>
              <a:t>Sampling luck</a:t>
            </a:r>
            <a:endParaRPr lang="en-US" sz="1500" dirty="0"/>
          </a:p>
        </p:txBody>
      </p:sp>
      <p:sp>
        <p:nvSpPr>
          <p:cNvPr id="37" name="Note icon bg 1"/>
          <p:cNvSpPr/>
          <p:nvPr/>
        </p:nvSpPr>
        <p:spPr>
          <a:xfrm>
            <a:off x="548640" y="5532120"/>
            <a:ext cx="548640" cy="548640"/>
          </a:xfrm>
          <a:prstGeom prst="ellipse">
            <a:avLst/>
          </a:prstGeom>
          <a:solidFill>
            <a:schemeClr val="bg2"/>
          </a:solidFill>
          <a:ln/>
        </p:spPr>
      </p:sp>
      <p:pic>
        <p:nvPicPr>
          <p:cNvPr id="38" name="Image 5" descr="Export: ">    </p:cNvPr>
          <p:cNvPicPr>
            <a:picLocks noChangeAspect="1"/>
          </p:cNvPicPr>
          <p:nvPr/>
        </p:nvPicPr>
        <p:blipFill>
          <a:blip r:embed="rId6"/>
          <a:stretch>
            <a:fillRect/>
          </a:stretch>
        </p:blipFill>
        <p:spPr>
          <a:xfrm>
            <a:off x="685800" y="5669280"/>
            <a:ext cx="274320" cy="274320"/>
          </a:xfrm>
          <a:prstGeom prst="rect">
            <a:avLst/>
          </a:prstGeom>
        </p:spPr>
      </p:pic>
      <p:sp>
        <p:nvSpPr>
          <p:cNvPr id="39" name="Note 1"/>
          <p:cNvSpPr txBox="1"/>
          <p:nvPr/>
        </p:nvSpPr>
        <p:spPr>
          <a:xfrm>
            <a:off x="1280160" y="5532120"/>
            <a:ext cx="4754880" cy="548640"/>
          </a:xfrm>
          <a:prstGeom prst="rect">
            <a:avLst/>
          </a:prstGeom>
          <a:noFill/>
          <a:ln/>
        </p:spPr>
        <p:txBody>
          <a:bodyPr wrap="square" lIns="0" tIns="0" rIns="0" bIns="0" rtlCol="0" anchor="ctr"/>
          <a:lstStyle/>
          <a:p>
            <a:pPr indent="0" marL="0">
              <a:buNone/>
            </a:pPr>
            <a:r>
              <a:rPr lang="en-US" sz="1500" b="1" dirty="0">
                <a:solidFill>
                  <a:schemeClr val="tx1"/>
                </a:solidFill>
              </a:rPr>
              <a:t>Export: </a:t>
            </a:r>
            <a:pPr indent="0" marL="0">
              <a:buNone/>
            </a:pPr>
            <a:r>
              <a:rPr lang="en-US" sz="1500" dirty="0">
                <a:solidFill>
                  <a:schemeClr val="tx1"/>
                </a:solidFill>
              </a:rPr>
              <a:t>release one passing draw, picked by a fixed rule, and validate it on its own</a:t>
            </a:r>
            <a:endParaRPr lang="en-US" sz="1500" dirty="0"/>
          </a:p>
        </p:txBody>
      </p:sp>
      <p:sp>
        <p:nvSpPr>
          <p:cNvPr id="40" name="Note icon bg 2"/>
          <p:cNvSpPr/>
          <p:nvPr/>
        </p:nvSpPr>
        <p:spPr>
          <a:xfrm>
            <a:off x="6267298" y="5532120"/>
            <a:ext cx="548640" cy="548640"/>
          </a:xfrm>
          <a:prstGeom prst="ellipse">
            <a:avLst/>
          </a:prstGeom>
          <a:solidFill>
            <a:schemeClr val="bg2"/>
          </a:solidFill>
          <a:ln/>
        </p:spPr>
      </p:sp>
      <p:pic>
        <p:nvPicPr>
          <p:cNvPr id="41" name="Image 6" descr="Log-based: ">    </p:cNvPr>
          <p:cNvPicPr>
            <a:picLocks noChangeAspect="1"/>
          </p:cNvPicPr>
          <p:nvPr/>
        </p:nvPicPr>
        <p:blipFill>
          <a:blip r:embed="rId7"/>
          <a:stretch>
            <a:fillRect/>
          </a:stretch>
        </p:blipFill>
        <p:spPr>
          <a:xfrm>
            <a:off x="6404458" y="5669280"/>
            <a:ext cx="274320" cy="274320"/>
          </a:xfrm>
          <a:prstGeom prst="rect">
            <a:avLst/>
          </a:prstGeom>
        </p:spPr>
      </p:pic>
      <p:sp>
        <p:nvSpPr>
          <p:cNvPr id="42" name="Note 2"/>
          <p:cNvSpPr txBox="1"/>
          <p:nvPr/>
        </p:nvSpPr>
        <p:spPr>
          <a:xfrm>
            <a:off x="6998818" y="5532120"/>
            <a:ext cx="4754880" cy="548640"/>
          </a:xfrm>
          <a:prstGeom prst="rect">
            <a:avLst/>
          </a:prstGeom>
          <a:noFill/>
          <a:ln/>
        </p:spPr>
        <p:txBody>
          <a:bodyPr wrap="square" lIns="0" tIns="0" rIns="0" bIns="0" rtlCol="0" anchor="ctr"/>
          <a:lstStyle/>
          <a:p>
            <a:pPr indent="0" marL="0">
              <a:buNone/>
            </a:pPr>
            <a:r>
              <a:rPr lang="en-US" sz="1500" b="1" dirty="0">
                <a:solidFill>
                  <a:schemeClr val="tx1"/>
                </a:solidFill>
              </a:rPr>
              <a:t>Log-based: </a:t>
            </a:r>
            <a:pPr indent="0" marL="0">
              <a:buNone/>
            </a:pPr>
            <a:r>
              <a:rPr lang="en-US" sz="1500" dirty="0">
                <a:solidFill>
                  <a:schemeClr val="tx1"/>
                </a:solidFill>
              </a:rPr>
              <a:t>no GPU training; the audit reruns</a:t>
            </a:r>
            <a:endParaRPr lang="en-US" sz="1500" dirty="0"/>
          </a:p>
          <a:p>
            <a:pPr indent="0" marL="0">
              <a:buNone/>
            </a:pPr>
            <a:r>
              <a:rPr lang="en-US" sz="1500" dirty="0">
                <a:solidFill>
                  <a:schemeClr val="tx1"/>
                </a:solidFill>
              </a:rPr>
              <a:t>on a CPU in minutes</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200" b="1" dirty="0">
                <a:solidFill>
                  <a:schemeClr val="tx1"/>
                </a:solidFill>
              </a:rPr>
              <a:t>At 48 scenes, even the pessimistic pass rate clears the target</a:t>
            </a:r>
            <a:endParaRPr lang="en-US" sz="3200" dirty="0"/>
          </a:p>
        </p:txBody>
      </p:sp>
      <p:pic>
        <p:nvPicPr>
          <p:cNvPr id="3" name="Draw grid" descr="The 400 real candidate draws at 48 scenes, grouped: 88 pass all constraints, 7 match the means but fail KS, 305 fail a mean constraint">    </p:cNvPr>
          <p:cNvPicPr>
            <a:picLocks noChangeAspect="1"/>
          </p:cNvPicPr>
          <p:nvPr/>
        </p:nvPicPr>
        <p:blipFill>
          <a:blip r:embed="rId1"/>
          <a:stretch>
            <a:fillRect/>
          </a:stretch>
        </p:blipFill>
        <p:spPr>
          <a:xfrm>
            <a:off x="502920" y="1371600"/>
            <a:ext cx="4480560" cy="4480560"/>
          </a:xfrm>
          <a:prstGeom prst="rect">
            <a:avLst/>
          </a:prstGeom>
        </p:spPr>
      </p:pic>
      <p:sp>
        <p:nvSpPr>
          <p:cNvPr id="4" name="Grid caption"/>
          <p:cNvSpPr txBox="1"/>
          <p:nvPr/>
        </p:nvSpPr>
        <p:spPr>
          <a:xfrm>
            <a:off x="548640" y="5897880"/>
            <a:ext cx="4480560" cy="274320"/>
          </a:xfrm>
          <a:prstGeom prst="rect">
            <a:avLst/>
          </a:prstGeom>
          <a:noFill/>
          <a:ln/>
        </p:spPr>
        <p:txBody>
          <a:bodyPr wrap="square" lIns="0" tIns="0" rIns="0" bIns="0" rtlCol="0" anchor="ctr"/>
          <a:lstStyle/>
          <a:p>
            <a:pPr indent="0" marL="0">
              <a:buNone/>
            </a:pPr>
            <a:r>
              <a:rPr lang="en-US" sz="1400" dirty="0">
                <a:solidFill>
                  <a:schemeClr val="accent4"/>
                </a:solidFill>
              </a:rPr>
              <a:t>The 400 real candidate draws at 48 scenes</a:t>
            </a:r>
            <a:endParaRPr lang="en-US" sz="1400" dirty="0"/>
          </a:p>
        </p:txBody>
      </p:sp>
      <p:sp>
        <p:nvSpPr>
          <p:cNvPr id="5" name="Key swatch 1"/>
          <p:cNvSpPr/>
          <p:nvPr/>
        </p:nvSpPr>
        <p:spPr>
          <a:xfrm>
            <a:off x="5486400" y="1481328"/>
            <a:ext cx="256032" cy="256032"/>
          </a:xfrm>
          <a:prstGeom prst="rect">
            <a:avLst/>
          </a:prstGeom>
          <a:solidFill>
            <a:schemeClr val="accent1"/>
          </a:solidFill>
          <a:ln/>
        </p:spPr>
      </p:sp>
      <p:sp>
        <p:nvSpPr>
          <p:cNvPr id="6" name="Key label 1"/>
          <p:cNvSpPr txBox="1"/>
          <p:nvPr/>
        </p:nvSpPr>
        <p:spPr>
          <a:xfrm>
            <a:off x="5897880" y="1435608"/>
            <a:ext cx="5669280" cy="347472"/>
          </a:xfrm>
          <a:prstGeom prst="rect">
            <a:avLst/>
          </a:prstGeom>
          <a:noFill/>
          <a:ln/>
        </p:spPr>
        <p:txBody>
          <a:bodyPr wrap="square" lIns="0" tIns="0" rIns="0" bIns="0" rtlCol="0" anchor="ctr"/>
          <a:lstStyle/>
          <a:p>
            <a:pPr indent="0" marL="0">
              <a:buNone/>
            </a:pPr>
            <a:r>
              <a:rPr lang="en-US" sz="1600" dirty="0">
                <a:solidFill>
                  <a:schemeClr val="tx1"/>
                </a:solidFill>
              </a:rPr>
              <a:t>Pass all six constraints (88)</a:t>
            </a:r>
            <a:endParaRPr lang="en-US" sz="1600" dirty="0"/>
          </a:p>
        </p:txBody>
      </p:sp>
      <p:sp>
        <p:nvSpPr>
          <p:cNvPr id="7" name="Key swatch 2"/>
          <p:cNvSpPr/>
          <p:nvPr/>
        </p:nvSpPr>
        <p:spPr>
          <a:xfrm>
            <a:off x="5486400" y="1892808"/>
            <a:ext cx="256032" cy="256032"/>
          </a:xfrm>
          <a:prstGeom prst="rect">
            <a:avLst/>
          </a:prstGeom>
          <a:solidFill>
            <a:srgbClr val="C27A00"/>
          </a:solidFill>
          <a:ln/>
        </p:spPr>
      </p:sp>
      <p:sp>
        <p:nvSpPr>
          <p:cNvPr id="8" name="Key label 2"/>
          <p:cNvSpPr txBox="1"/>
          <p:nvPr/>
        </p:nvSpPr>
        <p:spPr>
          <a:xfrm>
            <a:off x="5897880" y="1847088"/>
            <a:ext cx="5669280" cy="347472"/>
          </a:xfrm>
          <a:prstGeom prst="rect">
            <a:avLst/>
          </a:prstGeom>
          <a:noFill/>
          <a:ln/>
        </p:spPr>
        <p:txBody>
          <a:bodyPr wrap="square" lIns="0" tIns="0" rIns="0" bIns="0" rtlCol="0" anchor="ctr"/>
          <a:lstStyle/>
          <a:p>
            <a:pPr indent="0" marL="0">
              <a:buNone/>
            </a:pPr>
            <a:r>
              <a:rPr lang="en-US" sz="1600" dirty="0">
                <a:solidFill>
                  <a:schemeClr val="tx1"/>
                </a:solidFill>
              </a:rPr>
              <a:t>Means match, KS fails: tail shift caught (7)</a:t>
            </a:r>
            <a:endParaRPr lang="en-US" sz="1600" dirty="0"/>
          </a:p>
        </p:txBody>
      </p:sp>
      <p:sp>
        <p:nvSpPr>
          <p:cNvPr id="9" name="Key swatch 3"/>
          <p:cNvSpPr/>
          <p:nvPr/>
        </p:nvSpPr>
        <p:spPr>
          <a:xfrm>
            <a:off x="5486400" y="2304288"/>
            <a:ext cx="256032" cy="256032"/>
          </a:xfrm>
          <a:prstGeom prst="rect">
            <a:avLst/>
          </a:prstGeom>
          <a:solidFill>
            <a:srgbClr val="DDE3E6"/>
          </a:solidFill>
          <a:ln/>
        </p:spPr>
      </p:sp>
      <p:sp>
        <p:nvSpPr>
          <p:cNvPr id="10" name="Key label 3"/>
          <p:cNvSpPr txBox="1"/>
          <p:nvPr/>
        </p:nvSpPr>
        <p:spPr>
          <a:xfrm>
            <a:off x="5897880" y="2258568"/>
            <a:ext cx="5669280" cy="347472"/>
          </a:xfrm>
          <a:prstGeom prst="rect">
            <a:avLst/>
          </a:prstGeom>
          <a:noFill/>
          <a:ln/>
        </p:spPr>
        <p:txBody>
          <a:bodyPr wrap="square" lIns="0" tIns="0" rIns="0" bIns="0" rtlCol="0" anchor="ctr"/>
          <a:lstStyle/>
          <a:p>
            <a:pPr indent="0" marL="0">
              <a:buNone/>
            </a:pPr>
            <a:r>
              <a:rPr lang="en-US" sz="1600" dirty="0">
                <a:solidFill>
                  <a:schemeClr val="tx1"/>
                </a:solidFill>
              </a:rPr>
              <a:t>Fail a mean constraint (305)</a:t>
            </a:r>
            <a:endParaRPr lang="en-US" sz="1600" dirty="0"/>
          </a:p>
        </p:txBody>
      </p:sp>
      <p:sp>
        <p:nvSpPr>
          <p:cNvPr id="11" name="Verdict card"/>
          <p:cNvSpPr/>
          <p:nvPr/>
        </p:nvSpPr>
        <p:spPr>
          <a:xfrm>
            <a:off x="5486400" y="2880360"/>
            <a:ext cx="6153912" cy="1874520"/>
          </a:xfrm>
          <a:prstGeom prst="roundRect">
            <a:avLst>
              <a:gd name="adj" fmla="val 5854"/>
            </a:avLst>
          </a:prstGeom>
          <a:solidFill>
            <a:schemeClr val="tx2"/>
          </a:solidFill>
          <a:ln/>
        </p:spPr>
      </p:sp>
      <p:sp>
        <p:nvSpPr>
          <p:cNvPr id="12" name="Verdict rate"/>
          <p:cNvSpPr txBox="1"/>
          <p:nvPr/>
        </p:nvSpPr>
        <p:spPr>
          <a:xfrm>
            <a:off x="5806440" y="3017520"/>
            <a:ext cx="5669280" cy="457200"/>
          </a:xfrm>
          <a:prstGeom prst="rect">
            <a:avLst/>
          </a:prstGeom>
          <a:noFill/>
          <a:ln/>
        </p:spPr>
        <p:txBody>
          <a:bodyPr wrap="square" lIns="0" tIns="0" rIns="0" bIns="0" rtlCol="0" anchor="ctr"/>
          <a:lstStyle/>
          <a:p>
            <a:pPr indent="0" marL="0">
              <a:buNone/>
            </a:pPr>
            <a:r>
              <a:rPr lang="en-US" sz="2000" dirty="0">
                <a:solidFill>
                  <a:schemeClr val="bg1"/>
                </a:solidFill>
              </a:rPr>
              <a:t>Pass rate   </a:t>
            </a:r>
            <a:pPr indent="0" marL="0">
              <a:buNone/>
            </a:pPr>
            <a:r>
              <a:rPr lang="en-US" sz="2000" b="1" dirty="0">
                <a:solidFill>
                  <a:schemeClr val="bg1"/>
                </a:solidFill>
              </a:rPr>
              <a:t>88 / 400 = 0.22</a:t>
            </a:r>
            <a:endParaRPr lang="en-US" sz="2000" dirty="0"/>
          </a:p>
        </p:txBody>
      </p:sp>
      <p:sp>
        <p:nvSpPr>
          <p:cNvPr id="13" name="Verdict bound"/>
          <p:cNvSpPr txBox="1"/>
          <p:nvPr/>
        </p:nvSpPr>
        <p:spPr>
          <a:xfrm>
            <a:off x="5806440" y="3520440"/>
            <a:ext cx="5669280" cy="502920"/>
          </a:xfrm>
          <a:prstGeom prst="rect">
            <a:avLst/>
          </a:prstGeom>
          <a:noFill/>
          <a:ln/>
        </p:spPr>
        <p:txBody>
          <a:bodyPr wrap="square" lIns="0" tIns="0" rIns="0" bIns="0" rtlCol="0" anchor="ctr"/>
          <a:lstStyle/>
          <a:p>
            <a:pPr indent="0" marL="0">
              <a:buNone/>
            </a:pPr>
            <a:r>
              <a:rPr lang="en-US" sz="2200" dirty="0">
                <a:solidFill>
                  <a:schemeClr val="bg1"/>
                </a:solidFill>
              </a:rPr>
              <a:t>Wilson 95% LCB   </a:t>
            </a:r>
            <a:pPr indent="0" marL="0">
              <a:buNone/>
            </a:pPr>
            <a:r>
              <a:rPr lang="en-US" sz="2200" b="1" dirty="0">
                <a:solidFill>
                  <a:schemeClr val="accent2"/>
                </a:solidFill>
              </a:rPr>
              <a:t>0.182</a:t>
            </a:r>
            <a:pPr indent="0" marL="0">
              <a:buNone/>
            </a:pPr>
            <a:r>
              <a:rPr lang="en-US" sz="2200" dirty="0">
                <a:solidFill>
                  <a:schemeClr val="bg1"/>
                </a:solidFill>
              </a:rPr>
              <a:t> ≥ </a:t>
            </a:r>
            <a:pPr indent="0" marL="0">
              <a:buNone/>
            </a:pPr>
            <a:r>
              <a:rPr lang="en-US" sz="2200" i="1" dirty="0">
                <a:solidFill>
                  <a:schemeClr val="bg1"/>
                </a:solidFill>
              </a:rPr>
              <a:t>p</a:t>
            </a:r>
            <a:pPr indent="0" marL="0">
              <a:buNone/>
            </a:pPr>
            <a:r>
              <a:rPr lang="en-US" sz="2200" baseline="-25000" dirty="0">
                <a:solidFill>
                  <a:schemeClr val="bg1"/>
                </a:solidFill>
              </a:rPr>
              <a:t>min</a:t>
            </a:r>
            <a:pPr indent="0" marL="0">
              <a:buNone/>
            </a:pPr>
            <a:r>
              <a:rPr lang="en-US" sz="2200" dirty="0">
                <a:solidFill>
                  <a:schemeClr val="bg1"/>
                </a:solidFill>
              </a:rPr>
              <a:t> = 0.08</a:t>
            </a:r>
            <a:endParaRPr lang="en-US" sz="2200" dirty="0"/>
          </a:p>
        </p:txBody>
      </p:sp>
      <p:pic>
        <p:nvPicPr>
          <p:cNvPr id="14" name="Image 1" descr="Certified">    </p:cNvPr>
          <p:cNvPicPr>
            <a:picLocks noChangeAspect="1"/>
          </p:cNvPicPr>
          <p:nvPr/>
        </p:nvPicPr>
        <p:blipFill>
          <a:blip r:embed="rId2"/>
          <a:stretch>
            <a:fillRect/>
          </a:stretch>
        </p:blipFill>
        <p:spPr>
          <a:xfrm>
            <a:off x="5806440" y="4133088"/>
            <a:ext cx="384048" cy="384048"/>
          </a:xfrm>
          <a:prstGeom prst="rect">
            <a:avLst/>
          </a:prstGeom>
        </p:spPr>
      </p:pic>
      <p:sp>
        <p:nvSpPr>
          <p:cNvPr id="15" name="Verdict result"/>
          <p:cNvSpPr txBox="1"/>
          <p:nvPr/>
        </p:nvSpPr>
        <p:spPr>
          <a:xfrm>
            <a:off x="6327648" y="4096512"/>
            <a:ext cx="5120640" cy="457200"/>
          </a:xfrm>
          <a:prstGeom prst="rect">
            <a:avLst/>
          </a:prstGeom>
          <a:noFill/>
          <a:ln/>
        </p:spPr>
        <p:txBody>
          <a:bodyPr wrap="square" lIns="0" tIns="0" rIns="0" bIns="0" rtlCol="0" anchor="ctr"/>
          <a:lstStyle/>
          <a:p>
            <a:pPr indent="0" marL="0">
              <a:buNone/>
            </a:pPr>
            <a:r>
              <a:rPr lang="en-US" sz="2200" b="1" dirty="0">
                <a:solidFill>
                  <a:schemeClr val="accent5"/>
                </a:solidFill>
              </a:rPr>
              <a:t>48 scenes certified</a:t>
            </a:r>
            <a:endParaRPr lang="en-US" sz="2200" dirty="0"/>
          </a:p>
        </p:txBody>
      </p:sp>
      <p:sp>
        <p:nvSpPr>
          <p:cNvPr id="16" name="Yield note"/>
          <p:cNvSpPr txBox="1"/>
          <p:nvPr/>
        </p:nvSpPr>
        <p:spPr>
          <a:xfrm>
            <a:off x="5486400" y="5029200"/>
            <a:ext cx="6153912" cy="777240"/>
          </a:xfrm>
          <a:prstGeom prst="rect">
            <a:avLst/>
          </a:prstGeom>
          <a:noFill/>
          <a:ln/>
        </p:spPr>
        <p:txBody>
          <a:bodyPr wrap="square" lIns="0" tIns="0" rIns="0" bIns="0" rtlCol="0" anchor="t"/>
          <a:lstStyle/>
          <a:p>
            <a:pPr indent="0" marL="0">
              <a:buNone/>
            </a:pPr>
            <a:r>
              <a:rPr lang="en-US" sz="1800" b="1" i="1" dirty="0">
                <a:solidFill>
                  <a:schemeClr val="accent1"/>
                </a:solidFill>
              </a:rPr>
              <a:t>p</a:t>
            </a:r>
            <a:pPr indent="0" marL="0">
              <a:buNone/>
            </a:pPr>
            <a:r>
              <a:rPr lang="en-US" sz="1800" b="1" baseline="-25000" dirty="0">
                <a:solidFill>
                  <a:schemeClr val="accent1"/>
                </a:solidFill>
              </a:rPr>
              <a:t>min</a:t>
            </a:r>
            <a:pPr indent="0" marL="0">
              <a:buNone/>
            </a:pPr>
            <a:r>
              <a:rPr lang="en-US" sz="1800" b="1" dirty="0">
                <a:solidFill>
                  <a:schemeClr val="accent1"/>
                </a:solidFill>
              </a:rPr>
              <a:t> is a yield: </a:t>
            </a:r>
            <a:pPr indent="0" marL="0">
              <a:buNone/>
            </a:pPr>
            <a:r>
              <a:rPr lang="en-US" sz="1800" dirty="0">
                <a:solidFill>
                  <a:schemeClr val="tx1"/>
                </a:solidFill>
              </a:rPr>
              <a:t>on average, at most 12.5 cheap log checks find a passing subset.</a:t>
            </a:r>
            <a:endParaRPr lang="en-US" sz="1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200" b="1" dirty="0">
                <a:solidFill>
                  <a:schemeClr val="tx1"/>
                </a:solidFill>
              </a:rPr>
              <a:t>The frontier trades scenes for reliability</a:t>
            </a:r>
            <a:endParaRPr lang="en-US" sz="3200" dirty="0"/>
          </a:p>
        </p:txBody>
      </p:sp>
      <p:graphicFrame>
        <p:nvGraphicFramePr>
          <p:cNvPr id="3" name="Frontier chart" descr="Pass rate and Wilson lower bound versus subset size, 48 to 120 scenes"/>
          <p:cNvGraphicFramePr/>
          <p:nvPr/>
        </p:nvGraphicFramePr>
        <p:xfrm>
          <a:off x="548640" y="1325880"/>
          <a:ext cx="7315200" cy="4754880"/>
        </p:xfrm>
        <a:graphic xmlns:a="http://schemas.openxmlformats.org/drawingml/2006/main">
          <a:graphicData uri="http://schemas.openxmlformats.org/drawingml/2006/chart">
            <c:chart xmlns:c="http://schemas.openxmlformats.org/drawingml/2006/chart" r:id="rId1"/>
          </a:graphicData>
        </a:graphic>
      </p:graphicFrame>
      <p:sp>
        <p:nvSpPr>
          <p:cNvPr id="4" name="X axis"/>
          <p:cNvSpPr/>
          <p:nvPr/>
        </p:nvSpPr>
        <p:spPr>
          <a:xfrm>
            <a:off x="1499616" y="5177333"/>
            <a:ext cx="5852160" cy="0"/>
          </a:xfrm>
          <a:prstGeom prst="line">
            <a:avLst/>
          </a:prstGeom>
          <a:noFill/>
          <a:ln w="12700">
            <a:solidFill>
              <a:srgbClr val="B8C2C8"/>
            </a:solidFill>
            <a:prstDash val="solid"/>
          </a:ln>
        </p:spPr>
      </p:sp>
      <p:sp>
        <p:nvSpPr>
          <p:cNvPr id="5" name="X tick 48"/>
          <p:cNvSpPr txBox="1"/>
          <p:nvPr/>
        </p:nvSpPr>
        <p:spPr>
          <a:xfrm>
            <a:off x="1551867" y="5250485"/>
            <a:ext cx="731520" cy="292608"/>
          </a:xfrm>
          <a:prstGeom prst="rect">
            <a:avLst/>
          </a:prstGeom>
          <a:noFill/>
          <a:ln/>
        </p:spPr>
        <p:txBody>
          <a:bodyPr wrap="square" lIns="0" tIns="0" rIns="0" bIns="0" rtlCol="0" anchor="ctr"/>
          <a:lstStyle/>
          <a:p>
            <a:pPr algn="ctr" indent="0" marL="0">
              <a:buNone/>
            </a:pPr>
            <a:r>
              <a:rPr lang="en-US" sz="1600" dirty="0">
                <a:solidFill>
                  <a:srgbClr val="3B4752"/>
                </a:solidFill>
              </a:rPr>
              <a:t>48</a:t>
            </a:r>
            <a:endParaRPr lang="en-US" sz="1600" dirty="0"/>
          </a:p>
        </p:txBody>
      </p:sp>
      <p:sp>
        <p:nvSpPr>
          <p:cNvPr id="6" name="X tick 60"/>
          <p:cNvSpPr txBox="1"/>
          <p:nvPr/>
        </p:nvSpPr>
        <p:spPr>
          <a:xfrm>
            <a:off x="2387890" y="5250485"/>
            <a:ext cx="731520" cy="292608"/>
          </a:xfrm>
          <a:prstGeom prst="rect">
            <a:avLst/>
          </a:prstGeom>
          <a:noFill/>
          <a:ln/>
        </p:spPr>
        <p:txBody>
          <a:bodyPr wrap="square" lIns="0" tIns="0" rIns="0" bIns="0" rtlCol="0" anchor="ctr"/>
          <a:lstStyle/>
          <a:p>
            <a:pPr algn="ctr" indent="0" marL="0">
              <a:buNone/>
            </a:pPr>
            <a:r>
              <a:rPr lang="en-US" sz="1600" dirty="0">
                <a:solidFill>
                  <a:srgbClr val="3B4752"/>
                </a:solidFill>
              </a:rPr>
              <a:t>60</a:t>
            </a:r>
            <a:endParaRPr lang="en-US" sz="1600" dirty="0"/>
          </a:p>
        </p:txBody>
      </p:sp>
      <p:sp>
        <p:nvSpPr>
          <p:cNvPr id="7" name="X tick 72"/>
          <p:cNvSpPr txBox="1"/>
          <p:nvPr/>
        </p:nvSpPr>
        <p:spPr>
          <a:xfrm>
            <a:off x="3223913" y="5250485"/>
            <a:ext cx="731520" cy="292608"/>
          </a:xfrm>
          <a:prstGeom prst="rect">
            <a:avLst/>
          </a:prstGeom>
          <a:noFill/>
          <a:ln/>
        </p:spPr>
        <p:txBody>
          <a:bodyPr wrap="square" lIns="0" tIns="0" rIns="0" bIns="0" rtlCol="0" anchor="ctr"/>
          <a:lstStyle/>
          <a:p>
            <a:pPr algn="ctr" indent="0" marL="0">
              <a:buNone/>
            </a:pPr>
            <a:r>
              <a:rPr lang="en-US" sz="1600" dirty="0">
                <a:solidFill>
                  <a:srgbClr val="3B4752"/>
                </a:solidFill>
              </a:rPr>
              <a:t>72</a:t>
            </a:r>
            <a:endParaRPr lang="en-US" sz="1600" dirty="0"/>
          </a:p>
        </p:txBody>
      </p:sp>
      <p:sp>
        <p:nvSpPr>
          <p:cNvPr id="8" name="X tick 96"/>
          <p:cNvSpPr txBox="1"/>
          <p:nvPr/>
        </p:nvSpPr>
        <p:spPr>
          <a:xfrm>
            <a:off x="4895959" y="5250485"/>
            <a:ext cx="731520" cy="292608"/>
          </a:xfrm>
          <a:prstGeom prst="rect">
            <a:avLst/>
          </a:prstGeom>
          <a:noFill/>
          <a:ln/>
        </p:spPr>
        <p:txBody>
          <a:bodyPr wrap="square" lIns="0" tIns="0" rIns="0" bIns="0" rtlCol="0" anchor="ctr"/>
          <a:lstStyle/>
          <a:p>
            <a:pPr algn="ctr" indent="0" marL="0">
              <a:buNone/>
            </a:pPr>
            <a:r>
              <a:rPr lang="en-US" sz="1600" dirty="0">
                <a:solidFill>
                  <a:srgbClr val="3B4752"/>
                </a:solidFill>
              </a:rPr>
              <a:t>96</a:t>
            </a:r>
            <a:endParaRPr lang="en-US" sz="1600" dirty="0"/>
          </a:p>
        </p:txBody>
      </p:sp>
      <p:sp>
        <p:nvSpPr>
          <p:cNvPr id="9" name="X tick 120"/>
          <p:cNvSpPr txBox="1"/>
          <p:nvPr/>
        </p:nvSpPr>
        <p:spPr>
          <a:xfrm>
            <a:off x="6568005" y="5250485"/>
            <a:ext cx="731520" cy="292608"/>
          </a:xfrm>
          <a:prstGeom prst="rect">
            <a:avLst/>
          </a:prstGeom>
          <a:noFill/>
          <a:ln/>
        </p:spPr>
        <p:txBody>
          <a:bodyPr wrap="square" lIns="0" tIns="0" rIns="0" bIns="0" rtlCol="0" anchor="ctr"/>
          <a:lstStyle/>
          <a:p>
            <a:pPr algn="ctr" indent="0" marL="0">
              <a:buNone/>
            </a:pPr>
            <a:r>
              <a:rPr lang="en-US" sz="1600" dirty="0">
                <a:solidFill>
                  <a:srgbClr val="3B4752"/>
                </a:solidFill>
              </a:rPr>
              <a:t>120</a:t>
            </a:r>
            <a:endParaRPr lang="en-US" sz="1600" dirty="0"/>
          </a:p>
        </p:txBody>
      </p:sp>
      <p:sp>
        <p:nvSpPr>
          <p:cNvPr id="10" name="X title"/>
          <p:cNvSpPr txBox="1"/>
          <p:nvPr/>
        </p:nvSpPr>
        <p:spPr>
          <a:xfrm>
            <a:off x="1499616" y="5634533"/>
            <a:ext cx="5852160" cy="320040"/>
          </a:xfrm>
          <a:prstGeom prst="rect">
            <a:avLst/>
          </a:prstGeom>
          <a:noFill/>
          <a:ln/>
        </p:spPr>
        <p:txBody>
          <a:bodyPr wrap="square" lIns="0" tIns="0" rIns="0" bIns="0" rtlCol="0" anchor="ctr"/>
          <a:lstStyle/>
          <a:p>
            <a:pPr algn="ctr" indent="0" marL="0">
              <a:buNone/>
            </a:pPr>
            <a:r>
              <a:rPr lang="en-US" sz="1600" dirty="0">
                <a:solidFill>
                  <a:srgbClr val="3B4752"/>
                </a:solidFill>
              </a:rPr>
              <a:t>Subset size (scenes, balanced generator)</a:t>
            </a:r>
            <a:endParaRPr lang="en-US" sz="1600" dirty="0"/>
          </a:p>
        </p:txBody>
      </p:sp>
      <p:sp>
        <p:nvSpPr>
          <p:cNvPr id="11" name="Label pass"/>
          <p:cNvSpPr txBox="1"/>
          <p:nvPr/>
        </p:nvSpPr>
        <p:spPr>
          <a:xfrm>
            <a:off x="7116645" y="1544879"/>
            <a:ext cx="914400" cy="310896"/>
          </a:xfrm>
          <a:prstGeom prst="rect">
            <a:avLst/>
          </a:prstGeom>
          <a:noFill/>
          <a:ln/>
        </p:spPr>
        <p:txBody>
          <a:bodyPr wrap="square" lIns="0" tIns="0" rIns="0" bIns="0" rtlCol="0" anchor="ctr"/>
          <a:lstStyle/>
          <a:p>
            <a:pPr indent="0" marL="0">
              <a:buNone/>
            </a:pPr>
            <a:r>
              <a:rPr lang="en-US" sz="1400" b="1" dirty="0">
                <a:solidFill>
                  <a:schemeClr val="accent1"/>
                </a:solidFill>
              </a:rPr>
              <a:t>Pass rate</a:t>
            </a:r>
            <a:endParaRPr lang="en-US" sz="1400" dirty="0"/>
          </a:p>
        </p:txBody>
      </p:sp>
      <p:sp>
        <p:nvSpPr>
          <p:cNvPr id="12" name="Label LCB"/>
          <p:cNvSpPr txBox="1"/>
          <p:nvPr/>
        </p:nvSpPr>
        <p:spPr>
          <a:xfrm>
            <a:off x="7116645" y="2043250"/>
            <a:ext cx="914400" cy="310896"/>
          </a:xfrm>
          <a:prstGeom prst="rect">
            <a:avLst/>
          </a:prstGeom>
          <a:noFill/>
          <a:ln/>
        </p:spPr>
        <p:txBody>
          <a:bodyPr wrap="square" lIns="0" tIns="0" rIns="0" bIns="0" rtlCol="0" anchor="ctr"/>
          <a:lstStyle/>
          <a:p>
            <a:pPr indent="0" marL="0">
              <a:buNone/>
            </a:pPr>
            <a:r>
              <a:rPr lang="en-US" sz="1400" b="1" dirty="0">
                <a:solidFill>
                  <a:schemeClr val="accent2"/>
                </a:solidFill>
              </a:rPr>
              <a:t>Wilson LCB</a:t>
            </a:r>
            <a:endParaRPr lang="en-US" sz="1400" dirty="0"/>
          </a:p>
        </p:txBody>
      </p:sp>
      <p:sp>
        <p:nvSpPr>
          <p:cNvPr id="13" name="Target line 0.08"/>
          <p:cNvSpPr/>
          <p:nvPr/>
        </p:nvSpPr>
        <p:spPr>
          <a:xfrm>
            <a:off x="1499616" y="4250131"/>
            <a:ext cx="5852160" cy="0"/>
          </a:xfrm>
          <a:prstGeom prst="line">
            <a:avLst/>
          </a:prstGeom>
          <a:noFill/>
          <a:ln w="22225">
            <a:solidFill>
              <a:schemeClr val="tx1"/>
            </a:solidFill>
            <a:prstDash val="dash"/>
          </a:ln>
        </p:spPr>
      </p:sp>
      <p:sp>
        <p:nvSpPr>
          <p:cNvPr id="14" name="Target label 0.08"/>
          <p:cNvSpPr txBox="1"/>
          <p:nvPr/>
        </p:nvSpPr>
        <p:spPr>
          <a:xfrm>
            <a:off x="5522976" y="4295851"/>
            <a:ext cx="1828800" cy="274320"/>
          </a:xfrm>
          <a:prstGeom prst="rect">
            <a:avLst/>
          </a:prstGeom>
          <a:noFill/>
          <a:ln/>
        </p:spPr>
        <p:txBody>
          <a:bodyPr wrap="square" lIns="0" tIns="0" rIns="0" bIns="0" rtlCol="0" anchor="ctr"/>
          <a:lstStyle/>
          <a:p>
            <a:pPr algn="r" indent="0" marL="0">
              <a:buNone/>
            </a:pPr>
            <a:r>
              <a:rPr lang="en-US" sz="1400" b="1" dirty="0">
                <a:solidFill>
                  <a:schemeClr val="tx1"/>
                </a:solidFill>
              </a:rPr>
              <a:t>Target </a:t>
            </a:r>
            <a:pPr algn="r" indent="0" marL="0">
              <a:buNone/>
            </a:pPr>
            <a:r>
              <a:rPr lang="en-US" sz="1400" b="1" i="1" dirty="0">
                <a:solidFill>
                  <a:schemeClr val="tx1"/>
                </a:solidFill>
              </a:rPr>
              <a:t>p</a:t>
            </a:r>
            <a:pPr algn="r" indent="0" marL="0">
              <a:buNone/>
            </a:pPr>
            <a:r>
              <a:rPr lang="en-US" sz="1400" b="1" baseline="-25000" dirty="0">
                <a:solidFill>
                  <a:schemeClr val="tx1"/>
                </a:solidFill>
              </a:rPr>
              <a:t>min</a:t>
            </a:r>
            <a:pPr algn="r" indent="0" marL="0">
              <a:buNone/>
            </a:pPr>
            <a:r>
              <a:rPr lang="en-US" sz="1400" b="1" dirty="0">
                <a:solidFill>
                  <a:schemeClr val="tx1"/>
                </a:solidFill>
              </a:rPr>
              <a:t> = 0.08</a:t>
            </a:r>
            <a:endParaRPr lang="en-US" sz="1400" dirty="0"/>
          </a:p>
        </p:txBody>
      </p:sp>
      <p:sp>
        <p:nvSpPr>
          <p:cNvPr id="15" name="Ring 48"/>
          <p:cNvSpPr/>
          <p:nvPr/>
        </p:nvSpPr>
        <p:spPr>
          <a:xfrm>
            <a:off x="1698171" y="2848493"/>
            <a:ext cx="438912" cy="438912"/>
          </a:xfrm>
          <a:prstGeom prst="ellipse">
            <a:avLst/>
          </a:prstGeom>
          <a:ln w="31750">
            <a:solidFill>
              <a:schemeClr val="accent2"/>
            </a:solidFill>
            <a:prstDash val="solid"/>
          </a:ln>
        </p:spPr>
      </p:sp>
      <p:sp>
        <p:nvSpPr>
          <p:cNvPr id="16" name="Ring label 48"/>
          <p:cNvSpPr txBox="1"/>
          <p:nvPr/>
        </p:nvSpPr>
        <p:spPr>
          <a:xfrm>
            <a:off x="2191947" y="3378845"/>
            <a:ext cx="2560320" cy="292608"/>
          </a:xfrm>
          <a:prstGeom prst="rect">
            <a:avLst/>
          </a:prstGeom>
          <a:noFill/>
          <a:ln/>
        </p:spPr>
        <p:txBody>
          <a:bodyPr wrap="square" lIns="0" tIns="0" rIns="0" bIns="0" rtlCol="0" anchor="ctr"/>
          <a:lstStyle/>
          <a:p>
            <a:pPr indent="0" marL="0">
              <a:buNone/>
            </a:pPr>
            <a:r>
              <a:rPr lang="en-US" sz="1400" b="1" dirty="0">
                <a:solidFill>
                  <a:schemeClr val="accent2"/>
                </a:solidFill>
              </a:rPr>
              <a:t>Smallest evaluated budget</a:t>
            </a:r>
            <a:endParaRPr lang="en-US" sz="1400" dirty="0"/>
          </a:p>
        </p:txBody>
      </p:sp>
      <p:sp>
        <p:nvSpPr>
          <p:cNvPr id="17" name="Operating point 1"/>
          <p:cNvSpPr/>
          <p:nvPr/>
        </p:nvSpPr>
        <p:spPr>
          <a:xfrm>
            <a:off x="8138160" y="1417320"/>
            <a:ext cx="3502152" cy="2057400"/>
          </a:xfrm>
          <a:prstGeom prst="roundRect">
            <a:avLst>
              <a:gd name="adj" fmla="val 5333"/>
            </a:avLst>
          </a:prstGeom>
          <a:solidFill>
            <a:schemeClr val="tx2"/>
          </a:solidFill>
          <a:ln/>
        </p:spPr>
      </p:sp>
      <p:sp>
        <p:nvSpPr>
          <p:cNvPr id="18" name="Op target 1"/>
          <p:cNvSpPr txBox="1"/>
          <p:nvPr/>
        </p:nvSpPr>
        <p:spPr>
          <a:xfrm>
            <a:off x="8412480" y="1618488"/>
            <a:ext cx="3017520" cy="320040"/>
          </a:xfrm>
          <a:prstGeom prst="rect">
            <a:avLst/>
          </a:prstGeom>
          <a:noFill/>
          <a:ln/>
        </p:spPr>
        <p:txBody>
          <a:bodyPr wrap="square" lIns="0" tIns="0" rIns="0" bIns="0" rtlCol="0" anchor="ctr"/>
          <a:lstStyle/>
          <a:p>
            <a:pPr indent="0" marL="0">
              <a:buNone/>
            </a:pPr>
            <a:r>
              <a:rPr lang="en-US" sz="1400" dirty="0">
                <a:solidFill>
                  <a:schemeClr val="accent5"/>
                </a:solidFill>
              </a:rPr>
              <a:t>Target </a:t>
            </a:r>
            <a:pPr indent="0" marL="0">
              <a:buNone/>
            </a:pPr>
            <a:r>
              <a:rPr lang="en-US" sz="1400" i="1" dirty="0">
                <a:solidFill>
                  <a:schemeClr val="accent5"/>
                </a:solidFill>
              </a:rPr>
              <a:t>p</a:t>
            </a:r>
            <a:pPr indent="0" marL="0">
              <a:buNone/>
            </a:pPr>
            <a:r>
              <a:rPr lang="en-US" sz="1400" baseline="-25000" dirty="0">
                <a:solidFill>
                  <a:schemeClr val="accent5"/>
                </a:solidFill>
              </a:rPr>
              <a:t>min</a:t>
            </a:r>
            <a:pPr indent="0" marL="0">
              <a:buNone/>
            </a:pPr>
            <a:r>
              <a:rPr lang="en-US" sz="1400" dirty="0">
                <a:solidFill>
                  <a:schemeClr val="accent5"/>
                </a:solidFill>
              </a:rPr>
              <a:t> = 0.08</a:t>
            </a:r>
            <a:endParaRPr lang="en-US" sz="1400" dirty="0"/>
          </a:p>
        </p:txBody>
      </p:sp>
      <p:sp>
        <p:nvSpPr>
          <p:cNvPr id="19" name="Op name 1"/>
          <p:cNvSpPr txBox="1"/>
          <p:nvPr/>
        </p:nvSpPr>
        <p:spPr>
          <a:xfrm>
            <a:off x="8412480" y="1938528"/>
            <a:ext cx="3017520" cy="640080"/>
          </a:xfrm>
          <a:prstGeom prst="rect">
            <a:avLst/>
          </a:prstGeom>
          <a:noFill/>
          <a:ln/>
        </p:spPr>
        <p:txBody>
          <a:bodyPr wrap="square" lIns="0" tIns="0" rIns="0" bIns="0" rtlCol="0" anchor="ctr"/>
          <a:lstStyle/>
          <a:p>
            <a:pPr indent="0" marL="0">
              <a:buNone/>
            </a:pPr>
            <a:r>
              <a:rPr lang="en-US" sz="3600" b="1" dirty="0">
                <a:solidFill>
                  <a:schemeClr val="bg1"/>
                </a:solidFill>
              </a:rPr>
              <a:t>RASS-48</a:t>
            </a:r>
            <a:endParaRPr lang="en-US" sz="3600" dirty="0"/>
          </a:p>
        </p:txBody>
      </p:sp>
      <p:sp>
        <p:nvSpPr>
          <p:cNvPr id="20" name="Op stat 1"/>
          <p:cNvSpPr txBox="1"/>
          <p:nvPr/>
        </p:nvSpPr>
        <p:spPr>
          <a:xfrm>
            <a:off x="8412480" y="2578608"/>
            <a:ext cx="3017520" cy="320040"/>
          </a:xfrm>
          <a:prstGeom prst="rect">
            <a:avLst/>
          </a:prstGeom>
          <a:noFill/>
          <a:ln/>
        </p:spPr>
        <p:txBody>
          <a:bodyPr wrap="square" lIns="0" tIns="0" rIns="0" bIns="0" rtlCol="0" anchor="ctr"/>
          <a:lstStyle/>
          <a:p>
            <a:pPr indent="0" marL="0">
              <a:buNone/>
            </a:pPr>
            <a:r>
              <a:rPr lang="en-US" sz="1500" dirty="0">
                <a:solidFill>
                  <a:schemeClr val="bg1"/>
                </a:solidFill>
              </a:rPr>
              <a:t>48 scenes · LCB 0.182</a:t>
            </a:r>
            <a:endParaRPr lang="en-US" sz="1500" dirty="0"/>
          </a:p>
        </p:txBody>
      </p:sp>
      <p:sp>
        <p:nvSpPr>
          <p:cNvPr id="21" name="Op use 1"/>
          <p:cNvSpPr txBox="1"/>
          <p:nvPr/>
        </p:nvSpPr>
        <p:spPr>
          <a:xfrm>
            <a:off x="8412480" y="2898648"/>
            <a:ext cx="3017520" cy="320040"/>
          </a:xfrm>
          <a:prstGeom prst="rect">
            <a:avLst/>
          </a:prstGeom>
          <a:noFill/>
          <a:ln/>
        </p:spPr>
        <p:txBody>
          <a:bodyPr wrap="square" lIns="0" tIns="0" rIns="0" bIns="0" rtlCol="0" anchor="ctr"/>
          <a:lstStyle/>
          <a:p>
            <a:pPr indent="0" marL="0">
              <a:buNone/>
            </a:pPr>
            <a:r>
              <a:rPr lang="en-US" sz="1500" b="1" i="1" dirty="0">
                <a:solidFill>
                  <a:schemeClr val="accent3"/>
                </a:solidFill>
              </a:rPr>
              <a:t>Screening &amp; ablations</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200" b="1" dirty="0">
                <a:solidFill>
                  <a:schemeClr val="tx1"/>
                </a:solidFill>
              </a:rPr>
              <a:t>The frontier trades scenes for reliability</a:t>
            </a:r>
            <a:endParaRPr lang="en-US" sz="3200" dirty="0"/>
          </a:p>
        </p:txBody>
      </p:sp>
      <p:graphicFrame>
        <p:nvGraphicFramePr>
          <p:cNvPr id="3" name="Frontier chart" descr="Pass rate and Wilson lower bound versus subset size, 48 to 120 scenes"/>
          <p:cNvGraphicFramePr/>
          <p:nvPr/>
        </p:nvGraphicFramePr>
        <p:xfrm>
          <a:off x="548640" y="1325880"/>
          <a:ext cx="7315200" cy="4754880"/>
        </p:xfrm>
        <a:graphic xmlns:a="http://schemas.openxmlformats.org/drawingml/2006/main">
          <a:graphicData uri="http://schemas.openxmlformats.org/drawingml/2006/chart">
            <c:chart xmlns:c="http://schemas.openxmlformats.org/drawingml/2006/chart" r:id="rId1"/>
          </a:graphicData>
        </a:graphic>
      </p:graphicFrame>
      <p:sp>
        <p:nvSpPr>
          <p:cNvPr id="4" name="X axis"/>
          <p:cNvSpPr/>
          <p:nvPr/>
        </p:nvSpPr>
        <p:spPr>
          <a:xfrm>
            <a:off x="1499616" y="5177333"/>
            <a:ext cx="5852160" cy="0"/>
          </a:xfrm>
          <a:prstGeom prst="line">
            <a:avLst/>
          </a:prstGeom>
          <a:noFill/>
          <a:ln w="12700">
            <a:solidFill>
              <a:srgbClr val="B8C2C8"/>
            </a:solidFill>
            <a:prstDash val="solid"/>
          </a:ln>
        </p:spPr>
      </p:sp>
      <p:sp>
        <p:nvSpPr>
          <p:cNvPr id="5" name="X tick 48"/>
          <p:cNvSpPr txBox="1"/>
          <p:nvPr/>
        </p:nvSpPr>
        <p:spPr>
          <a:xfrm>
            <a:off x="1551867" y="5250485"/>
            <a:ext cx="731520" cy="292608"/>
          </a:xfrm>
          <a:prstGeom prst="rect">
            <a:avLst/>
          </a:prstGeom>
          <a:noFill/>
          <a:ln/>
        </p:spPr>
        <p:txBody>
          <a:bodyPr wrap="square" lIns="0" tIns="0" rIns="0" bIns="0" rtlCol="0" anchor="ctr"/>
          <a:lstStyle/>
          <a:p>
            <a:pPr algn="ctr" indent="0" marL="0">
              <a:buNone/>
            </a:pPr>
            <a:r>
              <a:rPr lang="en-US" sz="1600" dirty="0">
                <a:solidFill>
                  <a:srgbClr val="3B4752"/>
                </a:solidFill>
              </a:rPr>
              <a:t>48</a:t>
            </a:r>
            <a:endParaRPr lang="en-US" sz="1600" dirty="0"/>
          </a:p>
        </p:txBody>
      </p:sp>
      <p:sp>
        <p:nvSpPr>
          <p:cNvPr id="6" name="X tick 60"/>
          <p:cNvSpPr txBox="1"/>
          <p:nvPr/>
        </p:nvSpPr>
        <p:spPr>
          <a:xfrm>
            <a:off x="2387890" y="5250485"/>
            <a:ext cx="731520" cy="292608"/>
          </a:xfrm>
          <a:prstGeom prst="rect">
            <a:avLst/>
          </a:prstGeom>
          <a:noFill/>
          <a:ln/>
        </p:spPr>
        <p:txBody>
          <a:bodyPr wrap="square" lIns="0" tIns="0" rIns="0" bIns="0" rtlCol="0" anchor="ctr"/>
          <a:lstStyle/>
          <a:p>
            <a:pPr algn="ctr" indent="0" marL="0">
              <a:buNone/>
            </a:pPr>
            <a:r>
              <a:rPr lang="en-US" sz="1600" dirty="0">
                <a:solidFill>
                  <a:srgbClr val="3B4752"/>
                </a:solidFill>
              </a:rPr>
              <a:t>60</a:t>
            </a:r>
            <a:endParaRPr lang="en-US" sz="1600" dirty="0"/>
          </a:p>
        </p:txBody>
      </p:sp>
      <p:sp>
        <p:nvSpPr>
          <p:cNvPr id="7" name="X tick 72"/>
          <p:cNvSpPr txBox="1"/>
          <p:nvPr/>
        </p:nvSpPr>
        <p:spPr>
          <a:xfrm>
            <a:off x="3223913" y="5250485"/>
            <a:ext cx="731520" cy="292608"/>
          </a:xfrm>
          <a:prstGeom prst="rect">
            <a:avLst/>
          </a:prstGeom>
          <a:noFill/>
          <a:ln/>
        </p:spPr>
        <p:txBody>
          <a:bodyPr wrap="square" lIns="0" tIns="0" rIns="0" bIns="0" rtlCol="0" anchor="ctr"/>
          <a:lstStyle/>
          <a:p>
            <a:pPr algn="ctr" indent="0" marL="0">
              <a:buNone/>
            </a:pPr>
            <a:r>
              <a:rPr lang="en-US" sz="1600" dirty="0">
                <a:solidFill>
                  <a:srgbClr val="3B4752"/>
                </a:solidFill>
              </a:rPr>
              <a:t>72</a:t>
            </a:r>
            <a:endParaRPr lang="en-US" sz="1600" dirty="0"/>
          </a:p>
        </p:txBody>
      </p:sp>
      <p:sp>
        <p:nvSpPr>
          <p:cNvPr id="8" name="X tick 96"/>
          <p:cNvSpPr txBox="1"/>
          <p:nvPr/>
        </p:nvSpPr>
        <p:spPr>
          <a:xfrm>
            <a:off x="4895959" y="5250485"/>
            <a:ext cx="731520" cy="292608"/>
          </a:xfrm>
          <a:prstGeom prst="rect">
            <a:avLst/>
          </a:prstGeom>
          <a:noFill/>
          <a:ln/>
        </p:spPr>
        <p:txBody>
          <a:bodyPr wrap="square" lIns="0" tIns="0" rIns="0" bIns="0" rtlCol="0" anchor="ctr"/>
          <a:lstStyle/>
          <a:p>
            <a:pPr algn="ctr" indent="0" marL="0">
              <a:buNone/>
            </a:pPr>
            <a:r>
              <a:rPr lang="en-US" sz="1600" dirty="0">
                <a:solidFill>
                  <a:srgbClr val="3B4752"/>
                </a:solidFill>
              </a:rPr>
              <a:t>96</a:t>
            </a:r>
            <a:endParaRPr lang="en-US" sz="1600" dirty="0"/>
          </a:p>
        </p:txBody>
      </p:sp>
      <p:sp>
        <p:nvSpPr>
          <p:cNvPr id="9" name="X tick 120"/>
          <p:cNvSpPr txBox="1"/>
          <p:nvPr/>
        </p:nvSpPr>
        <p:spPr>
          <a:xfrm>
            <a:off x="6568005" y="5250485"/>
            <a:ext cx="731520" cy="292608"/>
          </a:xfrm>
          <a:prstGeom prst="rect">
            <a:avLst/>
          </a:prstGeom>
          <a:noFill/>
          <a:ln/>
        </p:spPr>
        <p:txBody>
          <a:bodyPr wrap="square" lIns="0" tIns="0" rIns="0" bIns="0" rtlCol="0" anchor="ctr"/>
          <a:lstStyle/>
          <a:p>
            <a:pPr algn="ctr" indent="0" marL="0">
              <a:buNone/>
            </a:pPr>
            <a:r>
              <a:rPr lang="en-US" sz="1600" dirty="0">
                <a:solidFill>
                  <a:srgbClr val="3B4752"/>
                </a:solidFill>
              </a:rPr>
              <a:t>120</a:t>
            </a:r>
            <a:endParaRPr lang="en-US" sz="1600" dirty="0"/>
          </a:p>
        </p:txBody>
      </p:sp>
      <p:sp>
        <p:nvSpPr>
          <p:cNvPr id="10" name="X title"/>
          <p:cNvSpPr txBox="1"/>
          <p:nvPr/>
        </p:nvSpPr>
        <p:spPr>
          <a:xfrm>
            <a:off x="1499616" y="5634533"/>
            <a:ext cx="5852160" cy="320040"/>
          </a:xfrm>
          <a:prstGeom prst="rect">
            <a:avLst/>
          </a:prstGeom>
          <a:noFill/>
          <a:ln/>
        </p:spPr>
        <p:txBody>
          <a:bodyPr wrap="square" lIns="0" tIns="0" rIns="0" bIns="0" rtlCol="0" anchor="ctr"/>
          <a:lstStyle/>
          <a:p>
            <a:pPr algn="ctr" indent="0" marL="0">
              <a:buNone/>
            </a:pPr>
            <a:r>
              <a:rPr lang="en-US" sz="1600" dirty="0">
                <a:solidFill>
                  <a:srgbClr val="3B4752"/>
                </a:solidFill>
              </a:rPr>
              <a:t>Subset size (scenes, balanced generator)</a:t>
            </a:r>
            <a:endParaRPr lang="en-US" sz="1600" dirty="0"/>
          </a:p>
        </p:txBody>
      </p:sp>
      <p:sp>
        <p:nvSpPr>
          <p:cNvPr id="11" name="Label pass"/>
          <p:cNvSpPr txBox="1"/>
          <p:nvPr/>
        </p:nvSpPr>
        <p:spPr>
          <a:xfrm>
            <a:off x="7116645" y="1544879"/>
            <a:ext cx="914400" cy="310896"/>
          </a:xfrm>
          <a:prstGeom prst="rect">
            <a:avLst/>
          </a:prstGeom>
          <a:noFill/>
          <a:ln/>
        </p:spPr>
        <p:txBody>
          <a:bodyPr wrap="square" lIns="0" tIns="0" rIns="0" bIns="0" rtlCol="0" anchor="ctr"/>
          <a:lstStyle/>
          <a:p>
            <a:pPr indent="0" marL="0">
              <a:buNone/>
            </a:pPr>
            <a:r>
              <a:rPr lang="en-US" sz="1400" b="1" dirty="0">
                <a:solidFill>
                  <a:schemeClr val="accent1"/>
                </a:solidFill>
              </a:rPr>
              <a:t>Pass rate</a:t>
            </a:r>
            <a:endParaRPr lang="en-US" sz="1400" dirty="0"/>
          </a:p>
        </p:txBody>
      </p:sp>
      <p:sp>
        <p:nvSpPr>
          <p:cNvPr id="12" name="Label LCB"/>
          <p:cNvSpPr txBox="1"/>
          <p:nvPr/>
        </p:nvSpPr>
        <p:spPr>
          <a:xfrm>
            <a:off x="7116645" y="2043250"/>
            <a:ext cx="914400" cy="310896"/>
          </a:xfrm>
          <a:prstGeom prst="rect">
            <a:avLst/>
          </a:prstGeom>
          <a:noFill/>
          <a:ln/>
        </p:spPr>
        <p:txBody>
          <a:bodyPr wrap="square" lIns="0" tIns="0" rIns="0" bIns="0" rtlCol="0" anchor="ctr"/>
          <a:lstStyle/>
          <a:p>
            <a:pPr indent="0" marL="0">
              <a:buNone/>
            </a:pPr>
            <a:r>
              <a:rPr lang="en-US" sz="1400" b="1" dirty="0">
                <a:solidFill>
                  <a:schemeClr val="accent2"/>
                </a:solidFill>
              </a:rPr>
              <a:t>Wilson LCB</a:t>
            </a:r>
            <a:endParaRPr lang="en-US" sz="1400" dirty="0"/>
          </a:p>
        </p:txBody>
      </p:sp>
      <p:sp>
        <p:nvSpPr>
          <p:cNvPr id="13" name="Target line 0.08"/>
          <p:cNvSpPr/>
          <p:nvPr/>
        </p:nvSpPr>
        <p:spPr>
          <a:xfrm>
            <a:off x="1499616" y="4250131"/>
            <a:ext cx="5852160" cy="0"/>
          </a:xfrm>
          <a:prstGeom prst="line">
            <a:avLst/>
          </a:prstGeom>
          <a:noFill/>
          <a:ln w="22225">
            <a:solidFill>
              <a:schemeClr val="accent4"/>
            </a:solidFill>
            <a:prstDash val="dash"/>
          </a:ln>
        </p:spPr>
      </p:sp>
      <p:sp>
        <p:nvSpPr>
          <p:cNvPr id="14" name="Target label 0.08"/>
          <p:cNvSpPr txBox="1"/>
          <p:nvPr/>
        </p:nvSpPr>
        <p:spPr>
          <a:xfrm>
            <a:off x="5522976" y="4295851"/>
            <a:ext cx="1828800" cy="274320"/>
          </a:xfrm>
          <a:prstGeom prst="rect">
            <a:avLst/>
          </a:prstGeom>
          <a:noFill/>
          <a:ln/>
        </p:spPr>
        <p:txBody>
          <a:bodyPr wrap="square" lIns="0" tIns="0" rIns="0" bIns="0" rtlCol="0" anchor="ctr"/>
          <a:lstStyle/>
          <a:p>
            <a:pPr algn="r" indent="0" marL="0">
              <a:buNone/>
            </a:pPr>
            <a:r>
              <a:rPr lang="en-US" sz="1400" b="1" dirty="0">
                <a:solidFill>
                  <a:schemeClr val="accent4"/>
                </a:solidFill>
              </a:rPr>
              <a:t>Target </a:t>
            </a:r>
            <a:pPr algn="r" indent="0" marL="0">
              <a:buNone/>
            </a:pPr>
            <a:r>
              <a:rPr lang="en-US" sz="1400" b="1" i="1" dirty="0">
                <a:solidFill>
                  <a:schemeClr val="accent4"/>
                </a:solidFill>
              </a:rPr>
              <a:t>p</a:t>
            </a:r>
            <a:pPr algn="r" indent="0" marL="0">
              <a:buNone/>
            </a:pPr>
            <a:r>
              <a:rPr lang="en-US" sz="1400" b="1" baseline="-25000" dirty="0">
                <a:solidFill>
                  <a:schemeClr val="accent4"/>
                </a:solidFill>
              </a:rPr>
              <a:t>min</a:t>
            </a:r>
            <a:pPr algn="r" indent="0" marL="0">
              <a:buNone/>
            </a:pPr>
            <a:r>
              <a:rPr lang="en-US" sz="1400" b="1" dirty="0">
                <a:solidFill>
                  <a:schemeClr val="accent4"/>
                </a:solidFill>
              </a:rPr>
              <a:t> = 0.08</a:t>
            </a:r>
            <a:endParaRPr lang="en-US" sz="1400" dirty="0"/>
          </a:p>
        </p:txBody>
      </p:sp>
      <p:sp>
        <p:nvSpPr>
          <p:cNvPr id="15" name="Target line 0.2"/>
          <p:cNvSpPr/>
          <p:nvPr/>
        </p:nvSpPr>
        <p:spPr>
          <a:xfrm>
            <a:off x="1499616" y="2859329"/>
            <a:ext cx="5852160" cy="0"/>
          </a:xfrm>
          <a:prstGeom prst="line">
            <a:avLst/>
          </a:prstGeom>
          <a:noFill/>
          <a:ln w="22225">
            <a:solidFill>
              <a:schemeClr val="tx1"/>
            </a:solidFill>
            <a:prstDash val="dash"/>
          </a:ln>
        </p:spPr>
      </p:sp>
      <p:sp>
        <p:nvSpPr>
          <p:cNvPr id="16" name="Target label 0.2"/>
          <p:cNvSpPr txBox="1"/>
          <p:nvPr/>
        </p:nvSpPr>
        <p:spPr>
          <a:xfrm>
            <a:off x="5522976" y="2905049"/>
            <a:ext cx="1828800" cy="274320"/>
          </a:xfrm>
          <a:prstGeom prst="rect">
            <a:avLst/>
          </a:prstGeom>
          <a:noFill/>
          <a:ln/>
        </p:spPr>
        <p:txBody>
          <a:bodyPr wrap="square" lIns="0" tIns="0" rIns="0" bIns="0" rtlCol="0" anchor="ctr"/>
          <a:lstStyle/>
          <a:p>
            <a:pPr algn="r" indent="0" marL="0">
              <a:buNone/>
            </a:pPr>
            <a:r>
              <a:rPr lang="en-US" sz="1400" b="1" dirty="0">
                <a:solidFill>
                  <a:schemeClr val="tx1"/>
                </a:solidFill>
              </a:rPr>
              <a:t>Target </a:t>
            </a:r>
            <a:pPr algn="r" indent="0" marL="0">
              <a:buNone/>
            </a:pPr>
            <a:r>
              <a:rPr lang="en-US" sz="1400" b="1" i="1" dirty="0">
                <a:solidFill>
                  <a:schemeClr val="tx1"/>
                </a:solidFill>
              </a:rPr>
              <a:t>p</a:t>
            </a:r>
            <a:pPr algn="r" indent="0" marL="0">
              <a:buNone/>
            </a:pPr>
            <a:r>
              <a:rPr lang="en-US" sz="1400" b="1" baseline="-25000" dirty="0">
                <a:solidFill>
                  <a:schemeClr val="tx1"/>
                </a:solidFill>
              </a:rPr>
              <a:t>min</a:t>
            </a:r>
            <a:pPr algn="r" indent="0" marL="0">
              <a:buNone/>
            </a:pPr>
            <a:r>
              <a:rPr lang="en-US" sz="1400" b="1" dirty="0">
                <a:solidFill>
                  <a:schemeClr val="tx1"/>
                </a:solidFill>
              </a:rPr>
              <a:t> = 0.20</a:t>
            </a:r>
            <a:endParaRPr lang="en-US" sz="1400" dirty="0"/>
          </a:p>
        </p:txBody>
      </p:sp>
      <p:sp>
        <p:nvSpPr>
          <p:cNvPr id="17" name="Ring 96"/>
          <p:cNvSpPr/>
          <p:nvPr/>
        </p:nvSpPr>
        <p:spPr>
          <a:xfrm>
            <a:off x="5042263" y="2164682"/>
            <a:ext cx="438912" cy="438912"/>
          </a:xfrm>
          <a:prstGeom prst="ellipse">
            <a:avLst/>
          </a:prstGeom>
          <a:ln w="31750">
            <a:solidFill>
              <a:schemeClr val="accent2"/>
            </a:solidFill>
            <a:prstDash val="solid"/>
          </a:ln>
        </p:spPr>
      </p:sp>
      <p:sp>
        <p:nvSpPr>
          <p:cNvPr id="18" name="Ring label 96"/>
          <p:cNvSpPr txBox="1"/>
          <p:nvPr/>
        </p:nvSpPr>
        <p:spPr>
          <a:xfrm>
            <a:off x="5627479" y="2457290"/>
            <a:ext cx="2560320" cy="292608"/>
          </a:xfrm>
          <a:prstGeom prst="rect">
            <a:avLst/>
          </a:prstGeom>
          <a:noFill/>
          <a:ln/>
        </p:spPr>
        <p:txBody>
          <a:bodyPr wrap="square" lIns="0" tIns="0" rIns="0" bIns="0" rtlCol="0" anchor="ctr"/>
          <a:lstStyle/>
          <a:p>
            <a:pPr indent="0" marL="0">
              <a:buNone/>
            </a:pPr>
            <a:r>
              <a:rPr lang="en-US" sz="1400" b="1" dirty="0">
                <a:solidFill>
                  <a:schemeClr val="accent2"/>
                </a:solidFill>
              </a:rPr>
              <a:t>First LCB ≥ 0.20</a:t>
            </a:r>
            <a:endParaRPr lang="en-US" sz="1400" dirty="0"/>
          </a:p>
        </p:txBody>
      </p:sp>
      <p:sp>
        <p:nvSpPr>
          <p:cNvPr id="19" name="Operating point 1"/>
          <p:cNvSpPr/>
          <p:nvPr/>
        </p:nvSpPr>
        <p:spPr>
          <a:xfrm>
            <a:off x="8138160" y="1417320"/>
            <a:ext cx="3502152" cy="2057400"/>
          </a:xfrm>
          <a:prstGeom prst="roundRect">
            <a:avLst>
              <a:gd name="adj" fmla="val 5333"/>
            </a:avLst>
          </a:prstGeom>
          <a:solidFill>
            <a:schemeClr val="bg2"/>
          </a:solidFill>
          <a:ln/>
        </p:spPr>
      </p:sp>
      <p:sp>
        <p:nvSpPr>
          <p:cNvPr id="20" name="Op target 1"/>
          <p:cNvSpPr txBox="1"/>
          <p:nvPr/>
        </p:nvSpPr>
        <p:spPr>
          <a:xfrm>
            <a:off x="8412480" y="1618488"/>
            <a:ext cx="3017520" cy="320040"/>
          </a:xfrm>
          <a:prstGeom prst="rect">
            <a:avLst/>
          </a:prstGeom>
          <a:noFill/>
          <a:ln/>
        </p:spPr>
        <p:txBody>
          <a:bodyPr wrap="square" lIns="0" tIns="0" rIns="0" bIns="0" rtlCol="0" anchor="ctr"/>
          <a:lstStyle/>
          <a:p>
            <a:pPr indent="0" marL="0">
              <a:buNone/>
            </a:pPr>
            <a:r>
              <a:rPr lang="en-US" sz="1400" dirty="0">
                <a:solidFill>
                  <a:schemeClr val="accent4"/>
                </a:solidFill>
              </a:rPr>
              <a:t>Target </a:t>
            </a:r>
            <a:pPr indent="0" marL="0">
              <a:buNone/>
            </a:pPr>
            <a:r>
              <a:rPr lang="en-US" sz="1400" i="1" dirty="0">
                <a:solidFill>
                  <a:schemeClr val="accent4"/>
                </a:solidFill>
              </a:rPr>
              <a:t>p</a:t>
            </a:r>
            <a:pPr indent="0" marL="0">
              <a:buNone/>
            </a:pPr>
            <a:r>
              <a:rPr lang="en-US" sz="1400" baseline="-25000" dirty="0">
                <a:solidFill>
                  <a:schemeClr val="accent4"/>
                </a:solidFill>
              </a:rPr>
              <a:t>min</a:t>
            </a:r>
            <a:pPr indent="0" marL="0">
              <a:buNone/>
            </a:pPr>
            <a:r>
              <a:rPr lang="en-US" sz="1400" dirty="0">
                <a:solidFill>
                  <a:schemeClr val="accent4"/>
                </a:solidFill>
              </a:rPr>
              <a:t> = 0.08</a:t>
            </a:r>
            <a:endParaRPr lang="en-US" sz="1400" dirty="0"/>
          </a:p>
        </p:txBody>
      </p:sp>
      <p:sp>
        <p:nvSpPr>
          <p:cNvPr id="21" name="Op name 1"/>
          <p:cNvSpPr txBox="1"/>
          <p:nvPr/>
        </p:nvSpPr>
        <p:spPr>
          <a:xfrm>
            <a:off x="8412480" y="1938528"/>
            <a:ext cx="3017520" cy="640080"/>
          </a:xfrm>
          <a:prstGeom prst="rect">
            <a:avLst/>
          </a:prstGeom>
          <a:noFill/>
          <a:ln/>
        </p:spPr>
        <p:txBody>
          <a:bodyPr wrap="square" lIns="0" tIns="0" rIns="0" bIns="0" rtlCol="0" anchor="ctr"/>
          <a:lstStyle/>
          <a:p>
            <a:pPr indent="0" marL="0">
              <a:buNone/>
            </a:pPr>
            <a:r>
              <a:rPr lang="en-US" sz="3600" b="1" dirty="0">
                <a:solidFill>
                  <a:schemeClr val="accent4"/>
                </a:solidFill>
              </a:rPr>
              <a:t>RASS-48</a:t>
            </a:r>
            <a:endParaRPr lang="en-US" sz="3600" dirty="0"/>
          </a:p>
        </p:txBody>
      </p:sp>
      <p:sp>
        <p:nvSpPr>
          <p:cNvPr id="22" name="Op stat 1"/>
          <p:cNvSpPr txBox="1"/>
          <p:nvPr/>
        </p:nvSpPr>
        <p:spPr>
          <a:xfrm>
            <a:off x="8412480" y="2578608"/>
            <a:ext cx="3017520" cy="320040"/>
          </a:xfrm>
          <a:prstGeom prst="rect">
            <a:avLst/>
          </a:prstGeom>
          <a:noFill/>
          <a:ln/>
        </p:spPr>
        <p:txBody>
          <a:bodyPr wrap="square" lIns="0" tIns="0" rIns="0" bIns="0" rtlCol="0" anchor="ctr"/>
          <a:lstStyle/>
          <a:p>
            <a:pPr indent="0" marL="0">
              <a:buNone/>
            </a:pPr>
            <a:r>
              <a:rPr lang="en-US" sz="1500" dirty="0">
                <a:solidFill>
                  <a:schemeClr val="accent4"/>
                </a:solidFill>
              </a:rPr>
              <a:t>48 scenes · LCB 0.182</a:t>
            </a:r>
            <a:endParaRPr lang="en-US" sz="1500" dirty="0"/>
          </a:p>
        </p:txBody>
      </p:sp>
      <p:sp>
        <p:nvSpPr>
          <p:cNvPr id="23" name="Op use 1"/>
          <p:cNvSpPr txBox="1"/>
          <p:nvPr/>
        </p:nvSpPr>
        <p:spPr>
          <a:xfrm>
            <a:off x="8412480" y="2898648"/>
            <a:ext cx="3017520" cy="320040"/>
          </a:xfrm>
          <a:prstGeom prst="rect">
            <a:avLst/>
          </a:prstGeom>
          <a:noFill/>
          <a:ln/>
        </p:spPr>
        <p:txBody>
          <a:bodyPr wrap="square" lIns="0" tIns="0" rIns="0" bIns="0" rtlCol="0" anchor="ctr"/>
          <a:lstStyle/>
          <a:p>
            <a:pPr indent="0" marL="0">
              <a:buNone/>
            </a:pPr>
            <a:r>
              <a:rPr lang="en-US" sz="1500" b="1" i="1" dirty="0">
                <a:solidFill>
                  <a:schemeClr val="accent4"/>
                </a:solidFill>
              </a:rPr>
              <a:t>Screening &amp; ablations</a:t>
            </a:r>
            <a:endParaRPr lang="en-US" sz="1500" dirty="0"/>
          </a:p>
        </p:txBody>
      </p:sp>
      <p:sp>
        <p:nvSpPr>
          <p:cNvPr id="24" name="Operating point 2"/>
          <p:cNvSpPr/>
          <p:nvPr/>
        </p:nvSpPr>
        <p:spPr>
          <a:xfrm>
            <a:off x="8138160" y="3703320"/>
            <a:ext cx="3502152" cy="2057400"/>
          </a:xfrm>
          <a:prstGeom prst="roundRect">
            <a:avLst>
              <a:gd name="adj" fmla="val 5333"/>
            </a:avLst>
          </a:prstGeom>
          <a:solidFill>
            <a:schemeClr val="tx2"/>
          </a:solidFill>
          <a:ln/>
        </p:spPr>
      </p:sp>
      <p:sp>
        <p:nvSpPr>
          <p:cNvPr id="25" name="Op target 2"/>
          <p:cNvSpPr txBox="1"/>
          <p:nvPr/>
        </p:nvSpPr>
        <p:spPr>
          <a:xfrm>
            <a:off x="8412480" y="3904488"/>
            <a:ext cx="3017520" cy="320040"/>
          </a:xfrm>
          <a:prstGeom prst="rect">
            <a:avLst/>
          </a:prstGeom>
          <a:noFill/>
          <a:ln/>
        </p:spPr>
        <p:txBody>
          <a:bodyPr wrap="square" lIns="0" tIns="0" rIns="0" bIns="0" rtlCol="0" anchor="ctr"/>
          <a:lstStyle/>
          <a:p>
            <a:pPr indent="0" marL="0">
              <a:buNone/>
            </a:pPr>
            <a:r>
              <a:rPr lang="en-US" sz="1400" dirty="0">
                <a:solidFill>
                  <a:schemeClr val="accent5"/>
                </a:solidFill>
              </a:rPr>
              <a:t>Target </a:t>
            </a:r>
            <a:pPr indent="0" marL="0">
              <a:buNone/>
            </a:pPr>
            <a:r>
              <a:rPr lang="en-US" sz="1400" i="1" dirty="0">
                <a:solidFill>
                  <a:schemeClr val="accent5"/>
                </a:solidFill>
              </a:rPr>
              <a:t>p</a:t>
            </a:r>
            <a:pPr indent="0" marL="0">
              <a:buNone/>
            </a:pPr>
            <a:r>
              <a:rPr lang="en-US" sz="1400" baseline="-25000" dirty="0">
                <a:solidFill>
                  <a:schemeClr val="accent5"/>
                </a:solidFill>
              </a:rPr>
              <a:t>min</a:t>
            </a:r>
            <a:pPr indent="0" marL="0">
              <a:buNone/>
            </a:pPr>
            <a:r>
              <a:rPr lang="en-US" sz="1400" dirty="0">
                <a:solidFill>
                  <a:schemeClr val="accent5"/>
                </a:solidFill>
              </a:rPr>
              <a:t> = 0.20</a:t>
            </a:r>
            <a:endParaRPr lang="en-US" sz="1400" dirty="0"/>
          </a:p>
        </p:txBody>
      </p:sp>
      <p:sp>
        <p:nvSpPr>
          <p:cNvPr id="26" name="Op name 2"/>
          <p:cNvSpPr txBox="1"/>
          <p:nvPr/>
        </p:nvSpPr>
        <p:spPr>
          <a:xfrm>
            <a:off x="8412480" y="4224528"/>
            <a:ext cx="3017520" cy="640080"/>
          </a:xfrm>
          <a:prstGeom prst="rect">
            <a:avLst/>
          </a:prstGeom>
          <a:noFill/>
          <a:ln/>
        </p:spPr>
        <p:txBody>
          <a:bodyPr wrap="square" lIns="0" tIns="0" rIns="0" bIns="0" rtlCol="0" anchor="ctr"/>
          <a:lstStyle/>
          <a:p>
            <a:pPr indent="0" marL="0">
              <a:buNone/>
            </a:pPr>
            <a:r>
              <a:rPr lang="en-US" sz="3600" b="1" dirty="0">
                <a:solidFill>
                  <a:schemeClr val="bg1"/>
                </a:solidFill>
              </a:rPr>
              <a:t>RASS-96</a:t>
            </a:r>
            <a:endParaRPr lang="en-US" sz="3600" dirty="0"/>
          </a:p>
        </p:txBody>
      </p:sp>
      <p:sp>
        <p:nvSpPr>
          <p:cNvPr id="27" name="Op stat 2"/>
          <p:cNvSpPr txBox="1"/>
          <p:nvPr/>
        </p:nvSpPr>
        <p:spPr>
          <a:xfrm>
            <a:off x="8412480" y="4864608"/>
            <a:ext cx="3017520" cy="320040"/>
          </a:xfrm>
          <a:prstGeom prst="rect">
            <a:avLst/>
          </a:prstGeom>
          <a:noFill/>
          <a:ln/>
        </p:spPr>
        <p:txBody>
          <a:bodyPr wrap="square" lIns="0" tIns="0" rIns="0" bIns="0" rtlCol="0" anchor="ctr"/>
          <a:lstStyle/>
          <a:p>
            <a:pPr indent="0" marL="0">
              <a:buNone/>
            </a:pPr>
            <a:r>
              <a:rPr lang="en-US" sz="1500" dirty="0">
                <a:solidFill>
                  <a:schemeClr val="bg1"/>
                </a:solidFill>
              </a:rPr>
              <a:t>96 scenes · LCB 0.241</a:t>
            </a:r>
            <a:endParaRPr lang="en-US" sz="1500" dirty="0"/>
          </a:p>
        </p:txBody>
      </p:sp>
      <p:sp>
        <p:nvSpPr>
          <p:cNvPr id="28" name="Op use 2"/>
          <p:cNvSpPr txBox="1"/>
          <p:nvPr/>
        </p:nvSpPr>
        <p:spPr>
          <a:xfrm>
            <a:off x="8412480" y="5184648"/>
            <a:ext cx="3017520" cy="320040"/>
          </a:xfrm>
          <a:prstGeom prst="rect">
            <a:avLst/>
          </a:prstGeom>
          <a:noFill/>
          <a:ln/>
        </p:spPr>
        <p:txBody>
          <a:bodyPr wrap="square" lIns="0" tIns="0" rIns="0" bIns="0" rtlCol="0" anchor="ctr"/>
          <a:lstStyle/>
          <a:p>
            <a:pPr indent="0" marL="0">
              <a:buNone/>
            </a:pPr>
            <a:r>
              <a:rPr lang="en-US" sz="1500" b="1" i="1" dirty="0">
                <a:solidFill>
                  <a:schemeClr val="accent3"/>
                </a:solidFill>
              </a:rPr>
              <a:t>Compact reporting</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200" b="1" dirty="0">
                <a:solidFill>
                  <a:schemeClr val="tx1"/>
                </a:solidFill>
              </a:rPr>
              <a:t>RASS-48 passes the global audit with 73× fewer scenes</a:t>
            </a:r>
            <a:endParaRPr lang="en-US" sz="3200" dirty="0"/>
          </a:p>
        </p:txBody>
      </p:sp>
      <p:sp>
        <p:nvSpPr>
          <p:cNvPr id="3" name="Margin header"/>
          <p:cNvSpPr txBox="1"/>
          <p:nvPr/>
        </p:nvSpPr>
        <p:spPr>
          <a:xfrm>
            <a:off x="548640" y="1371600"/>
            <a:ext cx="7315200" cy="365760"/>
          </a:xfrm>
          <a:prstGeom prst="rect">
            <a:avLst/>
          </a:prstGeom>
          <a:noFill/>
          <a:ln/>
        </p:spPr>
        <p:txBody>
          <a:bodyPr wrap="square" lIns="0" tIns="0" rIns="0" bIns="0" rtlCol="0" anchor="ctr"/>
          <a:lstStyle/>
          <a:p>
            <a:pPr indent="0" marL="0">
              <a:buNone/>
            </a:pPr>
            <a:r>
              <a:rPr lang="en-US" sz="1800" b="1" dirty="0">
                <a:solidFill>
                  <a:schemeClr val="tx1"/>
                </a:solidFill>
              </a:rPr>
              <a:t>Share of each tolerance that RASS-48 uses</a:t>
            </a:r>
            <a:endParaRPr lang="en-US" sz="1800" dirty="0"/>
          </a:p>
        </p:txBody>
      </p:sp>
      <p:graphicFrame>
        <p:nvGraphicFramePr>
          <p:cNvPr id="4" name="Margin chart" descr="Bar chart: all six constraints use less than 100% of their tolerance; largest is LPIPS KS at 80%"/>
          <p:cNvGraphicFramePr/>
          <p:nvPr/>
        </p:nvGraphicFramePr>
        <p:xfrm>
          <a:off x="548640" y="1828800"/>
          <a:ext cx="7315200" cy="4023360"/>
        </p:xfrm>
        <a:graphic xmlns:a="http://schemas.openxmlformats.org/drawingml/2006/main">
          <a:graphicData uri="http://schemas.openxmlformats.org/drawingml/2006/chart">
            <c:chart xmlns:c="http://schemas.openxmlformats.org/drawingml/2006/chart" r:id="rId1"/>
          </a:graphicData>
        </a:graphic>
      </p:graphicFrame>
      <p:sp>
        <p:nvSpPr>
          <p:cNvPr id="5" name="Limit line"/>
          <p:cNvSpPr/>
          <p:nvPr/>
        </p:nvSpPr>
        <p:spPr>
          <a:xfrm>
            <a:off x="6912864" y="1909267"/>
            <a:ext cx="0" cy="3862426"/>
          </a:xfrm>
          <a:prstGeom prst="line">
            <a:avLst/>
          </a:prstGeom>
          <a:noFill/>
          <a:ln w="25400">
            <a:solidFill>
              <a:schemeClr val="accent2"/>
            </a:solidFill>
            <a:prstDash val="dash"/>
          </a:ln>
        </p:spPr>
      </p:sp>
      <p:sp>
        <p:nvSpPr>
          <p:cNvPr id="6" name="Limit label"/>
          <p:cNvSpPr txBox="1"/>
          <p:nvPr/>
        </p:nvSpPr>
        <p:spPr>
          <a:xfrm>
            <a:off x="7004304" y="1874520"/>
            <a:ext cx="731520" cy="274320"/>
          </a:xfrm>
          <a:prstGeom prst="rect">
            <a:avLst/>
          </a:prstGeom>
          <a:noFill/>
          <a:ln/>
        </p:spPr>
        <p:txBody>
          <a:bodyPr wrap="square" lIns="0" tIns="0" rIns="0" bIns="0" rtlCol="0" anchor="ctr"/>
          <a:lstStyle/>
          <a:p>
            <a:pPr indent="0" marL="0">
              <a:buNone/>
            </a:pPr>
            <a:r>
              <a:rPr lang="en-US" sz="1400" b="1" dirty="0">
                <a:solidFill>
                  <a:schemeClr val="accent2"/>
                </a:solidFill>
              </a:rPr>
              <a:t>Limit</a:t>
            </a:r>
            <a:endParaRPr lang="en-US" sz="1400" dirty="0"/>
          </a:p>
        </p:txBody>
      </p:sp>
      <p:sp>
        <p:nvSpPr>
          <p:cNvPr id="7" name="Stat 73x"/>
          <p:cNvSpPr txBox="1"/>
          <p:nvPr/>
        </p:nvSpPr>
        <p:spPr>
          <a:xfrm>
            <a:off x="8321040" y="1600200"/>
            <a:ext cx="3319272" cy="1143000"/>
          </a:xfrm>
          <a:prstGeom prst="rect">
            <a:avLst/>
          </a:prstGeom>
          <a:noFill/>
          <a:ln/>
        </p:spPr>
        <p:txBody>
          <a:bodyPr wrap="square" lIns="0" tIns="0" rIns="0" bIns="0" rtlCol="0" anchor="ctr"/>
          <a:lstStyle/>
          <a:p>
            <a:pPr indent="0" marL="0">
              <a:buNone/>
            </a:pPr>
            <a:r>
              <a:rPr lang="en-US" sz="8000" b="1" dirty="0">
                <a:solidFill>
                  <a:schemeClr val="accent1"/>
                </a:solidFill>
              </a:rPr>
              <a:t>73×</a:t>
            </a:r>
            <a:endParaRPr lang="en-US" sz="8000" dirty="0"/>
          </a:p>
        </p:txBody>
      </p:sp>
      <p:sp>
        <p:nvSpPr>
          <p:cNvPr id="8" name="Stat 73x label"/>
          <p:cNvSpPr txBox="1"/>
          <p:nvPr/>
        </p:nvSpPr>
        <p:spPr>
          <a:xfrm>
            <a:off x="8321040" y="2788920"/>
            <a:ext cx="3319272" cy="411480"/>
          </a:xfrm>
          <a:prstGeom prst="rect">
            <a:avLst/>
          </a:prstGeom>
          <a:noFill/>
          <a:ln/>
        </p:spPr>
        <p:txBody>
          <a:bodyPr wrap="square" lIns="0" tIns="0" rIns="0" bIns="0" rtlCol="0" anchor="ctr"/>
          <a:lstStyle/>
          <a:p>
            <a:pPr indent="0" marL="0">
              <a:buNone/>
            </a:pPr>
            <a:r>
              <a:rPr lang="en-US" sz="2000" b="1" dirty="0">
                <a:solidFill>
                  <a:schemeClr val="tx1"/>
                </a:solidFill>
              </a:rPr>
              <a:t>fewer scenes: 3,521 → 48</a:t>
            </a:r>
            <a:endParaRPr lang="en-US" sz="2000" dirty="0"/>
          </a:p>
        </p:txBody>
      </p:sp>
      <p:sp>
        <p:nvSpPr>
          <p:cNvPr id="9" name="Regime note"/>
          <p:cNvSpPr txBox="1"/>
          <p:nvPr/>
        </p:nvSpPr>
        <p:spPr>
          <a:xfrm>
            <a:off x="8321040" y="3291840"/>
            <a:ext cx="3108960" cy="640080"/>
          </a:xfrm>
          <a:prstGeom prst="rect">
            <a:avLst/>
          </a:prstGeom>
          <a:noFill/>
          <a:ln/>
        </p:spPr>
        <p:txBody>
          <a:bodyPr wrap="square" lIns="0" tIns="0" rIns="0" bIns="0" rtlCol="0" anchor="t"/>
          <a:lstStyle/>
          <a:p>
            <a:pPr indent="0" marL="0">
              <a:buNone/>
            </a:pPr>
            <a:r>
              <a:rPr lang="en-US" sz="1600" dirty="0">
                <a:solidFill>
                  <a:schemeClr val="accent4"/>
                </a:solidFill>
              </a:rPr>
              <a:t>8 scenes from each of the 6 descriptor regimes</a:t>
            </a:r>
            <a:endParaRPr lang="en-US" sz="1600" dirty="0"/>
          </a:p>
        </p:txBody>
      </p:sp>
      <p:sp>
        <p:nvSpPr>
          <p:cNvPr id="10" name="Pass card"/>
          <p:cNvSpPr/>
          <p:nvPr/>
        </p:nvSpPr>
        <p:spPr>
          <a:xfrm>
            <a:off x="8321040" y="4251960"/>
            <a:ext cx="3319272" cy="685800"/>
          </a:xfrm>
          <a:prstGeom prst="roundRect">
            <a:avLst>
              <a:gd name="adj" fmla="val 16000"/>
            </a:avLst>
          </a:prstGeom>
          <a:solidFill>
            <a:schemeClr val="bg2"/>
          </a:solidFill>
          <a:ln/>
        </p:spPr>
      </p:sp>
      <p:pic>
        <p:nvPicPr>
          <p:cNvPr id="11" name="Image 0" descr="Joint pass">    </p:cNvPr>
          <p:cNvPicPr>
            <a:picLocks noChangeAspect="1"/>
          </p:cNvPicPr>
          <p:nvPr/>
        </p:nvPicPr>
        <p:blipFill>
          <a:blip r:embed="rId2"/>
          <a:stretch>
            <a:fillRect/>
          </a:stretch>
        </p:blipFill>
        <p:spPr>
          <a:xfrm>
            <a:off x="8503920" y="4407408"/>
            <a:ext cx="365760" cy="365760"/>
          </a:xfrm>
          <a:prstGeom prst="rect">
            <a:avLst/>
          </a:prstGeom>
        </p:spPr>
      </p:pic>
      <p:sp>
        <p:nvSpPr>
          <p:cNvPr id="12" name="Pass label"/>
          <p:cNvSpPr txBox="1"/>
          <p:nvPr/>
        </p:nvSpPr>
        <p:spPr>
          <a:xfrm>
            <a:off x="9006840" y="4251960"/>
            <a:ext cx="2560320" cy="685800"/>
          </a:xfrm>
          <a:prstGeom prst="rect">
            <a:avLst/>
          </a:prstGeom>
          <a:noFill/>
          <a:ln/>
        </p:spPr>
        <p:txBody>
          <a:bodyPr wrap="square" lIns="0" tIns="0" rIns="0" bIns="0" rtlCol="0" anchor="ctr"/>
          <a:lstStyle/>
          <a:p>
            <a:pPr indent="0" marL="0">
              <a:buNone/>
            </a:pPr>
            <a:r>
              <a:rPr lang="en-US" sz="1800" b="1" dirty="0">
                <a:solidFill>
                  <a:schemeClr val="accent1"/>
                </a:solidFill>
              </a:rPr>
              <a:t>Joint pass, all six</a:t>
            </a:r>
            <a:endParaRPr lang="en-US" sz="1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200" b="1" dirty="0">
                <a:solidFill>
                  <a:schemeClr val="tx1"/>
                </a:solidFill>
              </a:rPr>
              <a:t>One audit covers more methods, generators, and datasets</a:t>
            </a:r>
            <a:endParaRPr lang="en-US" sz="3200" dirty="0"/>
          </a:p>
        </p:txBody>
      </p:sp>
      <p:sp>
        <p:nvSpPr>
          <p:cNvPr id="3" name="Ext card 1"/>
          <p:cNvSpPr/>
          <p:nvPr/>
        </p:nvSpPr>
        <p:spPr>
          <a:xfrm>
            <a:off x="548640" y="1417320"/>
            <a:ext cx="3511296" cy="4572000"/>
          </a:xfrm>
          <a:prstGeom prst="roundRect">
            <a:avLst>
              <a:gd name="adj" fmla="val 3125"/>
            </a:avLst>
          </a:prstGeom>
          <a:solidFill>
            <a:schemeClr val="bg2"/>
          </a:solidFill>
          <a:ln/>
        </p:spPr>
      </p:sp>
      <p:sp>
        <p:nvSpPr>
          <p:cNvPr id="4" name="Ext icon bg 1"/>
          <p:cNvSpPr/>
          <p:nvPr/>
        </p:nvSpPr>
        <p:spPr>
          <a:xfrm>
            <a:off x="822960" y="1645920"/>
            <a:ext cx="548640" cy="548640"/>
          </a:xfrm>
          <a:prstGeom prst="ellipse">
            <a:avLst/>
          </a:prstGeom>
          <a:solidFill>
            <a:schemeClr val="accent1"/>
          </a:solidFill>
          <a:ln/>
        </p:spPr>
      </p:sp>
      <p:pic>
        <p:nvPicPr>
          <p:cNvPr id="5" name="Image 0" descr="RASS-96 passes the 3- and 4-method audits">    </p:cNvPr>
          <p:cNvPicPr>
            <a:picLocks noChangeAspect="1"/>
          </p:cNvPicPr>
          <p:nvPr/>
        </p:nvPicPr>
        <p:blipFill>
          <a:blip r:embed="rId1"/>
          <a:stretch>
            <a:fillRect/>
          </a:stretch>
        </p:blipFill>
        <p:spPr>
          <a:xfrm>
            <a:off x="960120" y="1783080"/>
            <a:ext cx="274320" cy="274320"/>
          </a:xfrm>
          <a:prstGeom prst="rect">
            <a:avLst/>
          </a:prstGeom>
        </p:spPr>
      </p:pic>
      <p:sp>
        <p:nvSpPr>
          <p:cNvPr id="6" name="Ext head 1"/>
          <p:cNvSpPr txBox="1"/>
          <p:nvPr/>
        </p:nvSpPr>
        <p:spPr>
          <a:xfrm>
            <a:off x="1508760" y="1572768"/>
            <a:ext cx="2377440" cy="694944"/>
          </a:xfrm>
          <a:prstGeom prst="rect">
            <a:avLst/>
          </a:prstGeom>
          <a:noFill/>
          <a:ln/>
        </p:spPr>
        <p:txBody>
          <a:bodyPr wrap="square" lIns="0" tIns="0" rIns="0" bIns="0" rtlCol="0" anchor="ctr"/>
          <a:lstStyle/>
          <a:p>
            <a:pPr indent="0" marL="0">
              <a:buNone/>
            </a:pPr>
            <a:r>
              <a:rPr lang="en-US" sz="1600" b="1" dirty="0">
                <a:solidFill>
                  <a:schemeClr val="tx1"/>
                </a:solidFill>
              </a:rPr>
              <a:t>RASS-96 passes the</a:t>
            </a:r>
            <a:endParaRPr lang="en-US" sz="1600" dirty="0"/>
          </a:p>
          <a:p>
            <a:pPr indent="0" marL="0">
              <a:buNone/>
            </a:pPr>
            <a:r>
              <a:rPr lang="en-US" sz="1600" b="1" dirty="0">
                <a:solidFill>
                  <a:schemeClr val="tx1"/>
                </a:solidFill>
              </a:rPr>
              <a:t>3- and 4-method audits</a:t>
            </a:r>
            <a:endParaRPr lang="en-US" sz="1600" dirty="0"/>
          </a:p>
        </p:txBody>
      </p:sp>
      <p:sp>
        <p:nvSpPr>
          <p:cNvPr id="7" name="Ext card 2"/>
          <p:cNvSpPr/>
          <p:nvPr/>
        </p:nvSpPr>
        <p:spPr>
          <a:xfrm>
            <a:off x="4338828" y="1417320"/>
            <a:ext cx="3511296" cy="4572000"/>
          </a:xfrm>
          <a:prstGeom prst="roundRect">
            <a:avLst>
              <a:gd name="adj" fmla="val 3125"/>
            </a:avLst>
          </a:prstGeom>
          <a:solidFill>
            <a:schemeClr val="bg2"/>
          </a:solidFill>
          <a:ln/>
        </p:spPr>
      </p:sp>
      <p:sp>
        <p:nvSpPr>
          <p:cNvPr id="8" name="Ext icon bg 2"/>
          <p:cNvSpPr/>
          <p:nvPr/>
        </p:nvSpPr>
        <p:spPr>
          <a:xfrm>
            <a:off x="4613148" y="1645920"/>
            <a:ext cx="548640" cy="548640"/>
          </a:xfrm>
          <a:prstGeom prst="ellipse">
            <a:avLst/>
          </a:prstGeom>
          <a:solidFill>
            <a:schemeClr val="accent1"/>
          </a:solidFill>
          <a:ln/>
        </p:spPr>
      </p:sp>
      <p:pic>
        <p:nvPicPr>
          <p:cNvPr id="9" name="Image 1" descr="Any candidate generator plugs in">    </p:cNvPr>
          <p:cNvPicPr>
            <a:picLocks noChangeAspect="1"/>
          </p:cNvPicPr>
          <p:nvPr/>
        </p:nvPicPr>
        <p:blipFill>
          <a:blip r:embed="rId2"/>
          <a:stretch>
            <a:fillRect/>
          </a:stretch>
        </p:blipFill>
        <p:spPr>
          <a:xfrm>
            <a:off x="4750308" y="1783080"/>
            <a:ext cx="274320" cy="274320"/>
          </a:xfrm>
          <a:prstGeom prst="rect">
            <a:avLst/>
          </a:prstGeom>
        </p:spPr>
      </p:pic>
      <p:sp>
        <p:nvSpPr>
          <p:cNvPr id="10" name="Ext head 2"/>
          <p:cNvSpPr txBox="1"/>
          <p:nvPr/>
        </p:nvSpPr>
        <p:spPr>
          <a:xfrm>
            <a:off x="5298948" y="1572768"/>
            <a:ext cx="2377440" cy="694944"/>
          </a:xfrm>
          <a:prstGeom prst="rect">
            <a:avLst/>
          </a:prstGeom>
          <a:noFill/>
          <a:ln/>
        </p:spPr>
        <p:txBody>
          <a:bodyPr wrap="square" lIns="0" tIns="0" rIns="0" bIns="0" rtlCol="0" anchor="ctr"/>
          <a:lstStyle/>
          <a:p>
            <a:pPr indent="0" marL="0">
              <a:buNone/>
            </a:pPr>
            <a:r>
              <a:rPr lang="en-US" sz="1600" b="1" dirty="0">
                <a:solidFill>
                  <a:schemeClr val="tx1"/>
                </a:solidFill>
              </a:rPr>
              <a:t>Any candidate</a:t>
            </a:r>
            <a:endParaRPr lang="en-US" sz="1600" dirty="0"/>
          </a:p>
          <a:p>
            <a:pPr indent="0" marL="0">
              <a:buNone/>
            </a:pPr>
            <a:r>
              <a:rPr lang="en-US" sz="1600" b="1" dirty="0">
                <a:solidFill>
                  <a:schemeClr val="tx1"/>
                </a:solidFill>
              </a:rPr>
              <a:t>generator plugs in</a:t>
            </a:r>
            <a:endParaRPr lang="en-US" sz="1600" dirty="0"/>
          </a:p>
        </p:txBody>
      </p:sp>
      <p:sp>
        <p:nvSpPr>
          <p:cNvPr id="11" name="Ext card 3"/>
          <p:cNvSpPr/>
          <p:nvPr/>
        </p:nvSpPr>
        <p:spPr>
          <a:xfrm>
            <a:off x="8129016" y="1417320"/>
            <a:ext cx="3511296" cy="4572000"/>
          </a:xfrm>
          <a:prstGeom prst="roundRect">
            <a:avLst>
              <a:gd name="adj" fmla="val 3125"/>
            </a:avLst>
          </a:prstGeom>
          <a:solidFill>
            <a:schemeClr val="bg2"/>
          </a:solidFill>
          <a:ln/>
        </p:spPr>
      </p:sp>
      <p:sp>
        <p:nvSpPr>
          <p:cNvPr id="12" name="Ext icon bg 3"/>
          <p:cNvSpPr/>
          <p:nvPr/>
        </p:nvSpPr>
        <p:spPr>
          <a:xfrm>
            <a:off x="8403336" y="1645920"/>
            <a:ext cx="548640" cy="548640"/>
          </a:xfrm>
          <a:prstGeom prst="ellipse">
            <a:avLst/>
          </a:prstGeom>
          <a:solidFill>
            <a:schemeClr val="accent1"/>
          </a:solidFill>
          <a:ln/>
        </p:spPr>
      </p:sp>
      <p:pic>
        <p:nvPicPr>
          <p:cNvPr id="13" name="Image 2" descr="The protocol transfers to DL3DV">    </p:cNvPr>
          <p:cNvPicPr>
            <a:picLocks noChangeAspect="1"/>
          </p:cNvPicPr>
          <p:nvPr/>
        </p:nvPicPr>
        <p:blipFill>
          <a:blip r:embed="rId3"/>
          <a:stretch>
            <a:fillRect/>
          </a:stretch>
        </p:blipFill>
        <p:spPr>
          <a:xfrm>
            <a:off x="8540496" y="1783080"/>
            <a:ext cx="274320" cy="274320"/>
          </a:xfrm>
          <a:prstGeom prst="rect">
            <a:avLst/>
          </a:prstGeom>
        </p:spPr>
      </p:pic>
      <p:sp>
        <p:nvSpPr>
          <p:cNvPr id="14" name="Ext head 3"/>
          <p:cNvSpPr txBox="1"/>
          <p:nvPr/>
        </p:nvSpPr>
        <p:spPr>
          <a:xfrm>
            <a:off x="9089136" y="1572768"/>
            <a:ext cx="2377440" cy="694944"/>
          </a:xfrm>
          <a:prstGeom prst="rect">
            <a:avLst/>
          </a:prstGeom>
          <a:noFill/>
          <a:ln/>
        </p:spPr>
        <p:txBody>
          <a:bodyPr wrap="square" lIns="0" tIns="0" rIns="0" bIns="0" rtlCol="0" anchor="ctr"/>
          <a:lstStyle/>
          <a:p>
            <a:pPr indent="0" marL="0">
              <a:buNone/>
            </a:pPr>
            <a:r>
              <a:rPr lang="en-US" sz="1600" b="1" dirty="0">
                <a:solidFill>
                  <a:schemeClr val="tx1"/>
                </a:solidFill>
              </a:rPr>
              <a:t>The protocol</a:t>
            </a:r>
            <a:endParaRPr lang="en-US" sz="1600" dirty="0"/>
          </a:p>
          <a:p>
            <a:pPr indent="0" marL="0">
              <a:buNone/>
            </a:pPr>
            <a:r>
              <a:rPr lang="en-US" sz="1600" b="1" dirty="0">
                <a:solidFill>
                  <a:schemeClr val="tx1"/>
                </a:solidFill>
              </a:rPr>
              <a:t>transfers to DL3DV</a:t>
            </a:r>
            <a:endParaRPr lang="en-US" sz="1600" dirty="0"/>
          </a:p>
        </p:txBody>
      </p:sp>
      <p:sp>
        <p:nvSpPr>
          <p:cNvPr id="15" name="MM sub"/>
          <p:cNvSpPr txBox="1"/>
          <p:nvPr/>
        </p:nvSpPr>
        <p:spPr>
          <a:xfrm>
            <a:off x="822960" y="2468880"/>
            <a:ext cx="3017520" cy="320040"/>
          </a:xfrm>
          <a:prstGeom prst="rect">
            <a:avLst/>
          </a:prstGeom>
          <a:noFill/>
          <a:ln/>
        </p:spPr>
        <p:txBody>
          <a:bodyPr wrap="square" lIns="0" tIns="0" rIns="0" bIns="0" rtlCol="0" anchor="ctr"/>
          <a:lstStyle/>
          <a:p>
            <a:pPr indent="0" marL="0">
              <a:buNone/>
            </a:pPr>
            <a:r>
              <a:rPr lang="en-US" sz="1500" dirty="0">
                <a:solidFill>
                  <a:schemeClr val="tx1"/>
                </a:solidFill>
              </a:rPr>
              <a:t>Constraints passed in joint audits</a:t>
            </a:r>
            <a:endParaRPr lang="en-US" sz="1500" dirty="0"/>
          </a:p>
        </p:txBody>
      </p:sp>
      <p:graphicFrame>
        <p:nvGraphicFramePr>
          <p:cNvPr id="9" name="MM table"/>
          <p:cNvGraphicFramePr>
            <a:graphicFrameLocks noGrp="1"/>
          </p:cNvGraphicFramePr>
          <p:nvPr>
            <p:extLst>
              <p:ext uri="{D42A27DB-BD31-4B8C-83A1-F6EECF244321}">
                <p14:modId xmlns:p14="http://schemas.microsoft.com/office/powerpoint/2010/main" val="1579011935"/>
              </p:ext>
            </p:extLst>
          </p:nvPr>
        </p:nvGraphicFramePr>
        <p:xfrm>
          <a:off x="822960" y="2880360"/>
          <a:ext cx="2962656" cy="914400"/>
        </p:xfrm>
        <a:graphic>
          <a:graphicData uri="http://schemas.openxmlformats.org/drawingml/2006/table">
            <a:tbl>
              <a:tblPr/>
              <a:tblGrid>
                <a:gridCol w="914400"/>
                <a:gridCol w="1024128"/>
                <a:gridCol w="1024128"/>
              </a:tblGrid>
              <a:tr h="384048">
                <a:tc>
                  <a:txBody>
                    <a:bodyPr/>
                    <a:lstStyle/>
                    <a:p>
                      <a:pPr indent="0" marL="0">
                        <a:buNone/>
                      </a:pPr>
                      <a:endParaRPr lang="en-US" sz="12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b="1" dirty="0">
                          <a:solidFill>
                            <a:schemeClr val="accent4"/>
                          </a:solidFill>
                        </a:rPr>
                        <a:t>3 methods</a:t>
                      </a:r>
                      <a:endParaRPr lang="en-US" sz="1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b="1" dirty="0">
                          <a:solidFill>
                            <a:schemeClr val="accent4"/>
                          </a:solidFill>
                        </a:rPr>
                        <a:t>+ nerfacto</a:t>
                      </a:r>
                      <a:endParaRPr lang="en-US" sz="1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accent4"/>
                          </a:solidFill>
                        </a:rPr>
                        <a:t>RASS-48</a:t>
                      </a:r>
                      <a:endParaRPr lang="en-US" sz="15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4"/>
                          </a:solidFill>
                        </a:rPr>
                        <a:t>14/16</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4"/>
                          </a:solidFill>
                        </a:rPr>
                        <a:t>19/22</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RASS-96</a:t>
                      </a:r>
                      <a:endParaRPr lang="en-US" sz="15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1"/>
                          </a:solidFill>
                        </a:rPr>
                        <a:t>16/16</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1"/>
                          </a:solidFill>
                        </a:rPr>
                        <a:t>22/22</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17" name="MM tick 1"/>
          <p:cNvSpPr txBox="1"/>
          <p:nvPr/>
        </p:nvSpPr>
        <p:spPr>
          <a:xfrm>
            <a:off x="2688336" y="3867912"/>
            <a:ext cx="182880" cy="603504"/>
          </a:xfrm>
          <a:prstGeom prst="rect">
            <a:avLst/>
          </a:prstGeom>
          <a:noFill/>
          <a:ln/>
        </p:spPr>
        <p:txBody>
          <a:bodyPr wrap="square" lIns="0" tIns="0" rIns="0" bIns="0" rtlCol="0" anchor="ctr"/>
          <a:lstStyle/>
          <a:p>
            <a:pPr indent="0" marL="0">
              <a:buNone/>
            </a:pPr>
            <a:r>
              <a:rPr lang="en-US" sz="1600" b="1" dirty="0">
                <a:solidFill>
                  <a:schemeClr val="accent1"/>
                </a:solidFill>
              </a:rPr>
              <a:t>✓</a:t>
            </a:r>
            <a:endParaRPr lang="en-US" sz="1600" dirty="0"/>
          </a:p>
        </p:txBody>
      </p:sp>
      <p:sp>
        <p:nvSpPr>
          <p:cNvPr id="18" name="MM tick 2"/>
          <p:cNvSpPr txBox="1"/>
          <p:nvPr/>
        </p:nvSpPr>
        <p:spPr>
          <a:xfrm>
            <a:off x="3712464" y="3867912"/>
            <a:ext cx="182880" cy="603504"/>
          </a:xfrm>
          <a:prstGeom prst="rect">
            <a:avLst/>
          </a:prstGeom>
          <a:noFill/>
          <a:ln/>
        </p:spPr>
        <p:txBody>
          <a:bodyPr wrap="square" lIns="0" tIns="0" rIns="0" bIns="0" rtlCol="0" anchor="ctr"/>
          <a:lstStyle/>
          <a:p>
            <a:pPr indent="0" marL="0">
              <a:buNone/>
            </a:pPr>
            <a:r>
              <a:rPr lang="en-US" sz="1600" b="1" dirty="0">
                <a:solidFill>
                  <a:schemeClr val="accent1"/>
                </a:solidFill>
              </a:rPr>
              <a:t>✓</a:t>
            </a:r>
            <a:endParaRPr lang="en-US" sz="1600" dirty="0"/>
          </a:p>
        </p:txBody>
      </p:sp>
      <p:sp>
        <p:nvSpPr>
          <p:cNvPr id="19" name="MM desc"/>
          <p:cNvSpPr txBox="1"/>
          <p:nvPr/>
        </p:nvSpPr>
        <p:spPr>
          <a:xfrm>
            <a:off x="822960" y="4709160"/>
            <a:ext cx="2962656" cy="731520"/>
          </a:xfrm>
          <a:prstGeom prst="rect">
            <a:avLst/>
          </a:prstGeom>
          <a:noFill/>
          <a:ln/>
        </p:spPr>
        <p:txBody>
          <a:bodyPr wrap="square" lIns="0" tIns="0" rIns="0" bIns="0" rtlCol="0" anchor="t"/>
          <a:lstStyle/>
          <a:p>
            <a:pPr indent="0" marL="0">
              <a:buNone/>
            </a:pPr>
            <a:r>
              <a:rPr lang="en-US" sz="1500" dirty="0">
                <a:solidFill>
                  <a:schemeClr val="tx1"/>
                </a:solidFill>
              </a:rPr>
              <a:t>So RASS-96 is our subset</a:t>
            </a:r>
            <a:endParaRPr lang="en-US" sz="1500" dirty="0"/>
          </a:p>
          <a:p>
            <a:pPr indent="0" marL="0">
              <a:buNone/>
            </a:pPr>
            <a:r>
              <a:rPr lang="en-US" sz="1500" dirty="0">
                <a:solidFill>
                  <a:schemeClr val="tx1"/>
                </a:solidFill>
              </a:rPr>
              <a:t>for reported results.</a:t>
            </a:r>
            <a:endParaRPr lang="en-US" sz="1500" dirty="0"/>
          </a:p>
        </p:txBody>
      </p:sp>
      <p:sp>
        <p:nvSpPr>
          <p:cNvPr id="20" name="Gen sub"/>
          <p:cNvSpPr txBox="1"/>
          <p:nvPr/>
        </p:nvSpPr>
        <p:spPr>
          <a:xfrm>
            <a:off x="4613148" y="2468880"/>
            <a:ext cx="3017520" cy="320040"/>
          </a:xfrm>
          <a:prstGeom prst="rect">
            <a:avLst/>
          </a:prstGeom>
          <a:noFill/>
          <a:ln/>
        </p:spPr>
        <p:txBody>
          <a:bodyPr wrap="square" lIns="0" tIns="0" rIns="0" bIns="0" rtlCol="0" anchor="ctr"/>
          <a:lstStyle/>
          <a:p>
            <a:pPr indent="0" marL="0">
              <a:buNone/>
            </a:pPr>
            <a:r>
              <a:rPr lang="en-US" sz="1500" dirty="0">
                <a:solidFill>
                  <a:schemeClr val="tx1"/>
                </a:solidFill>
              </a:rPr>
              <a:t>Smallest certified size (scenes)</a:t>
            </a:r>
            <a:endParaRPr lang="en-US" sz="1500" dirty="0"/>
          </a:p>
        </p:txBody>
      </p:sp>
      <p:graphicFrame>
        <p:nvGraphicFramePr>
          <p:cNvPr id="21" name="Generator chart" descr="Smallest certified subset size: facility location 36, balanced 48, random 48"/>
          <p:cNvGraphicFramePr/>
          <p:nvPr/>
        </p:nvGraphicFramePr>
        <p:xfrm>
          <a:off x="4475988" y="2834640"/>
          <a:ext cx="3246120" cy="1600200"/>
        </p:xfrm>
        <a:graphic xmlns:a="http://schemas.openxmlformats.org/drawingml/2006/main">
          <a:graphicData uri="http://schemas.openxmlformats.org/drawingml/2006/chart">
            <c:chart xmlns:c="http://schemas.openxmlformats.org/drawingml/2006/chart" r:id="rId4"/>
          </a:graphicData>
        </a:graphic>
      </p:graphicFrame>
      <p:sp>
        <p:nvSpPr>
          <p:cNvPr id="22" name="Gen kcenter"/>
          <p:cNvSpPr txBox="1"/>
          <p:nvPr/>
        </p:nvSpPr>
        <p:spPr>
          <a:xfrm>
            <a:off x="4613148" y="4526280"/>
            <a:ext cx="3017520" cy="320040"/>
          </a:xfrm>
          <a:prstGeom prst="rect">
            <a:avLst/>
          </a:prstGeom>
          <a:noFill/>
          <a:ln/>
        </p:spPr>
        <p:txBody>
          <a:bodyPr wrap="square" lIns="0" tIns="0" rIns="0" bIns="0" rtlCol="0" anchor="ctr"/>
          <a:lstStyle/>
          <a:p>
            <a:pPr indent="0" marL="0">
              <a:buNone/>
            </a:pPr>
            <a:r>
              <a:rPr lang="en-US" sz="1500" b="1" dirty="0">
                <a:solidFill>
                  <a:srgbClr val="C27A00"/>
                </a:solidFill>
              </a:rPr>
              <a:t>✗ </a:t>
            </a:r>
            <a:pPr indent="0" marL="0">
              <a:buNone/>
            </a:pPr>
            <a:r>
              <a:rPr lang="en-US" sz="1500" b="1" dirty="0">
                <a:solidFill>
                  <a:schemeClr val="tx1"/>
                </a:solidFill>
              </a:rPr>
              <a:t>k-center fails up to 96</a:t>
            </a:r>
            <a:endParaRPr lang="en-US" sz="1500" dirty="0"/>
          </a:p>
        </p:txBody>
      </p:sp>
      <p:sp>
        <p:nvSpPr>
          <p:cNvPr id="23" name="Gen note"/>
          <p:cNvSpPr txBox="1"/>
          <p:nvPr/>
        </p:nvSpPr>
        <p:spPr>
          <a:xfrm>
            <a:off x="4613148" y="4937760"/>
            <a:ext cx="3017520" cy="594360"/>
          </a:xfrm>
          <a:prstGeom prst="rect">
            <a:avLst/>
          </a:prstGeom>
          <a:noFill/>
          <a:ln/>
        </p:spPr>
        <p:txBody>
          <a:bodyPr wrap="square" lIns="0" tIns="0" rIns="0" bIns="0" rtlCol="0" anchor="t"/>
          <a:lstStyle/>
          <a:p>
            <a:pPr indent="0" marL="0">
              <a:buNone/>
            </a:pPr>
            <a:r>
              <a:rPr lang="en-US" sz="1400" dirty="0">
                <a:solidFill>
                  <a:schemeClr val="accent4"/>
                </a:solidFill>
              </a:rPr>
              <a:t>Balanced also passes at 36 on an extended grid.</a:t>
            </a:r>
            <a:endParaRPr lang="en-US" sz="1400" dirty="0"/>
          </a:p>
        </p:txBody>
      </p:sp>
      <p:sp>
        <p:nvSpPr>
          <p:cNvPr id="24" name="DL3DV stat"/>
          <p:cNvSpPr txBox="1"/>
          <p:nvPr/>
        </p:nvSpPr>
        <p:spPr>
          <a:xfrm>
            <a:off x="8403336" y="2423160"/>
            <a:ext cx="2962656" cy="960120"/>
          </a:xfrm>
          <a:prstGeom prst="rect">
            <a:avLst/>
          </a:prstGeom>
          <a:noFill/>
          <a:ln/>
        </p:spPr>
        <p:txBody>
          <a:bodyPr wrap="square" lIns="0" tIns="0" rIns="0" bIns="0" rtlCol="0" anchor="ctr"/>
          <a:lstStyle/>
          <a:p>
            <a:pPr indent="0" marL="0">
              <a:buNone/>
            </a:pPr>
            <a:r>
              <a:rPr lang="en-US" sz="6000" b="1" dirty="0">
                <a:solidFill>
                  <a:schemeClr val="accent1"/>
                </a:solidFill>
              </a:rPr>
              <a:t>64</a:t>
            </a:r>
            <a:pPr indent="0" marL="0">
              <a:buNone/>
            </a:pPr>
            <a:r>
              <a:rPr lang="en-US" sz="3000" b="1" dirty="0">
                <a:solidFill>
                  <a:schemeClr val="accent1"/>
                </a:solidFill>
              </a:rPr>
              <a:t> / 140</a:t>
            </a:r>
            <a:endParaRPr lang="en-US" sz="6000" dirty="0"/>
          </a:p>
        </p:txBody>
      </p:sp>
      <p:sp>
        <p:nvSpPr>
          <p:cNvPr id="25" name="DL3DV desc"/>
          <p:cNvSpPr txBox="1"/>
          <p:nvPr/>
        </p:nvSpPr>
        <p:spPr>
          <a:xfrm>
            <a:off x="8403336" y="3474720"/>
            <a:ext cx="2962656" cy="731520"/>
          </a:xfrm>
          <a:prstGeom prst="rect">
            <a:avLst/>
          </a:prstGeom>
          <a:noFill/>
          <a:ln/>
        </p:spPr>
        <p:txBody>
          <a:bodyPr wrap="square" lIns="0" tIns="0" rIns="0" bIns="0" rtlCol="0" anchor="t"/>
          <a:lstStyle/>
          <a:p>
            <a:pPr indent="0" marL="0">
              <a:buNone/>
            </a:pPr>
            <a:r>
              <a:rPr lang="en-US" sz="1500" dirty="0">
                <a:solidFill>
                  <a:schemeClr val="tx1"/>
                </a:solidFill>
              </a:rPr>
              <a:t>DL3DV scenes certified for four methods (32 for one)</a:t>
            </a:r>
            <a:endParaRPr lang="en-US" sz="1500" dirty="0"/>
          </a:p>
        </p:txBody>
      </p:sp>
      <p:sp>
        <p:nvSpPr>
          <p:cNvPr id="26" name="DL3DV note"/>
          <p:cNvSpPr txBox="1"/>
          <p:nvPr/>
        </p:nvSpPr>
        <p:spPr>
          <a:xfrm>
            <a:off x="8403336" y="4343400"/>
            <a:ext cx="2962656" cy="731520"/>
          </a:xfrm>
          <a:prstGeom prst="rect">
            <a:avLst/>
          </a:prstGeom>
          <a:noFill/>
          <a:ln/>
        </p:spPr>
        <p:txBody>
          <a:bodyPr wrap="square" lIns="0" tIns="0" rIns="0" bIns="0" rtlCol="0" anchor="t"/>
          <a:lstStyle/>
          <a:p>
            <a:pPr indent="0" marL="0">
              <a:buNone/>
            </a:pPr>
            <a:r>
              <a:rPr lang="en-US" sz="1400" dirty="0">
                <a:solidFill>
                  <a:schemeClr val="accent4"/>
                </a:solidFill>
              </a:rPr>
              <a:t>Contract re-declared for DL3DV; proportional allocation, added post hoc.</a:t>
            </a:r>
            <a:endParaRPr lang="en-US" sz="1400" dirty="0"/>
          </a:p>
        </p:txBody>
      </p:sp>
      <p:sp>
        <p:nvSpPr>
          <p:cNvPr id="27" name="Fade 2"/>
          <p:cNvSpPr/>
          <p:nvPr/>
        </p:nvSpPr>
        <p:spPr>
          <a:xfrm>
            <a:off x="4338828" y="1417320"/>
            <a:ext cx="3511296" cy="4572000"/>
          </a:xfrm>
          <a:prstGeom prst="roundRect">
            <a:avLst>
              <a:gd name="adj" fmla="val 3125"/>
            </a:avLst>
          </a:prstGeom>
          <a:solidFill>
            <a:schemeClr val="bg1">
              <a:alpha val="70000"/>
            </a:schemeClr>
          </a:solidFill>
          <a:ln/>
        </p:spPr>
      </p:sp>
      <p:sp>
        <p:nvSpPr>
          <p:cNvPr id="28" name="Fade 3"/>
          <p:cNvSpPr/>
          <p:nvPr/>
        </p:nvSpPr>
        <p:spPr>
          <a:xfrm>
            <a:off x="8129016" y="1417320"/>
            <a:ext cx="3511296" cy="4572000"/>
          </a:xfrm>
          <a:prstGeom prst="roundRect">
            <a:avLst>
              <a:gd name="adj" fmla="val 3125"/>
            </a:avLst>
          </a:prstGeom>
          <a:solidFill>
            <a:schemeClr val="bg1">
              <a:alpha val="70000"/>
            </a:schemeClr>
          </a:solidFill>
          <a:ln/>
        </p:spPr>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200" b="1" dirty="0">
                <a:solidFill>
                  <a:schemeClr val="tx1"/>
                </a:solidFill>
              </a:rPr>
              <a:t>One audit covers more methods, generators, and datasets</a:t>
            </a:r>
            <a:endParaRPr lang="en-US" sz="3200" dirty="0"/>
          </a:p>
        </p:txBody>
      </p:sp>
      <p:sp>
        <p:nvSpPr>
          <p:cNvPr id="3" name="Ext card 1"/>
          <p:cNvSpPr/>
          <p:nvPr/>
        </p:nvSpPr>
        <p:spPr>
          <a:xfrm>
            <a:off x="548640" y="1417320"/>
            <a:ext cx="3511296" cy="4572000"/>
          </a:xfrm>
          <a:prstGeom prst="roundRect">
            <a:avLst>
              <a:gd name="adj" fmla="val 3125"/>
            </a:avLst>
          </a:prstGeom>
          <a:solidFill>
            <a:schemeClr val="bg2"/>
          </a:solidFill>
          <a:ln/>
        </p:spPr>
      </p:sp>
      <p:sp>
        <p:nvSpPr>
          <p:cNvPr id="4" name="Ext icon bg 1"/>
          <p:cNvSpPr/>
          <p:nvPr/>
        </p:nvSpPr>
        <p:spPr>
          <a:xfrm>
            <a:off x="822960" y="1645920"/>
            <a:ext cx="548640" cy="548640"/>
          </a:xfrm>
          <a:prstGeom prst="ellipse">
            <a:avLst/>
          </a:prstGeom>
          <a:solidFill>
            <a:schemeClr val="accent1"/>
          </a:solidFill>
          <a:ln/>
        </p:spPr>
      </p:sp>
      <p:pic>
        <p:nvPicPr>
          <p:cNvPr id="5" name="Image 0" descr="RASS-96 passes the 3- and 4-method audits">    </p:cNvPr>
          <p:cNvPicPr>
            <a:picLocks noChangeAspect="1"/>
          </p:cNvPicPr>
          <p:nvPr/>
        </p:nvPicPr>
        <p:blipFill>
          <a:blip r:embed="rId1"/>
          <a:stretch>
            <a:fillRect/>
          </a:stretch>
        </p:blipFill>
        <p:spPr>
          <a:xfrm>
            <a:off x="960120" y="1783080"/>
            <a:ext cx="274320" cy="274320"/>
          </a:xfrm>
          <a:prstGeom prst="rect">
            <a:avLst/>
          </a:prstGeom>
        </p:spPr>
      </p:pic>
      <p:sp>
        <p:nvSpPr>
          <p:cNvPr id="6" name="Ext head 1"/>
          <p:cNvSpPr txBox="1"/>
          <p:nvPr/>
        </p:nvSpPr>
        <p:spPr>
          <a:xfrm>
            <a:off x="1508760" y="1572768"/>
            <a:ext cx="2377440" cy="694944"/>
          </a:xfrm>
          <a:prstGeom prst="rect">
            <a:avLst/>
          </a:prstGeom>
          <a:noFill/>
          <a:ln/>
        </p:spPr>
        <p:txBody>
          <a:bodyPr wrap="square" lIns="0" tIns="0" rIns="0" bIns="0" rtlCol="0" anchor="ctr"/>
          <a:lstStyle/>
          <a:p>
            <a:pPr indent="0" marL="0">
              <a:buNone/>
            </a:pPr>
            <a:r>
              <a:rPr lang="en-US" sz="1600" b="1" dirty="0">
                <a:solidFill>
                  <a:schemeClr val="tx1"/>
                </a:solidFill>
              </a:rPr>
              <a:t>RASS-96 passes the</a:t>
            </a:r>
            <a:endParaRPr lang="en-US" sz="1600" dirty="0"/>
          </a:p>
          <a:p>
            <a:pPr indent="0" marL="0">
              <a:buNone/>
            </a:pPr>
            <a:r>
              <a:rPr lang="en-US" sz="1600" b="1" dirty="0">
                <a:solidFill>
                  <a:schemeClr val="tx1"/>
                </a:solidFill>
              </a:rPr>
              <a:t>3- and 4-method audits</a:t>
            </a:r>
            <a:endParaRPr lang="en-US" sz="1600" dirty="0"/>
          </a:p>
        </p:txBody>
      </p:sp>
      <p:sp>
        <p:nvSpPr>
          <p:cNvPr id="7" name="Ext card 2"/>
          <p:cNvSpPr/>
          <p:nvPr/>
        </p:nvSpPr>
        <p:spPr>
          <a:xfrm>
            <a:off x="4338828" y="1417320"/>
            <a:ext cx="3511296" cy="4572000"/>
          </a:xfrm>
          <a:prstGeom prst="roundRect">
            <a:avLst>
              <a:gd name="adj" fmla="val 3125"/>
            </a:avLst>
          </a:prstGeom>
          <a:solidFill>
            <a:schemeClr val="bg2"/>
          </a:solidFill>
          <a:ln/>
        </p:spPr>
      </p:sp>
      <p:sp>
        <p:nvSpPr>
          <p:cNvPr id="8" name="Ext icon bg 2"/>
          <p:cNvSpPr/>
          <p:nvPr/>
        </p:nvSpPr>
        <p:spPr>
          <a:xfrm>
            <a:off x="4613148" y="1645920"/>
            <a:ext cx="548640" cy="548640"/>
          </a:xfrm>
          <a:prstGeom prst="ellipse">
            <a:avLst/>
          </a:prstGeom>
          <a:solidFill>
            <a:schemeClr val="accent1"/>
          </a:solidFill>
          <a:ln/>
        </p:spPr>
      </p:sp>
      <p:pic>
        <p:nvPicPr>
          <p:cNvPr id="9" name="Image 1" descr="Any candidate generator plugs in">    </p:cNvPr>
          <p:cNvPicPr>
            <a:picLocks noChangeAspect="1"/>
          </p:cNvPicPr>
          <p:nvPr/>
        </p:nvPicPr>
        <p:blipFill>
          <a:blip r:embed="rId2"/>
          <a:stretch>
            <a:fillRect/>
          </a:stretch>
        </p:blipFill>
        <p:spPr>
          <a:xfrm>
            <a:off x="4750308" y="1783080"/>
            <a:ext cx="274320" cy="274320"/>
          </a:xfrm>
          <a:prstGeom prst="rect">
            <a:avLst/>
          </a:prstGeom>
        </p:spPr>
      </p:pic>
      <p:sp>
        <p:nvSpPr>
          <p:cNvPr id="10" name="Ext head 2"/>
          <p:cNvSpPr txBox="1"/>
          <p:nvPr/>
        </p:nvSpPr>
        <p:spPr>
          <a:xfrm>
            <a:off x="5298948" y="1572768"/>
            <a:ext cx="2377440" cy="694944"/>
          </a:xfrm>
          <a:prstGeom prst="rect">
            <a:avLst/>
          </a:prstGeom>
          <a:noFill/>
          <a:ln/>
        </p:spPr>
        <p:txBody>
          <a:bodyPr wrap="square" lIns="0" tIns="0" rIns="0" bIns="0" rtlCol="0" anchor="ctr"/>
          <a:lstStyle/>
          <a:p>
            <a:pPr indent="0" marL="0">
              <a:buNone/>
            </a:pPr>
            <a:r>
              <a:rPr lang="en-US" sz="1600" b="1" dirty="0">
                <a:solidFill>
                  <a:schemeClr val="tx1"/>
                </a:solidFill>
              </a:rPr>
              <a:t>Any candidate</a:t>
            </a:r>
            <a:endParaRPr lang="en-US" sz="1600" dirty="0"/>
          </a:p>
          <a:p>
            <a:pPr indent="0" marL="0">
              <a:buNone/>
            </a:pPr>
            <a:r>
              <a:rPr lang="en-US" sz="1600" b="1" dirty="0">
                <a:solidFill>
                  <a:schemeClr val="tx1"/>
                </a:solidFill>
              </a:rPr>
              <a:t>generator plugs in</a:t>
            </a:r>
            <a:endParaRPr lang="en-US" sz="1600" dirty="0"/>
          </a:p>
        </p:txBody>
      </p:sp>
      <p:sp>
        <p:nvSpPr>
          <p:cNvPr id="11" name="Ext card 3"/>
          <p:cNvSpPr/>
          <p:nvPr/>
        </p:nvSpPr>
        <p:spPr>
          <a:xfrm>
            <a:off x="8129016" y="1417320"/>
            <a:ext cx="3511296" cy="4572000"/>
          </a:xfrm>
          <a:prstGeom prst="roundRect">
            <a:avLst>
              <a:gd name="adj" fmla="val 3125"/>
            </a:avLst>
          </a:prstGeom>
          <a:solidFill>
            <a:schemeClr val="bg2"/>
          </a:solidFill>
          <a:ln/>
        </p:spPr>
      </p:sp>
      <p:sp>
        <p:nvSpPr>
          <p:cNvPr id="12" name="Ext icon bg 3"/>
          <p:cNvSpPr/>
          <p:nvPr/>
        </p:nvSpPr>
        <p:spPr>
          <a:xfrm>
            <a:off x="8403336" y="1645920"/>
            <a:ext cx="548640" cy="548640"/>
          </a:xfrm>
          <a:prstGeom prst="ellipse">
            <a:avLst/>
          </a:prstGeom>
          <a:solidFill>
            <a:schemeClr val="accent1"/>
          </a:solidFill>
          <a:ln/>
        </p:spPr>
      </p:sp>
      <p:pic>
        <p:nvPicPr>
          <p:cNvPr id="13" name="Image 2" descr="The protocol transfers to DL3DV">    </p:cNvPr>
          <p:cNvPicPr>
            <a:picLocks noChangeAspect="1"/>
          </p:cNvPicPr>
          <p:nvPr/>
        </p:nvPicPr>
        <p:blipFill>
          <a:blip r:embed="rId3"/>
          <a:stretch>
            <a:fillRect/>
          </a:stretch>
        </p:blipFill>
        <p:spPr>
          <a:xfrm>
            <a:off x="8540496" y="1783080"/>
            <a:ext cx="274320" cy="274320"/>
          </a:xfrm>
          <a:prstGeom prst="rect">
            <a:avLst/>
          </a:prstGeom>
        </p:spPr>
      </p:pic>
      <p:sp>
        <p:nvSpPr>
          <p:cNvPr id="14" name="Ext head 3"/>
          <p:cNvSpPr txBox="1"/>
          <p:nvPr/>
        </p:nvSpPr>
        <p:spPr>
          <a:xfrm>
            <a:off x="9089136" y="1572768"/>
            <a:ext cx="2377440" cy="694944"/>
          </a:xfrm>
          <a:prstGeom prst="rect">
            <a:avLst/>
          </a:prstGeom>
          <a:noFill/>
          <a:ln/>
        </p:spPr>
        <p:txBody>
          <a:bodyPr wrap="square" lIns="0" tIns="0" rIns="0" bIns="0" rtlCol="0" anchor="ctr"/>
          <a:lstStyle/>
          <a:p>
            <a:pPr indent="0" marL="0">
              <a:buNone/>
            </a:pPr>
            <a:r>
              <a:rPr lang="en-US" sz="1600" b="1" dirty="0">
                <a:solidFill>
                  <a:schemeClr val="tx1"/>
                </a:solidFill>
              </a:rPr>
              <a:t>The protocol</a:t>
            </a:r>
            <a:endParaRPr lang="en-US" sz="1600" dirty="0"/>
          </a:p>
          <a:p>
            <a:pPr indent="0" marL="0">
              <a:buNone/>
            </a:pPr>
            <a:r>
              <a:rPr lang="en-US" sz="1600" b="1" dirty="0">
                <a:solidFill>
                  <a:schemeClr val="tx1"/>
                </a:solidFill>
              </a:rPr>
              <a:t>transfers to DL3DV</a:t>
            </a:r>
            <a:endParaRPr lang="en-US" sz="1600" dirty="0"/>
          </a:p>
        </p:txBody>
      </p:sp>
      <p:sp>
        <p:nvSpPr>
          <p:cNvPr id="15" name="MM sub"/>
          <p:cNvSpPr txBox="1"/>
          <p:nvPr/>
        </p:nvSpPr>
        <p:spPr>
          <a:xfrm>
            <a:off x="822960" y="2468880"/>
            <a:ext cx="3017520" cy="320040"/>
          </a:xfrm>
          <a:prstGeom prst="rect">
            <a:avLst/>
          </a:prstGeom>
          <a:noFill/>
          <a:ln/>
        </p:spPr>
        <p:txBody>
          <a:bodyPr wrap="square" lIns="0" tIns="0" rIns="0" bIns="0" rtlCol="0" anchor="ctr"/>
          <a:lstStyle/>
          <a:p>
            <a:pPr indent="0" marL="0">
              <a:buNone/>
            </a:pPr>
            <a:r>
              <a:rPr lang="en-US" sz="1500" dirty="0">
                <a:solidFill>
                  <a:schemeClr val="tx1"/>
                </a:solidFill>
              </a:rPr>
              <a:t>Constraints passed in joint audits</a:t>
            </a:r>
            <a:endParaRPr lang="en-US" sz="1500" dirty="0"/>
          </a:p>
        </p:txBody>
      </p:sp>
      <p:graphicFrame>
        <p:nvGraphicFramePr>
          <p:cNvPr id="10" name="MM table"/>
          <p:cNvGraphicFramePr>
            <a:graphicFrameLocks noGrp="1"/>
          </p:cNvGraphicFramePr>
          <p:nvPr>
            <p:extLst>
              <p:ext uri="{D42A27DB-BD31-4B8C-83A1-F6EECF244321}">
                <p14:modId xmlns:p14="http://schemas.microsoft.com/office/powerpoint/2010/main" val="1579011935"/>
              </p:ext>
            </p:extLst>
          </p:nvPr>
        </p:nvGraphicFramePr>
        <p:xfrm>
          <a:off x="822960" y="2880360"/>
          <a:ext cx="2962656" cy="914400"/>
        </p:xfrm>
        <a:graphic>
          <a:graphicData uri="http://schemas.openxmlformats.org/drawingml/2006/table">
            <a:tbl>
              <a:tblPr/>
              <a:tblGrid>
                <a:gridCol w="914400"/>
                <a:gridCol w="1024128"/>
                <a:gridCol w="1024128"/>
              </a:tblGrid>
              <a:tr h="384048">
                <a:tc>
                  <a:txBody>
                    <a:bodyPr/>
                    <a:lstStyle/>
                    <a:p>
                      <a:pPr indent="0" marL="0">
                        <a:buNone/>
                      </a:pPr>
                      <a:endParaRPr lang="en-US" sz="12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b="1" dirty="0">
                          <a:solidFill>
                            <a:schemeClr val="accent4"/>
                          </a:solidFill>
                        </a:rPr>
                        <a:t>3 methods</a:t>
                      </a:r>
                      <a:endParaRPr lang="en-US" sz="1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b="1" dirty="0">
                          <a:solidFill>
                            <a:schemeClr val="accent4"/>
                          </a:solidFill>
                        </a:rPr>
                        <a:t>+ nerfacto</a:t>
                      </a:r>
                      <a:endParaRPr lang="en-US" sz="1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accent4"/>
                          </a:solidFill>
                        </a:rPr>
                        <a:t>RASS-48</a:t>
                      </a:r>
                      <a:endParaRPr lang="en-US" sz="15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4"/>
                          </a:solidFill>
                        </a:rPr>
                        <a:t>14/16</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4"/>
                          </a:solidFill>
                        </a:rPr>
                        <a:t>19/22</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RASS-96</a:t>
                      </a:r>
                      <a:endParaRPr lang="en-US" sz="15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1"/>
                          </a:solidFill>
                        </a:rPr>
                        <a:t>16/16</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1"/>
                          </a:solidFill>
                        </a:rPr>
                        <a:t>22/22</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17" name="MM tick 1"/>
          <p:cNvSpPr txBox="1"/>
          <p:nvPr/>
        </p:nvSpPr>
        <p:spPr>
          <a:xfrm>
            <a:off x="2688336" y="3867912"/>
            <a:ext cx="182880" cy="603504"/>
          </a:xfrm>
          <a:prstGeom prst="rect">
            <a:avLst/>
          </a:prstGeom>
          <a:noFill/>
          <a:ln/>
        </p:spPr>
        <p:txBody>
          <a:bodyPr wrap="square" lIns="0" tIns="0" rIns="0" bIns="0" rtlCol="0" anchor="ctr"/>
          <a:lstStyle/>
          <a:p>
            <a:pPr indent="0" marL="0">
              <a:buNone/>
            </a:pPr>
            <a:r>
              <a:rPr lang="en-US" sz="1600" b="1" dirty="0">
                <a:solidFill>
                  <a:schemeClr val="accent1"/>
                </a:solidFill>
              </a:rPr>
              <a:t>✓</a:t>
            </a:r>
            <a:endParaRPr lang="en-US" sz="1600" dirty="0"/>
          </a:p>
        </p:txBody>
      </p:sp>
      <p:sp>
        <p:nvSpPr>
          <p:cNvPr id="18" name="MM tick 2"/>
          <p:cNvSpPr txBox="1"/>
          <p:nvPr/>
        </p:nvSpPr>
        <p:spPr>
          <a:xfrm>
            <a:off x="3712464" y="3867912"/>
            <a:ext cx="182880" cy="603504"/>
          </a:xfrm>
          <a:prstGeom prst="rect">
            <a:avLst/>
          </a:prstGeom>
          <a:noFill/>
          <a:ln/>
        </p:spPr>
        <p:txBody>
          <a:bodyPr wrap="square" lIns="0" tIns="0" rIns="0" bIns="0" rtlCol="0" anchor="ctr"/>
          <a:lstStyle/>
          <a:p>
            <a:pPr indent="0" marL="0">
              <a:buNone/>
            </a:pPr>
            <a:r>
              <a:rPr lang="en-US" sz="1600" b="1" dirty="0">
                <a:solidFill>
                  <a:schemeClr val="accent1"/>
                </a:solidFill>
              </a:rPr>
              <a:t>✓</a:t>
            </a:r>
            <a:endParaRPr lang="en-US" sz="1600" dirty="0"/>
          </a:p>
        </p:txBody>
      </p:sp>
      <p:sp>
        <p:nvSpPr>
          <p:cNvPr id="19" name="MM desc"/>
          <p:cNvSpPr txBox="1"/>
          <p:nvPr/>
        </p:nvSpPr>
        <p:spPr>
          <a:xfrm>
            <a:off x="822960" y="4709160"/>
            <a:ext cx="2962656" cy="731520"/>
          </a:xfrm>
          <a:prstGeom prst="rect">
            <a:avLst/>
          </a:prstGeom>
          <a:noFill/>
          <a:ln/>
        </p:spPr>
        <p:txBody>
          <a:bodyPr wrap="square" lIns="0" tIns="0" rIns="0" bIns="0" rtlCol="0" anchor="t"/>
          <a:lstStyle/>
          <a:p>
            <a:pPr indent="0" marL="0">
              <a:buNone/>
            </a:pPr>
            <a:r>
              <a:rPr lang="en-US" sz="1500" dirty="0">
                <a:solidFill>
                  <a:schemeClr val="tx1"/>
                </a:solidFill>
              </a:rPr>
              <a:t>So RASS-96 is our subset</a:t>
            </a:r>
            <a:endParaRPr lang="en-US" sz="1500" dirty="0"/>
          </a:p>
          <a:p>
            <a:pPr indent="0" marL="0">
              <a:buNone/>
            </a:pPr>
            <a:r>
              <a:rPr lang="en-US" sz="1500" dirty="0">
                <a:solidFill>
                  <a:schemeClr val="tx1"/>
                </a:solidFill>
              </a:rPr>
              <a:t>for reported results.</a:t>
            </a:r>
            <a:endParaRPr lang="en-US" sz="1500" dirty="0"/>
          </a:p>
        </p:txBody>
      </p:sp>
      <p:sp>
        <p:nvSpPr>
          <p:cNvPr id="20" name="Gen sub"/>
          <p:cNvSpPr txBox="1"/>
          <p:nvPr/>
        </p:nvSpPr>
        <p:spPr>
          <a:xfrm>
            <a:off x="4613148" y="2468880"/>
            <a:ext cx="3017520" cy="320040"/>
          </a:xfrm>
          <a:prstGeom prst="rect">
            <a:avLst/>
          </a:prstGeom>
          <a:noFill/>
          <a:ln/>
        </p:spPr>
        <p:txBody>
          <a:bodyPr wrap="square" lIns="0" tIns="0" rIns="0" bIns="0" rtlCol="0" anchor="ctr"/>
          <a:lstStyle/>
          <a:p>
            <a:pPr indent="0" marL="0">
              <a:buNone/>
            </a:pPr>
            <a:r>
              <a:rPr lang="en-US" sz="1500" dirty="0">
                <a:solidFill>
                  <a:schemeClr val="tx1"/>
                </a:solidFill>
              </a:rPr>
              <a:t>Smallest certified size (scenes)</a:t>
            </a:r>
            <a:endParaRPr lang="en-US" sz="1500" dirty="0"/>
          </a:p>
        </p:txBody>
      </p:sp>
      <p:graphicFrame>
        <p:nvGraphicFramePr>
          <p:cNvPr id="21" name="Generator chart" descr="Smallest certified subset size: facility location 36, balanced 48, random 48"/>
          <p:cNvGraphicFramePr/>
          <p:nvPr/>
        </p:nvGraphicFramePr>
        <p:xfrm>
          <a:off x="4475988" y="2834640"/>
          <a:ext cx="3246120" cy="1600200"/>
        </p:xfrm>
        <a:graphic xmlns:a="http://schemas.openxmlformats.org/drawingml/2006/main">
          <a:graphicData uri="http://schemas.openxmlformats.org/drawingml/2006/chart">
            <c:chart xmlns:c="http://schemas.openxmlformats.org/drawingml/2006/chart" r:id="rId4"/>
          </a:graphicData>
        </a:graphic>
      </p:graphicFrame>
      <p:sp>
        <p:nvSpPr>
          <p:cNvPr id="22" name="Gen kcenter"/>
          <p:cNvSpPr txBox="1"/>
          <p:nvPr/>
        </p:nvSpPr>
        <p:spPr>
          <a:xfrm>
            <a:off x="4613148" y="4526280"/>
            <a:ext cx="3017520" cy="320040"/>
          </a:xfrm>
          <a:prstGeom prst="rect">
            <a:avLst/>
          </a:prstGeom>
          <a:noFill/>
          <a:ln/>
        </p:spPr>
        <p:txBody>
          <a:bodyPr wrap="square" lIns="0" tIns="0" rIns="0" bIns="0" rtlCol="0" anchor="ctr"/>
          <a:lstStyle/>
          <a:p>
            <a:pPr indent="0" marL="0">
              <a:buNone/>
            </a:pPr>
            <a:r>
              <a:rPr lang="en-US" sz="1500" b="1" dirty="0">
                <a:solidFill>
                  <a:srgbClr val="C27A00"/>
                </a:solidFill>
              </a:rPr>
              <a:t>✗ </a:t>
            </a:r>
            <a:pPr indent="0" marL="0">
              <a:buNone/>
            </a:pPr>
            <a:r>
              <a:rPr lang="en-US" sz="1500" b="1" dirty="0">
                <a:solidFill>
                  <a:schemeClr val="tx1"/>
                </a:solidFill>
              </a:rPr>
              <a:t>k-center fails up to 96</a:t>
            </a:r>
            <a:endParaRPr lang="en-US" sz="1500" dirty="0"/>
          </a:p>
        </p:txBody>
      </p:sp>
      <p:sp>
        <p:nvSpPr>
          <p:cNvPr id="23" name="Gen note"/>
          <p:cNvSpPr txBox="1"/>
          <p:nvPr/>
        </p:nvSpPr>
        <p:spPr>
          <a:xfrm>
            <a:off x="4613148" y="4937760"/>
            <a:ext cx="3017520" cy="594360"/>
          </a:xfrm>
          <a:prstGeom prst="rect">
            <a:avLst/>
          </a:prstGeom>
          <a:noFill/>
          <a:ln/>
        </p:spPr>
        <p:txBody>
          <a:bodyPr wrap="square" lIns="0" tIns="0" rIns="0" bIns="0" rtlCol="0" anchor="t"/>
          <a:lstStyle/>
          <a:p>
            <a:pPr indent="0" marL="0">
              <a:buNone/>
            </a:pPr>
            <a:r>
              <a:rPr lang="en-US" sz="1400" dirty="0">
                <a:solidFill>
                  <a:schemeClr val="accent4"/>
                </a:solidFill>
              </a:rPr>
              <a:t>Balanced also passes at 36 on an extended grid.</a:t>
            </a:r>
            <a:endParaRPr lang="en-US" sz="1400" dirty="0"/>
          </a:p>
        </p:txBody>
      </p:sp>
      <p:sp>
        <p:nvSpPr>
          <p:cNvPr id="24" name="DL3DV stat"/>
          <p:cNvSpPr txBox="1"/>
          <p:nvPr/>
        </p:nvSpPr>
        <p:spPr>
          <a:xfrm>
            <a:off x="8403336" y="2423160"/>
            <a:ext cx="2962656" cy="960120"/>
          </a:xfrm>
          <a:prstGeom prst="rect">
            <a:avLst/>
          </a:prstGeom>
          <a:noFill/>
          <a:ln/>
        </p:spPr>
        <p:txBody>
          <a:bodyPr wrap="square" lIns="0" tIns="0" rIns="0" bIns="0" rtlCol="0" anchor="ctr"/>
          <a:lstStyle/>
          <a:p>
            <a:pPr indent="0" marL="0">
              <a:buNone/>
            </a:pPr>
            <a:r>
              <a:rPr lang="en-US" sz="6000" b="1" dirty="0">
                <a:solidFill>
                  <a:schemeClr val="accent1"/>
                </a:solidFill>
              </a:rPr>
              <a:t>64</a:t>
            </a:r>
            <a:pPr indent="0" marL="0">
              <a:buNone/>
            </a:pPr>
            <a:r>
              <a:rPr lang="en-US" sz="3000" b="1" dirty="0">
                <a:solidFill>
                  <a:schemeClr val="accent1"/>
                </a:solidFill>
              </a:rPr>
              <a:t> / 140</a:t>
            </a:r>
            <a:endParaRPr lang="en-US" sz="6000" dirty="0"/>
          </a:p>
        </p:txBody>
      </p:sp>
      <p:sp>
        <p:nvSpPr>
          <p:cNvPr id="25" name="DL3DV desc"/>
          <p:cNvSpPr txBox="1"/>
          <p:nvPr/>
        </p:nvSpPr>
        <p:spPr>
          <a:xfrm>
            <a:off x="8403336" y="3474720"/>
            <a:ext cx="2962656" cy="731520"/>
          </a:xfrm>
          <a:prstGeom prst="rect">
            <a:avLst/>
          </a:prstGeom>
          <a:noFill/>
          <a:ln/>
        </p:spPr>
        <p:txBody>
          <a:bodyPr wrap="square" lIns="0" tIns="0" rIns="0" bIns="0" rtlCol="0" anchor="t"/>
          <a:lstStyle/>
          <a:p>
            <a:pPr indent="0" marL="0">
              <a:buNone/>
            </a:pPr>
            <a:r>
              <a:rPr lang="en-US" sz="1500" dirty="0">
                <a:solidFill>
                  <a:schemeClr val="tx1"/>
                </a:solidFill>
              </a:rPr>
              <a:t>DL3DV scenes certified for four methods (32 for one)</a:t>
            </a:r>
            <a:endParaRPr lang="en-US" sz="1500" dirty="0"/>
          </a:p>
        </p:txBody>
      </p:sp>
      <p:sp>
        <p:nvSpPr>
          <p:cNvPr id="26" name="DL3DV note"/>
          <p:cNvSpPr txBox="1"/>
          <p:nvPr/>
        </p:nvSpPr>
        <p:spPr>
          <a:xfrm>
            <a:off x="8403336" y="4343400"/>
            <a:ext cx="2962656" cy="731520"/>
          </a:xfrm>
          <a:prstGeom prst="rect">
            <a:avLst/>
          </a:prstGeom>
          <a:noFill/>
          <a:ln/>
        </p:spPr>
        <p:txBody>
          <a:bodyPr wrap="square" lIns="0" tIns="0" rIns="0" bIns="0" rtlCol="0" anchor="t"/>
          <a:lstStyle/>
          <a:p>
            <a:pPr indent="0" marL="0">
              <a:buNone/>
            </a:pPr>
            <a:r>
              <a:rPr lang="en-US" sz="1400" dirty="0">
                <a:solidFill>
                  <a:schemeClr val="accent4"/>
                </a:solidFill>
              </a:rPr>
              <a:t>Contract re-declared for DL3DV; proportional allocation, added post hoc.</a:t>
            </a:r>
            <a:endParaRPr lang="en-US" sz="1400" dirty="0"/>
          </a:p>
        </p:txBody>
      </p:sp>
      <p:sp>
        <p:nvSpPr>
          <p:cNvPr id="27" name="Fade 1"/>
          <p:cNvSpPr/>
          <p:nvPr/>
        </p:nvSpPr>
        <p:spPr>
          <a:xfrm>
            <a:off x="548640" y="1417320"/>
            <a:ext cx="3511296" cy="4572000"/>
          </a:xfrm>
          <a:prstGeom prst="roundRect">
            <a:avLst>
              <a:gd name="adj" fmla="val 3125"/>
            </a:avLst>
          </a:prstGeom>
          <a:solidFill>
            <a:schemeClr val="bg1">
              <a:alpha val="70000"/>
            </a:schemeClr>
          </a:solidFill>
          <a:ln/>
        </p:spPr>
      </p:sp>
      <p:sp>
        <p:nvSpPr>
          <p:cNvPr id="28" name="Fade 3"/>
          <p:cNvSpPr/>
          <p:nvPr/>
        </p:nvSpPr>
        <p:spPr>
          <a:xfrm>
            <a:off x="8129016" y="1417320"/>
            <a:ext cx="3511296" cy="4572000"/>
          </a:xfrm>
          <a:prstGeom prst="roundRect">
            <a:avLst>
              <a:gd name="adj" fmla="val 3125"/>
            </a:avLst>
          </a:prstGeom>
          <a:solidFill>
            <a:schemeClr val="bg1">
              <a:alpha val="70000"/>
            </a:schemeClr>
          </a:solidFill>
          <a:ln/>
        </p:spPr>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200" b="1" dirty="0">
                <a:solidFill>
                  <a:schemeClr val="tx1"/>
                </a:solidFill>
              </a:rPr>
              <a:t>One audit covers more methods, generators, and datasets</a:t>
            </a:r>
            <a:endParaRPr lang="en-US" sz="3200" dirty="0"/>
          </a:p>
        </p:txBody>
      </p:sp>
      <p:sp>
        <p:nvSpPr>
          <p:cNvPr id="3" name="Ext card 1"/>
          <p:cNvSpPr/>
          <p:nvPr/>
        </p:nvSpPr>
        <p:spPr>
          <a:xfrm>
            <a:off x="548640" y="1417320"/>
            <a:ext cx="3511296" cy="4572000"/>
          </a:xfrm>
          <a:prstGeom prst="roundRect">
            <a:avLst>
              <a:gd name="adj" fmla="val 3125"/>
            </a:avLst>
          </a:prstGeom>
          <a:solidFill>
            <a:schemeClr val="bg2"/>
          </a:solidFill>
          <a:ln/>
        </p:spPr>
      </p:sp>
      <p:sp>
        <p:nvSpPr>
          <p:cNvPr id="4" name="Ext icon bg 1"/>
          <p:cNvSpPr/>
          <p:nvPr/>
        </p:nvSpPr>
        <p:spPr>
          <a:xfrm>
            <a:off x="822960" y="1645920"/>
            <a:ext cx="548640" cy="548640"/>
          </a:xfrm>
          <a:prstGeom prst="ellipse">
            <a:avLst/>
          </a:prstGeom>
          <a:solidFill>
            <a:schemeClr val="accent1"/>
          </a:solidFill>
          <a:ln/>
        </p:spPr>
      </p:sp>
      <p:pic>
        <p:nvPicPr>
          <p:cNvPr id="5" name="Image 0" descr="RASS-96 passes the 3- and 4-method audits">    </p:cNvPr>
          <p:cNvPicPr>
            <a:picLocks noChangeAspect="1"/>
          </p:cNvPicPr>
          <p:nvPr/>
        </p:nvPicPr>
        <p:blipFill>
          <a:blip r:embed="rId1"/>
          <a:stretch>
            <a:fillRect/>
          </a:stretch>
        </p:blipFill>
        <p:spPr>
          <a:xfrm>
            <a:off x="960120" y="1783080"/>
            <a:ext cx="274320" cy="274320"/>
          </a:xfrm>
          <a:prstGeom prst="rect">
            <a:avLst/>
          </a:prstGeom>
        </p:spPr>
      </p:pic>
      <p:sp>
        <p:nvSpPr>
          <p:cNvPr id="6" name="Ext head 1"/>
          <p:cNvSpPr txBox="1"/>
          <p:nvPr/>
        </p:nvSpPr>
        <p:spPr>
          <a:xfrm>
            <a:off x="1508760" y="1572768"/>
            <a:ext cx="2377440" cy="694944"/>
          </a:xfrm>
          <a:prstGeom prst="rect">
            <a:avLst/>
          </a:prstGeom>
          <a:noFill/>
          <a:ln/>
        </p:spPr>
        <p:txBody>
          <a:bodyPr wrap="square" lIns="0" tIns="0" rIns="0" bIns="0" rtlCol="0" anchor="ctr"/>
          <a:lstStyle/>
          <a:p>
            <a:pPr indent="0" marL="0">
              <a:buNone/>
            </a:pPr>
            <a:r>
              <a:rPr lang="en-US" sz="1600" b="1" dirty="0">
                <a:solidFill>
                  <a:schemeClr val="tx1"/>
                </a:solidFill>
              </a:rPr>
              <a:t>RASS-96 passes the</a:t>
            </a:r>
            <a:endParaRPr lang="en-US" sz="1600" dirty="0"/>
          </a:p>
          <a:p>
            <a:pPr indent="0" marL="0">
              <a:buNone/>
            </a:pPr>
            <a:r>
              <a:rPr lang="en-US" sz="1600" b="1" dirty="0">
                <a:solidFill>
                  <a:schemeClr val="tx1"/>
                </a:solidFill>
              </a:rPr>
              <a:t>3- and 4-method audits</a:t>
            </a:r>
            <a:endParaRPr lang="en-US" sz="1600" dirty="0"/>
          </a:p>
        </p:txBody>
      </p:sp>
      <p:sp>
        <p:nvSpPr>
          <p:cNvPr id="7" name="Ext card 2"/>
          <p:cNvSpPr/>
          <p:nvPr/>
        </p:nvSpPr>
        <p:spPr>
          <a:xfrm>
            <a:off x="4338828" y="1417320"/>
            <a:ext cx="3511296" cy="4572000"/>
          </a:xfrm>
          <a:prstGeom prst="roundRect">
            <a:avLst>
              <a:gd name="adj" fmla="val 3125"/>
            </a:avLst>
          </a:prstGeom>
          <a:solidFill>
            <a:schemeClr val="bg2"/>
          </a:solidFill>
          <a:ln/>
        </p:spPr>
      </p:sp>
      <p:sp>
        <p:nvSpPr>
          <p:cNvPr id="8" name="Ext icon bg 2"/>
          <p:cNvSpPr/>
          <p:nvPr/>
        </p:nvSpPr>
        <p:spPr>
          <a:xfrm>
            <a:off x="4613148" y="1645920"/>
            <a:ext cx="548640" cy="548640"/>
          </a:xfrm>
          <a:prstGeom prst="ellipse">
            <a:avLst/>
          </a:prstGeom>
          <a:solidFill>
            <a:schemeClr val="accent1"/>
          </a:solidFill>
          <a:ln/>
        </p:spPr>
      </p:sp>
      <p:pic>
        <p:nvPicPr>
          <p:cNvPr id="9" name="Image 1" descr="Any candidate generator plugs in">    </p:cNvPr>
          <p:cNvPicPr>
            <a:picLocks noChangeAspect="1"/>
          </p:cNvPicPr>
          <p:nvPr/>
        </p:nvPicPr>
        <p:blipFill>
          <a:blip r:embed="rId2"/>
          <a:stretch>
            <a:fillRect/>
          </a:stretch>
        </p:blipFill>
        <p:spPr>
          <a:xfrm>
            <a:off x="4750308" y="1783080"/>
            <a:ext cx="274320" cy="274320"/>
          </a:xfrm>
          <a:prstGeom prst="rect">
            <a:avLst/>
          </a:prstGeom>
        </p:spPr>
      </p:pic>
      <p:sp>
        <p:nvSpPr>
          <p:cNvPr id="10" name="Ext head 2"/>
          <p:cNvSpPr txBox="1"/>
          <p:nvPr/>
        </p:nvSpPr>
        <p:spPr>
          <a:xfrm>
            <a:off x="5298948" y="1572768"/>
            <a:ext cx="2377440" cy="694944"/>
          </a:xfrm>
          <a:prstGeom prst="rect">
            <a:avLst/>
          </a:prstGeom>
          <a:noFill/>
          <a:ln/>
        </p:spPr>
        <p:txBody>
          <a:bodyPr wrap="square" lIns="0" tIns="0" rIns="0" bIns="0" rtlCol="0" anchor="ctr"/>
          <a:lstStyle/>
          <a:p>
            <a:pPr indent="0" marL="0">
              <a:buNone/>
            </a:pPr>
            <a:r>
              <a:rPr lang="en-US" sz="1600" b="1" dirty="0">
                <a:solidFill>
                  <a:schemeClr val="tx1"/>
                </a:solidFill>
              </a:rPr>
              <a:t>Any candidate</a:t>
            </a:r>
            <a:endParaRPr lang="en-US" sz="1600" dirty="0"/>
          </a:p>
          <a:p>
            <a:pPr indent="0" marL="0">
              <a:buNone/>
            </a:pPr>
            <a:r>
              <a:rPr lang="en-US" sz="1600" b="1" dirty="0">
                <a:solidFill>
                  <a:schemeClr val="tx1"/>
                </a:solidFill>
              </a:rPr>
              <a:t>generator plugs in</a:t>
            </a:r>
            <a:endParaRPr lang="en-US" sz="1600" dirty="0"/>
          </a:p>
        </p:txBody>
      </p:sp>
      <p:sp>
        <p:nvSpPr>
          <p:cNvPr id="11" name="Ext card 3"/>
          <p:cNvSpPr/>
          <p:nvPr/>
        </p:nvSpPr>
        <p:spPr>
          <a:xfrm>
            <a:off x="8129016" y="1417320"/>
            <a:ext cx="3511296" cy="4572000"/>
          </a:xfrm>
          <a:prstGeom prst="roundRect">
            <a:avLst>
              <a:gd name="adj" fmla="val 3125"/>
            </a:avLst>
          </a:prstGeom>
          <a:solidFill>
            <a:schemeClr val="bg2"/>
          </a:solidFill>
          <a:ln/>
        </p:spPr>
      </p:sp>
      <p:sp>
        <p:nvSpPr>
          <p:cNvPr id="12" name="Ext icon bg 3"/>
          <p:cNvSpPr/>
          <p:nvPr/>
        </p:nvSpPr>
        <p:spPr>
          <a:xfrm>
            <a:off x="8403336" y="1645920"/>
            <a:ext cx="548640" cy="548640"/>
          </a:xfrm>
          <a:prstGeom prst="ellipse">
            <a:avLst/>
          </a:prstGeom>
          <a:solidFill>
            <a:schemeClr val="accent1"/>
          </a:solidFill>
          <a:ln/>
        </p:spPr>
      </p:sp>
      <p:pic>
        <p:nvPicPr>
          <p:cNvPr id="13" name="Image 2" descr="The protocol transfers to DL3DV">    </p:cNvPr>
          <p:cNvPicPr>
            <a:picLocks noChangeAspect="1"/>
          </p:cNvPicPr>
          <p:nvPr/>
        </p:nvPicPr>
        <p:blipFill>
          <a:blip r:embed="rId3"/>
          <a:stretch>
            <a:fillRect/>
          </a:stretch>
        </p:blipFill>
        <p:spPr>
          <a:xfrm>
            <a:off x="8540496" y="1783080"/>
            <a:ext cx="274320" cy="274320"/>
          </a:xfrm>
          <a:prstGeom prst="rect">
            <a:avLst/>
          </a:prstGeom>
        </p:spPr>
      </p:pic>
      <p:sp>
        <p:nvSpPr>
          <p:cNvPr id="14" name="Ext head 3"/>
          <p:cNvSpPr txBox="1"/>
          <p:nvPr/>
        </p:nvSpPr>
        <p:spPr>
          <a:xfrm>
            <a:off x="9089136" y="1572768"/>
            <a:ext cx="2377440" cy="694944"/>
          </a:xfrm>
          <a:prstGeom prst="rect">
            <a:avLst/>
          </a:prstGeom>
          <a:noFill/>
          <a:ln/>
        </p:spPr>
        <p:txBody>
          <a:bodyPr wrap="square" lIns="0" tIns="0" rIns="0" bIns="0" rtlCol="0" anchor="ctr"/>
          <a:lstStyle/>
          <a:p>
            <a:pPr indent="0" marL="0">
              <a:buNone/>
            </a:pPr>
            <a:r>
              <a:rPr lang="en-US" sz="1600" b="1" dirty="0">
                <a:solidFill>
                  <a:schemeClr val="tx1"/>
                </a:solidFill>
              </a:rPr>
              <a:t>The protocol</a:t>
            </a:r>
            <a:endParaRPr lang="en-US" sz="1600" dirty="0"/>
          </a:p>
          <a:p>
            <a:pPr indent="0" marL="0">
              <a:buNone/>
            </a:pPr>
            <a:r>
              <a:rPr lang="en-US" sz="1600" b="1" dirty="0">
                <a:solidFill>
                  <a:schemeClr val="tx1"/>
                </a:solidFill>
              </a:rPr>
              <a:t>transfers to DL3DV</a:t>
            </a:r>
            <a:endParaRPr lang="en-US" sz="1600" dirty="0"/>
          </a:p>
        </p:txBody>
      </p:sp>
      <p:sp>
        <p:nvSpPr>
          <p:cNvPr id="15" name="MM sub"/>
          <p:cNvSpPr txBox="1"/>
          <p:nvPr/>
        </p:nvSpPr>
        <p:spPr>
          <a:xfrm>
            <a:off x="822960" y="2468880"/>
            <a:ext cx="3017520" cy="320040"/>
          </a:xfrm>
          <a:prstGeom prst="rect">
            <a:avLst/>
          </a:prstGeom>
          <a:noFill/>
          <a:ln/>
        </p:spPr>
        <p:txBody>
          <a:bodyPr wrap="square" lIns="0" tIns="0" rIns="0" bIns="0" rtlCol="0" anchor="ctr"/>
          <a:lstStyle/>
          <a:p>
            <a:pPr indent="0" marL="0">
              <a:buNone/>
            </a:pPr>
            <a:r>
              <a:rPr lang="en-US" sz="1500" dirty="0">
                <a:solidFill>
                  <a:schemeClr val="tx1"/>
                </a:solidFill>
              </a:rPr>
              <a:t>Constraints passed in joint audits</a:t>
            </a:r>
            <a:endParaRPr lang="en-US" sz="1500" dirty="0"/>
          </a:p>
        </p:txBody>
      </p:sp>
      <p:graphicFrame>
        <p:nvGraphicFramePr>
          <p:cNvPr id="11" name="MM table"/>
          <p:cNvGraphicFramePr>
            <a:graphicFrameLocks noGrp="1"/>
          </p:cNvGraphicFramePr>
          <p:nvPr>
            <p:extLst>
              <p:ext uri="{D42A27DB-BD31-4B8C-83A1-F6EECF244321}">
                <p14:modId xmlns:p14="http://schemas.microsoft.com/office/powerpoint/2010/main" val="1579011935"/>
              </p:ext>
            </p:extLst>
          </p:nvPr>
        </p:nvGraphicFramePr>
        <p:xfrm>
          <a:off x="822960" y="2880360"/>
          <a:ext cx="2962656" cy="914400"/>
        </p:xfrm>
        <a:graphic>
          <a:graphicData uri="http://schemas.openxmlformats.org/drawingml/2006/table">
            <a:tbl>
              <a:tblPr/>
              <a:tblGrid>
                <a:gridCol w="914400"/>
                <a:gridCol w="1024128"/>
                <a:gridCol w="1024128"/>
              </a:tblGrid>
              <a:tr h="384048">
                <a:tc>
                  <a:txBody>
                    <a:bodyPr/>
                    <a:lstStyle/>
                    <a:p>
                      <a:pPr indent="0" marL="0">
                        <a:buNone/>
                      </a:pPr>
                      <a:endParaRPr lang="en-US" sz="12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b="1" dirty="0">
                          <a:solidFill>
                            <a:schemeClr val="accent4"/>
                          </a:solidFill>
                        </a:rPr>
                        <a:t>3 methods</a:t>
                      </a:r>
                      <a:endParaRPr lang="en-US" sz="1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b="1" dirty="0">
                          <a:solidFill>
                            <a:schemeClr val="accent4"/>
                          </a:solidFill>
                        </a:rPr>
                        <a:t>+ nerfacto</a:t>
                      </a:r>
                      <a:endParaRPr lang="en-US" sz="1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accent4"/>
                          </a:solidFill>
                        </a:rPr>
                        <a:t>RASS-48</a:t>
                      </a:r>
                      <a:endParaRPr lang="en-US" sz="15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4"/>
                          </a:solidFill>
                        </a:rPr>
                        <a:t>14/16</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4"/>
                          </a:solidFill>
                        </a:rPr>
                        <a:t>19/22</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r>
              <a:tr h="603504">
                <a:tc>
                  <a:txBody>
                    <a:bodyPr/>
                    <a:lstStyle/>
                    <a:p>
                      <a:pPr indent="0" marL="0">
                        <a:buNone/>
                      </a:pPr>
                      <a:r>
                        <a:rPr lang="en-US" sz="1500" b="1" dirty="0">
                          <a:solidFill>
                            <a:schemeClr val="tx1"/>
                          </a:solidFill>
                        </a:rPr>
                        <a:t>RASS-96</a:t>
                      </a:r>
                      <a:endParaRPr lang="en-US" sz="15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1"/>
                          </a:solidFill>
                        </a:rPr>
                        <a:t>16/16</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2400" b="1" dirty="0">
                          <a:solidFill>
                            <a:schemeClr val="accent1"/>
                          </a:solidFill>
                        </a:rPr>
                        <a:t>22/22</a:t>
                      </a:r>
                      <a:endParaRPr lang="en-US" sz="2400" dirty="0"/>
                    </a:p>
                  </a:txBody>
                  <a:tcPr marL="0" marR="0" marT="0" marB="0" anchor="ctr">
                    <a:lnL w="0" cap="flat" cmpd="sng" algn="ctr">
                      <a:noFill/>
                    </a:lnL>
                    <a:lnR w="0" cap="flat" cmpd="sng" algn="ctr">
                      <a:noFill/>
                    </a:lnR>
                    <a:lnT w="0" cap="flat" cmpd="sng" algn="ctr">
                      <a:noFill/>
                    </a:lnT>
                    <a:lnB w="0" cap="flat" cmpd="sng" algn="ctr">
                      <a:noFill/>
                    </a:lnB>
                    <a:solidFill>
                      <a:schemeClr val="bg2"/>
                    </a:solidFill>
                  </a:tcPr>
                </a:tc>
              </a:tr>
            </a:tbl>
          </a:graphicData>
        </a:graphic>
      </p:graphicFrame>
      <p:sp>
        <p:nvSpPr>
          <p:cNvPr id="17" name="MM tick 1"/>
          <p:cNvSpPr txBox="1"/>
          <p:nvPr/>
        </p:nvSpPr>
        <p:spPr>
          <a:xfrm>
            <a:off x="2688336" y="3867912"/>
            <a:ext cx="182880" cy="603504"/>
          </a:xfrm>
          <a:prstGeom prst="rect">
            <a:avLst/>
          </a:prstGeom>
          <a:noFill/>
          <a:ln/>
        </p:spPr>
        <p:txBody>
          <a:bodyPr wrap="square" lIns="0" tIns="0" rIns="0" bIns="0" rtlCol="0" anchor="ctr"/>
          <a:lstStyle/>
          <a:p>
            <a:pPr indent="0" marL="0">
              <a:buNone/>
            </a:pPr>
            <a:r>
              <a:rPr lang="en-US" sz="1600" b="1" dirty="0">
                <a:solidFill>
                  <a:schemeClr val="accent1"/>
                </a:solidFill>
              </a:rPr>
              <a:t>✓</a:t>
            </a:r>
            <a:endParaRPr lang="en-US" sz="1600" dirty="0"/>
          </a:p>
        </p:txBody>
      </p:sp>
      <p:sp>
        <p:nvSpPr>
          <p:cNvPr id="18" name="MM tick 2"/>
          <p:cNvSpPr txBox="1"/>
          <p:nvPr/>
        </p:nvSpPr>
        <p:spPr>
          <a:xfrm>
            <a:off x="3712464" y="3867912"/>
            <a:ext cx="182880" cy="603504"/>
          </a:xfrm>
          <a:prstGeom prst="rect">
            <a:avLst/>
          </a:prstGeom>
          <a:noFill/>
          <a:ln/>
        </p:spPr>
        <p:txBody>
          <a:bodyPr wrap="square" lIns="0" tIns="0" rIns="0" bIns="0" rtlCol="0" anchor="ctr"/>
          <a:lstStyle/>
          <a:p>
            <a:pPr indent="0" marL="0">
              <a:buNone/>
            </a:pPr>
            <a:r>
              <a:rPr lang="en-US" sz="1600" b="1" dirty="0">
                <a:solidFill>
                  <a:schemeClr val="accent1"/>
                </a:solidFill>
              </a:rPr>
              <a:t>✓</a:t>
            </a:r>
            <a:endParaRPr lang="en-US" sz="1600" dirty="0"/>
          </a:p>
        </p:txBody>
      </p:sp>
      <p:sp>
        <p:nvSpPr>
          <p:cNvPr id="19" name="MM desc"/>
          <p:cNvSpPr txBox="1"/>
          <p:nvPr/>
        </p:nvSpPr>
        <p:spPr>
          <a:xfrm>
            <a:off x="822960" y="4709160"/>
            <a:ext cx="2962656" cy="731520"/>
          </a:xfrm>
          <a:prstGeom prst="rect">
            <a:avLst/>
          </a:prstGeom>
          <a:noFill/>
          <a:ln/>
        </p:spPr>
        <p:txBody>
          <a:bodyPr wrap="square" lIns="0" tIns="0" rIns="0" bIns="0" rtlCol="0" anchor="t"/>
          <a:lstStyle/>
          <a:p>
            <a:pPr indent="0" marL="0">
              <a:buNone/>
            </a:pPr>
            <a:r>
              <a:rPr lang="en-US" sz="1500" dirty="0">
                <a:solidFill>
                  <a:schemeClr val="tx1"/>
                </a:solidFill>
              </a:rPr>
              <a:t>So RASS-96 is our subset</a:t>
            </a:r>
            <a:endParaRPr lang="en-US" sz="1500" dirty="0"/>
          </a:p>
          <a:p>
            <a:pPr indent="0" marL="0">
              <a:buNone/>
            </a:pPr>
            <a:r>
              <a:rPr lang="en-US" sz="1500" dirty="0">
                <a:solidFill>
                  <a:schemeClr val="tx1"/>
                </a:solidFill>
              </a:rPr>
              <a:t>for reported results.</a:t>
            </a:r>
            <a:endParaRPr lang="en-US" sz="1500" dirty="0"/>
          </a:p>
        </p:txBody>
      </p:sp>
      <p:sp>
        <p:nvSpPr>
          <p:cNvPr id="20" name="Gen sub"/>
          <p:cNvSpPr txBox="1"/>
          <p:nvPr/>
        </p:nvSpPr>
        <p:spPr>
          <a:xfrm>
            <a:off x="4613148" y="2468880"/>
            <a:ext cx="3017520" cy="320040"/>
          </a:xfrm>
          <a:prstGeom prst="rect">
            <a:avLst/>
          </a:prstGeom>
          <a:noFill/>
          <a:ln/>
        </p:spPr>
        <p:txBody>
          <a:bodyPr wrap="square" lIns="0" tIns="0" rIns="0" bIns="0" rtlCol="0" anchor="ctr"/>
          <a:lstStyle/>
          <a:p>
            <a:pPr indent="0" marL="0">
              <a:buNone/>
            </a:pPr>
            <a:r>
              <a:rPr lang="en-US" sz="1500" dirty="0">
                <a:solidFill>
                  <a:schemeClr val="tx1"/>
                </a:solidFill>
              </a:rPr>
              <a:t>Smallest certified size (scenes)</a:t>
            </a:r>
            <a:endParaRPr lang="en-US" sz="1500" dirty="0"/>
          </a:p>
        </p:txBody>
      </p:sp>
      <p:graphicFrame>
        <p:nvGraphicFramePr>
          <p:cNvPr id="21" name="Generator chart" descr="Smallest certified subset size: facility location 36, balanced 48, random 48"/>
          <p:cNvGraphicFramePr/>
          <p:nvPr/>
        </p:nvGraphicFramePr>
        <p:xfrm>
          <a:off x="4475988" y="2834640"/>
          <a:ext cx="3246120" cy="1600200"/>
        </p:xfrm>
        <a:graphic xmlns:a="http://schemas.openxmlformats.org/drawingml/2006/main">
          <a:graphicData uri="http://schemas.openxmlformats.org/drawingml/2006/chart">
            <c:chart xmlns:c="http://schemas.openxmlformats.org/drawingml/2006/chart" r:id="rId4"/>
          </a:graphicData>
        </a:graphic>
      </p:graphicFrame>
      <p:sp>
        <p:nvSpPr>
          <p:cNvPr id="22" name="Gen kcenter"/>
          <p:cNvSpPr txBox="1"/>
          <p:nvPr/>
        </p:nvSpPr>
        <p:spPr>
          <a:xfrm>
            <a:off x="4613148" y="4526280"/>
            <a:ext cx="3017520" cy="320040"/>
          </a:xfrm>
          <a:prstGeom prst="rect">
            <a:avLst/>
          </a:prstGeom>
          <a:noFill/>
          <a:ln/>
        </p:spPr>
        <p:txBody>
          <a:bodyPr wrap="square" lIns="0" tIns="0" rIns="0" bIns="0" rtlCol="0" anchor="ctr"/>
          <a:lstStyle/>
          <a:p>
            <a:pPr indent="0" marL="0">
              <a:buNone/>
            </a:pPr>
            <a:r>
              <a:rPr lang="en-US" sz="1500" b="1" dirty="0">
                <a:solidFill>
                  <a:srgbClr val="C27A00"/>
                </a:solidFill>
              </a:rPr>
              <a:t>✗ </a:t>
            </a:r>
            <a:pPr indent="0" marL="0">
              <a:buNone/>
            </a:pPr>
            <a:r>
              <a:rPr lang="en-US" sz="1500" b="1" dirty="0">
                <a:solidFill>
                  <a:schemeClr val="tx1"/>
                </a:solidFill>
              </a:rPr>
              <a:t>k-center fails up to 96</a:t>
            </a:r>
            <a:endParaRPr lang="en-US" sz="1500" dirty="0"/>
          </a:p>
        </p:txBody>
      </p:sp>
      <p:sp>
        <p:nvSpPr>
          <p:cNvPr id="23" name="Gen note"/>
          <p:cNvSpPr txBox="1"/>
          <p:nvPr/>
        </p:nvSpPr>
        <p:spPr>
          <a:xfrm>
            <a:off x="4613148" y="4937760"/>
            <a:ext cx="3017520" cy="594360"/>
          </a:xfrm>
          <a:prstGeom prst="rect">
            <a:avLst/>
          </a:prstGeom>
          <a:noFill/>
          <a:ln/>
        </p:spPr>
        <p:txBody>
          <a:bodyPr wrap="square" lIns="0" tIns="0" rIns="0" bIns="0" rtlCol="0" anchor="t"/>
          <a:lstStyle/>
          <a:p>
            <a:pPr indent="0" marL="0">
              <a:buNone/>
            </a:pPr>
            <a:r>
              <a:rPr lang="en-US" sz="1400" dirty="0">
                <a:solidFill>
                  <a:schemeClr val="accent4"/>
                </a:solidFill>
              </a:rPr>
              <a:t>Balanced also passes at 36 on an extended grid.</a:t>
            </a:r>
            <a:endParaRPr lang="en-US" sz="1400" dirty="0"/>
          </a:p>
        </p:txBody>
      </p:sp>
      <p:sp>
        <p:nvSpPr>
          <p:cNvPr id="24" name="DL3DV stat"/>
          <p:cNvSpPr txBox="1"/>
          <p:nvPr/>
        </p:nvSpPr>
        <p:spPr>
          <a:xfrm>
            <a:off x="8403336" y="2423160"/>
            <a:ext cx="2962656" cy="960120"/>
          </a:xfrm>
          <a:prstGeom prst="rect">
            <a:avLst/>
          </a:prstGeom>
          <a:noFill/>
          <a:ln/>
        </p:spPr>
        <p:txBody>
          <a:bodyPr wrap="square" lIns="0" tIns="0" rIns="0" bIns="0" rtlCol="0" anchor="ctr"/>
          <a:lstStyle/>
          <a:p>
            <a:pPr indent="0" marL="0">
              <a:buNone/>
            </a:pPr>
            <a:r>
              <a:rPr lang="en-US" sz="6000" b="1" dirty="0">
                <a:solidFill>
                  <a:schemeClr val="accent1"/>
                </a:solidFill>
              </a:rPr>
              <a:t>64</a:t>
            </a:r>
            <a:pPr indent="0" marL="0">
              <a:buNone/>
            </a:pPr>
            <a:r>
              <a:rPr lang="en-US" sz="3000" b="1" dirty="0">
                <a:solidFill>
                  <a:schemeClr val="accent1"/>
                </a:solidFill>
              </a:rPr>
              <a:t> / 140</a:t>
            </a:r>
            <a:endParaRPr lang="en-US" sz="6000" dirty="0"/>
          </a:p>
        </p:txBody>
      </p:sp>
      <p:sp>
        <p:nvSpPr>
          <p:cNvPr id="25" name="DL3DV desc"/>
          <p:cNvSpPr txBox="1"/>
          <p:nvPr/>
        </p:nvSpPr>
        <p:spPr>
          <a:xfrm>
            <a:off x="8403336" y="3474720"/>
            <a:ext cx="2962656" cy="731520"/>
          </a:xfrm>
          <a:prstGeom prst="rect">
            <a:avLst/>
          </a:prstGeom>
          <a:noFill/>
          <a:ln/>
        </p:spPr>
        <p:txBody>
          <a:bodyPr wrap="square" lIns="0" tIns="0" rIns="0" bIns="0" rtlCol="0" anchor="t"/>
          <a:lstStyle/>
          <a:p>
            <a:pPr indent="0" marL="0">
              <a:buNone/>
            </a:pPr>
            <a:r>
              <a:rPr lang="en-US" sz="1500" dirty="0">
                <a:solidFill>
                  <a:schemeClr val="tx1"/>
                </a:solidFill>
              </a:rPr>
              <a:t>DL3DV scenes certified for four methods (32 for one)</a:t>
            </a:r>
            <a:endParaRPr lang="en-US" sz="1500" dirty="0"/>
          </a:p>
        </p:txBody>
      </p:sp>
      <p:sp>
        <p:nvSpPr>
          <p:cNvPr id="26" name="DL3DV note"/>
          <p:cNvSpPr txBox="1"/>
          <p:nvPr/>
        </p:nvSpPr>
        <p:spPr>
          <a:xfrm>
            <a:off x="8403336" y="4343400"/>
            <a:ext cx="2962656" cy="731520"/>
          </a:xfrm>
          <a:prstGeom prst="rect">
            <a:avLst/>
          </a:prstGeom>
          <a:noFill/>
          <a:ln/>
        </p:spPr>
        <p:txBody>
          <a:bodyPr wrap="square" lIns="0" tIns="0" rIns="0" bIns="0" rtlCol="0" anchor="t"/>
          <a:lstStyle/>
          <a:p>
            <a:pPr indent="0" marL="0">
              <a:buNone/>
            </a:pPr>
            <a:r>
              <a:rPr lang="en-US" sz="1400" dirty="0">
                <a:solidFill>
                  <a:schemeClr val="accent4"/>
                </a:solidFill>
              </a:rPr>
              <a:t>Contract re-declared for DL3DV; proportional allocation, added post hoc.</a:t>
            </a:r>
            <a:endParaRPr lang="en-US" sz="1400" dirty="0"/>
          </a:p>
        </p:txBody>
      </p:sp>
      <p:sp>
        <p:nvSpPr>
          <p:cNvPr id="27" name="Fade 1"/>
          <p:cNvSpPr/>
          <p:nvPr/>
        </p:nvSpPr>
        <p:spPr>
          <a:xfrm>
            <a:off x="548640" y="1417320"/>
            <a:ext cx="3511296" cy="4572000"/>
          </a:xfrm>
          <a:prstGeom prst="roundRect">
            <a:avLst>
              <a:gd name="adj" fmla="val 3125"/>
            </a:avLst>
          </a:prstGeom>
          <a:solidFill>
            <a:schemeClr val="bg1">
              <a:alpha val="70000"/>
            </a:schemeClr>
          </a:solidFill>
          <a:ln/>
        </p:spPr>
      </p:sp>
      <p:sp>
        <p:nvSpPr>
          <p:cNvPr id="28" name="Fade 2"/>
          <p:cNvSpPr/>
          <p:nvPr/>
        </p:nvSpPr>
        <p:spPr>
          <a:xfrm>
            <a:off x="4338828" y="1417320"/>
            <a:ext cx="3511296" cy="4572000"/>
          </a:xfrm>
          <a:prstGeom prst="roundRect">
            <a:avLst>
              <a:gd name="adj" fmla="val 3125"/>
            </a:avLst>
          </a:prstGeom>
          <a:solidFill>
            <a:schemeClr val="bg1">
              <a:alpha val="70000"/>
            </a:schemeClr>
          </a:solidFill>
          <a:ln/>
        </p:spPr>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777240"/>
          </a:xfrm>
          <a:prstGeom prst="rect">
            <a:avLst/>
          </a:prstGeom>
          <a:noFill/>
          <a:ln/>
        </p:spPr>
        <p:txBody>
          <a:bodyPr wrap="square" lIns="0" tIns="0" rIns="0" bIns="0" rtlCol="0" anchor="ctr"/>
          <a:lstStyle/>
          <a:p>
            <a:pPr algn="l" indent="0" marL="0">
              <a:buNone/>
            </a:pPr>
            <a:r>
              <a:rPr lang="en-US" sz="3200" b="1" dirty="0">
                <a:solidFill>
                  <a:schemeClr val="bg1"/>
                </a:solidFill>
              </a:rPr>
              <a:t>Certify the procedure, not one lucky subset</a:t>
            </a:r>
            <a:endParaRPr lang="en-US" sz="3200" dirty="0"/>
          </a:p>
        </p:txBody>
      </p:sp>
      <p:sp>
        <p:nvSpPr>
          <p:cNvPr id="3" name="Use card 1"/>
          <p:cNvSpPr/>
          <p:nvPr/>
        </p:nvSpPr>
        <p:spPr>
          <a:xfrm>
            <a:off x="548640" y="1463040"/>
            <a:ext cx="5408676" cy="1737360"/>
          </a:xfrm>
          <a:prstGeom prst="roundRect">
            <a:avLst>
              <a:gd name="adj" fmla="val 6316"/>
            </a:avLst>
          </a:prstGeom>
          <a:solidFill>
            <a:schemeClr val="accent6"/>
          </a:solidFill>
          <a:ln/>
        </p:spPr>
      </p:sp>
      <p:sp>
        <p:nvSpPr>
          <p:cNvPr id="4" name="Use name 1"/>
          <p:cNvSpPr txBox="1"/>
          <p:nvPr/>
        </p:nvSpPr>
        <p:spPr>
          <a:xfrm>
            <a:off x="868680" y="1618488"/>
            <a:ext cx="4754880" cy="640080"/>
          </a:xfrm>
          <a:prstGeom prst="rect">
            <a:avLst/>
          </a:prstGeom>
          <a:noFill/>
          <a:ln/>
        </p:spPr>
        <p:txBody>
          <a:bodyPr wrap="square" lIns="0" tIns="0" rIns="0" bIns="0" rtlCol="0" anchor="ctr"/>
          <a:lstStyle/>
          <a:p>
            <a:pPr indent="0" marL="0">
              <a:buNone/>
            </a:pPr>
            <a:r>
              <a:rPr lang="en-US" sz="3600" b="1" dirty="0">
                <a:solidFill>
                  <a:schemeClr val="bg1"/>
                </a:solidFill>
              </a:rPr>
              <a:t>RASS-48</a:t>
            </a:r>
            <a:endParaRPr lang="en-US" sz="3600" dirty="0"/>
          </a:p>
        </p:txBody>
      </p:sp>
      <p:sp>
        <p:nvSpPr>
          <p:cNvPr id="5" name="Use role 1"/>
          <p:cNvSpPr txBox="1"/>
          <p:nvPr/>
        </p:nvSpPr>
        <p:spPr>
          <a:xfrm>
            <a:off x="868680" y="2258568"/>
            <a:ext cx="4754880" cy="365760"/>
          </a:xfrm>
          <a:prstGeom prst="rect">
            <a:avLst/>
          </a:prstGeom>
          <a:noFill/>
          <a:ln/>
        </p:spPr>
        <p:txBody>
          <a:bodyPr wrap="square" lIns="0" tIns="0" rIns="0" bIns="0" rtlCol="0" anchor="ctr"/>
          <a:lstStyle/>
          <a:p>
            <a:pPr indent="0" marL="0">
              <a:buNone/>
            </a:pPr>
            <a:r>
              <a:rPr lang="en-US" sz="1800" b="1" i="1" dirty="0">
                <a:solidFill>
                  <a:schemeClr val="accent3"/>
                </a:solidFill>
              </a:rPr>
              <a:t>Screening &amp; ablations</a:t>
            </a:r>
            <a:endParaRPr lang="en-US" sz="1800" dirty="0"/>
          </a:p>
        </p:txBody>
      </p:sp>
      <p:sp>
        <p:nvSpPr>
          <p:cNvPr id="6" name="Use detail 1"/>
          <p:cNvSpPr txBox="1"/>
          <p:nvPr/>
        </p:nvSpPr>
        <p:spPr>
          <a:xfrm>
            <a:off x="868680" y="2624328"/>
            <a:ext cx="4846320" cy="365760"/>
          </a:xfrm>
          <a:prstGeom prst="rect">
            <a:avLst/>
          </a:prstGeom>
          <a:noFill/>
          <a:ln/>
        </p:spPr>
        <p:txBody>
          <a:bodyPr wrap="square" lIns="0" tIns="0" rIns="0" bIns="0" rtlCol="0" anchor="ctr"/>
          <a:lstStyle/>
          <a:p>
            <a:pPr indent="0" marL="0">
              <a:buNone/>
            </a:pPr>
            <a:r>
              <a:rPr lang="en-US" sz="1500" dirty="0">
                <a:solidFill>
                  <a:schemeClr val="accent5"/>
                </a:solidFill>
              </a:rPr>
              <a:t>Smallest evaluated budget with LCB ≥ 0.08</a:t>
            </a:r>
            <a:endParaRPr lang="en-US" sz="1500" dirty="0"/>
          </a:p>
        </p:txBody>
      </p:sp>
      <p:sp>
        <p:nvSpPr>
          <p:cNvPr id="7" name="Use card 2"/>
          <p:cNvSpPr/>
          <p:nvPr/>
        </p:nvSpPr>
        <p:spPr>
          <a:xfrm>
            <a:off x="6231636" y="1463040"/>
            <a:ext cx="5408676" cy="1737360"/>
          </a:xfrm>
          <a:prstGeom prst="roundRect">
            <a:avLst>
              <a:gd name="adj" fmla="val 6316"/>
            </a:avLst>
          </a:prstGeom>
          <a:solidFill>
            <a:schemeClr val="accent6"/>
          </a:solidFill>
          <a:ln/>
        </p:spPr>
      </p:sp>
      <p:sp>
        <p:nvSpPr>
          <p:cNvPr id="8" name="Use name 2"/>
          <p:cNvSpPr txBox="1"/>
          <p:nvPr/>
        </p:nvSpPr>
        <p:spPr>
          <a:xfrm>
            <a:off x="6551676" y="1618488"/>
            <a:ext cx="4754880" cy="640080"/>
          </a:xfrm>
          <a:prstGeom prst="rect">
            <a:avLst/>
          </a:prstGeom>
          <a:noFill/>
          <a:ln/>
        </p:spPr>
        <p:txBody>
          <a:bodyPr wrap="square" lIns="0" tIns="0" rIns="0" bIns="0" rtlCol="0" anchor="ctr"/>
          <a:lstStyle/>
          <a:p>
            <a:pPr indent="0" marL="0">
              <a:buNone/>
            </a:pPr>
            <a:r>
              <a:rPr lang="en-US" sz="3600" b="1" dirty="0">
                <a:solidFill>
                  <a:schemeClr val="bg1"/>
                </a:solidFill>
              </a:rPr>
              <a:t>RASS-96</a:t>
            </a:r>
            <a:endParaRPr lang="en-US" sz="3600" dirty="0"/>
          </a:p>
        </p:txBody>
      </p:sp>
      <p:sp>
        <p:nvSpPr>
          <p:cNvPr id="9" name="Use role 2"/>
          <p:cNvSpPr txBox="1"/>
          <p:nvPr/>
        </p:nvSpPr>
        <p:spPr>
          <a:xfrm>
            <a:off x="6551676" y="2258568"/>
            <a:ext cx="4754880" cy="365760"/>
          </a:xfrm>
          <a:prstGeom prst="rect">
            <a:avLst/>
          </a:prstGeom>
          <a:noFill/>
          <a:ln/>
        </p:spPr>
        <p:txBody>
          <a:bodyPr wrap="square" lIns="0" tIns="0" rIns="0" bIns="0" rtlCol="0" anchor="ctr"/>
          <a:lstStyle/>
          <a:p>
            <a:pPr indent="0" marL="0">
              <a:buNone/>
            </a:pPr>
            <a:r>
              <a:rPr lang="en-US" sz="1800" b="1" i="1" dirty="0">
                <a:solidFill>
                  <a:schemeClr val="accent3"/>
                </a:solidFill>
              </a:rPr>
              <a:t>Compact reporting</a:t>
            </a:r>
            <a:endParaRPr lang="en-US" sz="1800" dirty="0"/>
          </a:p>
        </p:txBody>
      </p:sp>
      <p:sp>
        <p:nvSpPr>
          <p:cNvPr id="10" name="Use detail 2"/>
          <p:cNvSpPr txBox="1"/>
          <p:nvPr/>
        </p:nvSpPr>
        <p:spPr>
          <a:xfrm>
            <a:off x="6551676" y="2624328"/>
            <a:ext cx="4846320" cy="365760"/>
          </a:xfrm>
          <a:prstGeom prst="rect">
            <a:avLst/>
          </a:prstGeom>
          <a:noFill/>
          <a:ln/>
        </p:spPr>
        <p:txBody>
          <a:bodyPr wrap="square" lIns="0" tIns="0" rIns="0" bIns="0" rtlCol="0" anchor="ctr"/>
          <a:lstStyle/>
          <a:p>
            <a:pPr indent="0" marL="0">
              <a:buNone/>
            </a:pPr>
            <a:r>
              <a:rPr lang="en-US" sz="1500" dirty="0">
                <a:solidFill>
                  <a:schemeClr val="accent5"/>
                </a:solidFill>
              </a:rPr>
              <a:t>LCB ≥ 0.20; passes the 3- and 4-method joint audits</a:t>
            </a:r>
            <a:endParaRPr lang="en-US" sz="1500" dirty="0"/>
          </a:p>
        </p:txBody>
      </p:sp>
      <p:sp>
        <p:nvSpPr>
          <p:cNvPr id="11" name="Usage"/>
          <p:cNvSpPr txBox="1"/>
          <p:nvPr/>
        </p:nvSpPr>
        <p:spPr>
          <a:xfrm>
            <a:off x="548640" y="3566160"/>
            <a:ext cx="9052560" cy="731520"/>
          </a:xfrm>
          <a:prstGeom prst="rect">
            <a:avLst/>
          </a:prstGeom>
          <a:noFill/>
          <a:ln/>
        </p:spPr>
        <p:txBody>
          <a:bodyPr wrap="square" lIns="0" tIns="0" rIns="0" bIns="0" rtlCol="0" anchor="t"/>
          <a:lstStyle/>
          <a:p>
            <a:pPr indent="0" marL="0">
              <a:buNone/>
            </a:pPr>
            <a:r>
              <a:rPr lang="en-US" sz="1800" b="1" dirty="0">
                <a:solidFill>
                  <a:schemeClr val="accent3"/>
                </a:solidFill>
              </a:rPr>
              <a:t>How to use: </a:t>
            </a:r>
            <a:pPr indent="0" marL="0">
              <a:buNone/>
            </a:pPr>
            <a:r>
              <a:rPr lang="en-US" sz="1800" dirty="0">
                <a:solidFill>
                  <a:schemeClr val="bg1"/>
                </a:solidFill>
              </a:rPr>
              <a:t>train only on RASS-48 or RASS-96, compare with our released logs on the same scenes, and report the subset version.</a:t>
            </a:r>
            <a:endParaRPr lang="en-US" sz="1800" dirty="0"/>
          </a:p>
        </p:txBody>
      </p:sp>
      <p:pic>
        <p:nvPicPr>
          <p:cNvPr id="12" name="Image 0" descr="github.com/GCVCG/RASS">    </p:cNvPr>
          <p:cNvPicPr>
            <a:picLocks noChangeAspect="1"/>
          </p:cNvPicPr>
          <p:nvPr/>
        </p:nvPicPr>
        <p:blipFill>
          <a:blip r:embed="rId1"/>
          <a:stretch>
            <a:fillRect/>
          </a:stretch>
        </p:blipFill>
        <p:spPr>
          <a:xfrm>
            <a:off x="548640" y="4572000"/>
            <a:ext cx="329184" cy="329184"/>
          </a:xfrm>
          <a:prstGeom prst="rect">
            <a:avLst/>
          </a:prstGeom>
        </p:spPr>
      </p:pic>
      <p:sp>
        <p:nvSpPr>
          <p:cNvPr id="13" name="Link 1">
            <a:hlinkClick r:id="rId2" tooltip=""/>
          </p:cNvPr>
          <p:cNvSpPr txBox="1"/>
          <p:nvPr/>
        </p:nvSpPr>
        <p:spPr>
          <a:xfrm>
            <a:off x="1005840" y="4553712"/>
            <a:ext cx="7315200" cy="365760"/>
          </a:xfrm>
          <a:prstGeom prst="rect">
            <a:avLst/>
          </a:prstGeom>
          <a:noFill/>
          <a:ln/>
        </p:spPr>
        <p:txBody>
          <a:bodyPr wrap="square" lIns="0" tIns="0" rIns="0" bIns="0" rtlCol="0" anchor="ctr"/>
          <a:lstStyle/>
          <a:p>
            <a:pPr indent="0" marL="0">
              <a:buNone/>
            </a:pPr>
            <a:r>
              <a:rPr lang="en-US" sz="16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github.com/GCVCG/RASS</a:t>
            </a:r>
            <a:endParaRPr lang="en-US" sz="1600" dirty="0"/>
          </a:p>
        </p:txBody>
      </p:sp>
      <p:pic>
        <p:nvPicPr>
          <p:cNvPr id="14" name="Image 1" descr="kaggle.com/datasets/nobodyeh/rass-nerf-benchmark-artifact">    </p:cNvPr>
          <p:cNvPicPr>
            <a:picLocks noChangeAspect="1"/>
          </p:cNvPicPr>
          <p:nvPr/>
        </p:nvPicPr>
        <p:blipFill>
          <a:blip r:embed="rId3"/>
          <a:stretch>
            <a:fillRect/>
          </a:stretch>
        </p:blipFill>
        <p:spPr>
          <a:xfrm>
            <a:off x="548640" y="5029200"/>
            <a:ext cx="329184" cy="329184"/>
          </a:xfrm>
          <a:prstGeom prst="rect">
            <a:avLst/>
          </a:prstGeom>
        </p:spPr>
      </p:pic>
      <p:sp>
        <p:nvSpPr>
          <p:cNvPr id="15" name="Link 2">
            <a:hlinkClick r:id="rId4" tooltip=""/>
          </p:cNvPr>
          <p:cNvSpPr txBox="1"/>
          <p:nvPr/>
        </p:nvSpPr>
        <p:spPr>
          <a:xfrm>
            <a:off x="1005840" y="5010912"/>
            <a:ext cx="7315200" cy="365760"/>
          </a:xfrm>
          <a:prstGeom prst="rect">
            <a:avLst/>
          </a:prstGeom>
          <a:noFill/>
          <a:ln/>
        </p:spPr>
        <p:txBody>
          <a:bodyPr wrap="square" lIns="0" tIns="0" rIns="0" bIns="0" rtlCol="0" anchor="ctr"/>
          <a:lstStyle/>
          <a:p>
            <a:pPr indent="0" marL="0">
              <a:buNone/>
            </a:pPr>
            <a:r>
              <a:rPr lang="en-US" sz="1600" u="sng" dirty="0">
                <a:solidFill>
                  <a:schemeClr val="accent5"/>
                </a:solidFill>
                <a:hlinkClick r:id="rId4" invalidUrl="" action="" tgtFrame="" tooltip="" history="1" highlightClick="0" endSnd="0">
                  <a:extLst>
                    <a:ext uri="{A12FA001-AC4F-418D-AE19-62706E023703}">
                      <ahyp:hlinkClr xmlns:ahyp="http://schemas.microsoft.com/office/drawing/2018/hyperlinkcolor" val="tx"/>
                    </a:ext>
                  </a:extLst>
                </a:hlinkClick>
              </a:rPr>
              <a:t>kaggle.com/datasets/nobodyeh/rass-nerf-benchmark-artifact</a:t>
            </a:r>
            <a:endParaRPr lang="en-US" sz="1600" dirty="0"/>
          </a:p>
        </p:txBody>
      </p:sp>
      <p:sp>
        <p:nvSpPr>
          <p:cNvPr id="16" name="Thanks"/>
          <p:cNvSpPr txBox="1"/>
          <p:nvPr/>
        </p:nvSpPr>
        <p:spPr>
          <a:xfrm>
            <a:off x="548640" y="5760720"/>
            <a:ext cx="5486400" cy="502920"/>
          </a:xfrm>
          <a:prstGeom prst="rect">
            <a:avLst/>
          </a:prstGeom>
          <a:noFill/>
          <a:ln/>
        </p:spPr>
        <p:txBody>
          <a:bodyPr wrap="square" lIns="0" tIns="0" rIns="0" bIns="0" rtlCol="0" anchor="ctr"/>
          <a:lstStyle/>
          <a:p>
            <a:pPr indent="0" marL="0">
              <a:buNone/>
            </a:pPr>
            <a:r>
              <a:rPr lang="en-US" sz="2400" b="1" dirty="0">
                <a:solidFill>
                  <a:schemeClr val="accent3"/>
                </a:solidFill>
              </a:rPr>
              <a:t>Thank you</a:t>
            </a:r>
            <a:endParaRPr lang="en-US" sz="2400" dirty="0"/>
          </a:p>
        </p:txBody>
      </p:sp>
      <p:sp>
        <p:nvSpPr>
          <p:cNvPr id="17" name="QR card"/>
          <p:cNvSpPr/>
          <p:nvPr/>
        </p:nvSpPr>
        <p:spPr>
          <a:xfrm>
            <a:off x="9921240" y="3566160"/>
            <a:ext cx="1719072" cy="2148840"/>
          </a:xfrm>
          <a:prstGeom prst="roundRect">
            <a:avLst>
              <a:gd name="adj" fmla="val 6383"/>
            </a:avLst>
          </a:prstGeom>
          <a:solidFill>
            <a:schemeClr val="bg1"/>
          </a:solidFill>
          <a:ln/>
        </p:spPr>
      </p:sp>
      <p:pic>
        <p:nvPicPr>
          <p:cNvPr id="18" name="QR code" descr="QR code linking to github.com/GCVCG/RASS">    </p:cNvPr>
          <p:cNvPicPr>
            <a:picLocks noChangeAspect="1"/>
          </p:cNvPicPr>
          <p:nvPr/>
        </p:nvPicPr>
        <p:blipFill>
          <a:blip r:embed="rId5"/>
          <a:stretch>
            <a:fillRect/>
          </a:stretch>
        </p:blipFill>
        <p:spPr>
          <a:xfrm>
            <a:off x="10049256" y="3657600"/>
            <a:ext cx="1463040" cy="1463040"/>
          </a:xfrm>
          <a:prstGeom prst="rect">
            <a:avLst/>
          </a:prstGeom>
        </p:spPr>
      </p:pic>
      <p:sp>
        <p:nvSpPr>
          <p:cNvPr id="19" name="QR caption"/>
          <p:cNvSpPr txBox="1"/>
          <p:nvPr/>
        </p:nvSpPr>
        <p:spPr>
          <a:xfrm>
            <a:off x="9921240" y="5230368"/>
            <a:ext cx="1719072" cy="365760"/>
          </a:xfrm>
          <a:prstGeom prst="rect">
            <a:avLst/>
          </a:prstGeom>
          <a:noFill/>
          <a:ln/>
        </p:spPr>
        <p:txBody>
          <a:bodyPr wrap="square" lIns="0" tIns="0" rIns="0" bIns="0" rtlCol="0" anchor="ctr"/>
          <a:lstStyle/>
          <a:p>
            <a:pPr algn="ctr" indent="0" marL="0">
              <a:buNone/>
            </a:pPr>
            <a:r>
              <a:rPr lang="en-US" sz="1400" b="1" dirty="0">
                <a:solidFill>
                  <a:schemeClr val="tx2"/>
                </a:solidFill>
              </a:rPr>
              <a:t>Code &amp; data</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RASS Audit">
  <a:themeElements>
    <a:clrScheme name="RASS Audit">
      <a:dk1>
        <a:srgbClr val="17212B"/>
      </a:dk1>
      <a:lt1>
        <a:srgbClr val="FFFFFF"/>
      </a:lt1>
      <a:dk2>
        <a:srgbClr val="10313A"/>
      </a:dk2>
      <a:lt2>
        <a:srgbClr val="EEF3F4"/>
      </a:lt2>
      <a:accent1>
        <a:srgbClr val="1F8A80"/>
      </a:accent1>
      <a:accent2>
        <a:srgbClr val="E4572E"/>
      </a:accent2>
      <a:accent3>
        <a:srgbClr val="F2A541"/>
      </a:accent3>
      <a:accent4>
        <a:srgbClr val="5B6B78"/>
      </a:accent4>
      <a:accent5>
        <a:srgbClr val="7FC8BF"/>
      </a:accent5>
      <a:accent6>
        <a:srgbClr val="2E4756"/>
      </a:accent6>
      <a:hlink>
        <a:srgbClr val="1F8A80"/>
      </a:hlink>
      <a:folHlink>
        <a:srgbClr val="5B6B78"/>
      </a:folHlink>
    </a:clrScheme>
    <a:fontScheme name="RASS Audit">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RASS: Risk-Audited Budget Selection for Compact NeRF Benchmark Subsets</dc:title>
  <dc:subject>PptxGenJS Presentation</dc:subject>
  <dc:creator>Ahmad AlMughrabi, Flavià Serret, Ricardo Marques, Petia Radeva</dc:creator>
  <cp:lastModifiedBy>Ahmad AlMughrabi, Flavià Serret, Ricardo Marques, Petia Radeva</cp:lastModifiedBy>
  <cp:revision>1</cp:revision>
  <dcterms:created xsi:type="dcterms:W3CDTF">2026-10-10T10:13:13Z</dcterms:created>
  <dcterms:modified xsi:type="dcterms:W3CDTF">2026-10-10T10:13:13Z</dcterms:modified>
</cp:coreProperties>
</file>