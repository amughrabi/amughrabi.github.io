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6312d19-cf9c-76cb-6c23-cedcde6f6484}">
          <p14:sldIdLst>
            <p14:sldId id="256"/>
          </p14:sldIdLst>
        </p14:section>
        <p14:section name="Problem" id="{7e0c214e-30e0-39e0-39b8-3425dee63a2f}">
          <p14:sldIdLst>
            <p14:sldId id="257"/>
          </p14:sldIdLst>
        </p14:section>
        <p14:section name="Method" id="{4064741d-ee50-cea0-b0b8-3ebec14a954e}">
          <p14:sldIdLst>
            <p14:sldId id="258"/>
          </p14:sldIdLst>
        </p14:section>
        <p14:section name="Results" id="{90ff4beb-0061-403f-20c6-26e62213477c}">
          <p14:sldIdLst>
            <p14:sldId id="259"/>
            <p14:sldId id="260"/>
            <p14:sldId id="261"/>
            <p14:sldId id="262"/>
          </p14:sldIdLst>
        </p14:section>
        <p14:section name="Extensions" id="{6285a4d1-8b72-00fd-c962-44d5a64b05d5}">
          <p14:sldIdLst>
            <p14:sldId id="263"/>
            <p14:sldId id="264"/>
            <p14:sldId id="265"/>
          </p14:sldIdLst>
        </p14:section>
        <p14:section name="Closing" id="{75bf960d-d9fc-4695-334f-844ee48a596e}">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NeRF researcher knows this problem: testing a new idea properly means training thousands of scenes.
</a:t>
            </a:r>
          </a:p>
          <a:p>
            <a:r>
              <a:rPr lang="en-US" dirty="0"/>
              <a:t>Today I will show how 48 scenes can stand in for 3,521, and how we check that this is not luck.
</a:t>
            </a:r>
          </a:p>
          <a:p>
            <a:r>
              <a:rPr lang="en-US" dirty="0"/>
              <a:t>I am Ahmad AlMughrabi, and this is RASS, joint work with my co-authors in Barcelona.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our Nutrition5k benchmark, every experiment means 3,521 trainings, so most people test on a small subset.
</a:t>
            </a:r>
          </a:p>
          <a:p>
            <a:r>
              <a:rPr lang="en-US" dirty="0"/>
              <a:t>But a small subset is like one spoonful of soup: it can fool you. On the right are two real subsets. In the first, the averages match, but the amber curve drifts from the black one. That is tail shift. In the second, PSNR matches, but SSIM and LPIPS cross the red line. That is metric leakage. And even a passing subset may just be lucky.
</a:t>
            </a:r>
          </a:p>
          <a:p>
            <a:r>
              <a:rPr lang="en-US" dirty="0"/>
              <a:t>So what is the smallest subset we can trust?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key idea: instead of trusting one subset, we test the process that makes them.
</a:t>
            </a:r>
          </a:p>
          <a:p>
            <a:r>
              <a:rPr lang="en-US" dirty="0"/>
              <a:t>Step one, we group the scenes into six regimes. Step two, for each size, we draw 400 subsets with equal scenes per regime. Step three, each must pass six checks on Zip-NeRF scores: three on averages, and three on distributions, the KS checks.
</a:t>
            </a:r>
          </a:p>
          <a:p>
            <a:r>
              <a:rPr lang="en-US" dirty="0"/>
              <a:t>Step four, in the dark box, is the heart of RASS: a 95% lower bound on the pass rate. If even this pessimistic number beats our target, the size is certified.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it is at 48 scenes. Each square on the left is one subset. The 88 teal squares pass everything. The 7 amber ones match the averages but fail KS, so the tail shift is caught. The grey ones miss an average.
</a:t>
            </a:r>
          </a:p>
          <a:p>
            <a:r>
              <a:rPr lang="en-US" dirty="0"/>
              <a:t>In the dark box, even the lower bound, 0.182, beats our target of 0.08. So 48 scenes are certified, and we release one passing subset.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Repeating this for every size gives this chart: the teal pass rate, its red lower bound, and the dashed target.
</a:t>
            </a:r>
          </a:p>
          <a:p>
            <a:r>
              <a:rPr lang="en-US" dirty="0"/>
              <a:t>At the red circle, our smallest tested size, 48 scenes, already passes. That is RASS-48, on the right, for quick tests and ablations.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Need more confidence? Raise the target to 0.20, and the red line first crosses it at 96 scenes.
</a:t>
            </a:r>
          </a:p>
          <a:p>
            <a:r>
              <a:rPr lang="en-US" dirty="0"/>
              <a:t>That is RASS-96: twice the scenes, a stronger guarantee, for results you report.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RASS-48 subset we release. Each bar shows how much of its allowed gap it uses. All six stay under the red limit, the closest at 80 percent, with 73 times fewer scenes.
</a:t>
            </a:r>
          </a:p>
          <a:p>
            <a:r>
              <a:rPr lang="en-US" dirty="0"/>
              <a:t>One caveat: the guarantee is for the whole benchmark, not each regime.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a benchmark tool must work beyond our own setup. First, other methods: in a joint audit, every method must pass on the same subset.
</a:t>
            </a:r>
          </a:p>
          <a:p>
            <a:r>
              <a:rPr lang="en-US" dirty="0"/>
              <a:t>RASS-48 passes 14 of 16 checks with three methods. RASS-96, in teal, passes all 16, and all 22 with nerfacto.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other ways to pick subsets. Random picking also passes at 48, but there our balanced picking, the dark teal bar, finds 88 passing subsets instead of 55.
</a:t>
            </a:r>
          </a:p>
          <a:p>
            <a:r>
              <a:rPr lang="en-US" dirty="0"/>
              <a:t>Facility location reaches 36, but our re-run is unstable, and k-center fails up to 96: covering the space is not enough.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a new dataset: on DL3DV-140, with its own tolerances, RASS certifies 64 of 140 scenes for four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train on RASS-48 to test ideas, or on RASS-96 to report results, and compare with our released scores on the same scenes. It will not replace a full leaderboard, but it makes everyday experiments far cheaper.
</a:t>
            </a:r>
          </a:p>
          <a:p>
            <a:r>
              <a:rPr lang="en-US" dirty="0"/>
              <a:t>Next time you shrink a benchmark, audit it. Thank you.</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031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600200"/>
            <a:ext cx="5852160" cy="1097280"/>
          </a:xfrm>
          <a:prstGeom prst="rect">
            <a:avLst/>
          </a:prstGeom>
          <a:noFill/>
          <a:ln/>
        </p:spPr>
        <p:txBody>
          <a:bodyPr wrap="square" rtlCol="0"/>
          <a:lstStyle>
            <a:lvl1pPr algn="l" indent="0" marL="0">
              <a:buNone/>
              <a:defRPr lang="en-US" sz="7200" b="1" dirty="0">
                <a:solidFill>
                  <a:srgbClr val="FFFFFF"/>
                </a:solidFill>
                <a:latin typeface="Arial" pitchFamily="34" charset="0"/>
                <a:ea typeface="Arial" pitchFamily="34" charset="-122"/>
                <a:cs typeface="Arial" pitchFamily="34" charset="-120"/>
              </a:defRPr>
            </a:lvl1pPr>
          </a:lstStyle>
          <a:p>
            <a:pPr algn="l" indent="0" marL="0">
              <a:buNone/>
            </a:pPr>
            <a:endParaRPr lang="en-US" sz="7200" dirty="0"/>
          </a:p>
        </p:txBody>
      </p:sp>
      <p:sp>
        <p:nvSpPr>
          <p:cNvPr id="3" name="Text 0"/>
          <p:cNvSpPr/>
          <p:nvPr>
            <p:ph idx="101" type="body" hasCustomPrompt="1"/>
          </p:nvPr>
        </p:nvSpPr>
        <p:spPr>
          <a:xfrm>
            <a:off x="548640" y="2743200"/>
            <a:ext cx="5852160" cy="914400"/>
          </a:xfrm>
          <a:prstGeom prst="rect">
            <a:avLst/>
          </a:prstGeom>
          <a:noFill/>
          <a:ln/>
        </p:spPr>
        <p:txBody>
          <a:bodyPr wrap="square" rtlCol="0"/>
          <a:lstStyle>
            <a:lvl1pPr indent="0" marL="0">
              <a:buNone/>
              <a:defRPr lang="en-US" sz="2400" dirty="0">
                <a:solidFill>
                  <a:srgbClr val="7FC8BF"/>
                </a:solidFill>
                <a:latin typeface="Arial" pitchFamily="34" charset="0"/>
                <a:ea typeface="Arial" pitchFamily="34" charset="-122"/>
                <a:cs typeface="Arial" pitchFamily="34" charset="-120"/>
              </a:defRPr>
            </a:lvl1pPr>
          </a:lstStyle>
          <a:p>
            <a:pPr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rtlCol="0"/>
          <a:lstStyle>
            <a:lvl1pPr algn="l" indent="0" marL="0">
              <a:buNone/>
              <a:defRPr lang="en-US" sz="3000" b="1" dirty="0">
                <a:solidFill>
                  <a:srgbClr val="17212B"/>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3" name="Text 0"/>
          <p:cNvSpPr/>
          <p:nvPr/>
        </p:nvSpPr>
        <p:spPr>
          <a:xfrm>
            <a:off x="548640" y="6400800"/>
            <a:ext cx="4572000" cy="274320"/>
          </a:xfrm>
          <a:prstGeom prst="rect">
            <a:avLst/>
          </a:prstGeom>
          <a:noFill/>
          <a:ln/>
        </p:spPr>
        <p:txBody>
          <a:bodyPr wrap="square" lIns="0" tIns="0" rIns="0" bIns="0" rtlCol="0" anchor="ctr"/>
          <a:lstStyle/>
          <a:p>
            <a:pPr indent="0" marL="0">
              <a:buNone/>
            </a:pPr>
            <a:r>
              <a:rPr lang="en-US" sz="1000" dirty="0">
                <a:solidFill>
                  <a:srgbClr val="5B6B78"/>
                </a:solidFill>
                <a:latin typeface="Arial" pitchFamily="34" charset="0"/>
                <a:ea typeface="Arial" pitchFamily="34" charset="-122"/>
                <a:cs typeface="Arial" pitchFamily="34" charset="-120"/>
              </a:rPr>
              <a:t>RASS · NeurIPS 2026</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Arial"/>
                <a:ea typeface="Arial"/>
                <a:cs typeface="Aria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rgbClr val="1031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rtlCol="0"/>
          <a:lstStyle>
            <a:lvl1pPr algn="l" indent="0" marL="0">
              <a:buNone/>
              <a:defRPr lang="en-US" sz="3000" b="1" dirty="0">
                <a:solidFill>
                  <a:srgbClr val="FFFFFF"/>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3" name="Text 0"/>
          <p:cNvSpPr/>
          <p:nvPr/>
        </p:nvSpPr>
        <p:spPr>
          <a:xfrm>
            <a:off x="548640" y="6400800"/>
            <a:ext cx="4572000" cy="274320"/>
          </a:xfrm>
          <a:prstGeom prst="rect">
            <a:avLst/>
          </a:prstGeom>
          <a:noFill/>
          <a:ln/>
        </p:spPr>
        <p:txBody>
          <a:bodyPr wrap="square" lIns="0" tIns="0" rIns="0" bIns="0" rtlCol="0" anchor="ctr"/>
          <a:lstStyle/>
          <a:p>
            <a:pPr indent="0" marL="0">
              <a:buNone/>
            </a:pPr>
            <a:r>
              <a:rPr lang="en-US" sz="1000" dirty="0">
                <a:solidFill>
                  <a:srgbClr val="7FC8BF"/>
                </a:solidFill>
                <a:latin typeface="Arial" pitchFamily="34" charset="0"/>
                <a:ea typeface="Arial" pitchFamily="34" charset="-122"/>
                <a:cs typeface="Arial" pitchFamily="34" charset="-120"/>
              </a:rPr>
              <a:t>RASS · NeurIPS 2026</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C8BF"/>
                </a:solidFill>
                <a:latin typeface="Arial"/>
                <a:ea typeface="Arial"/>
                <a:cs typeface="Aria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3.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hyperlink" Target="https://github.com/GCVCG/RASS" TargetMode="External"/><Relationship Id="rId4" Type="http://schemas.openxmlformats.org/officeDocument/2006/relationships/hyperlink" Target="https://www.kaggle.com/datasets/ahmadalmughrabi/rass-nerf-benchmark-artifact" TargetMode="External"/><Relationship Id="rId1" Type="http://schemas.openxmlformats.org/officeDocument/2006/relationships/image" Target="../media/image-11-1.png"/><Relationship Id="rId3" Type="http://schemas.openxmlformats.org/officeDocument/2006/relationships/image" Target="../media/image-11-2.png"/><Relationship Id="rId5" Type="http://schemas.openxmlformats.org/officeDocument/2006/relationships/image" Target="../media/image-11-3.png"/><Relationship Id="rId6" Type="http://schemas.openxmlformats.org/officeDocument/2006/relationships/slideLayout" Target="../slideLayouts/slideLayout4.xml"/><Relationship Id="rId7"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548640" y="1097280"/>
            <a:ext cx="5852160" cy="365760"/>
          </a:xfrm>
          <a:prstGeom prst="rect">
            <a:avLst/>
          </a:prstGeom>
          <a:noFill/>
          <a:ln/>
        </p:spPr>
        <p:txBody>
          <a:bodyPr wrap="square" lIns="0" tIns="0" rIns="0" bIns="0" rtlCol="0" anchor="ctr"/>
          <a:lstStyle/>
          <a:p>
            <a:pPr indent="0" marL="0">
              <a:lnSpc>
                <a:spcPct val="100000"/>
              </a:lnSpc>
              <a:buNone/>
            </a:pPr>
            <a:r>
              <a:rPr lang="en-US" sz="1400" b="1" dirty="0">
                <a:solidFill>
                  <a:srgbClr val="F2A541"/>
                </a:solidFill>
                <a:latin typeface="Arial" pitchFamily="34" charset="0"/>
                <a:ea typeface="Arial" pitchFamily="34" charset="-122"/>
                <a:cs typeface="Arial" pitchFamily="34" charset="-120"/>
              </a:rPr>
              <a:t>NeurIPS 2026 · Evaluations &amp; Datasets Track</a:t>
            </a:r>
            <a:endParaRPr lang="en-US" sz="1400" dirty="0"/>
          </a:p>
        </p:txBody>
      </p:sp>
      <p:sp>
        <p:nvSpPr>
          <p:cNvPr id="3" name="Text 0"/>
          <p:cNvSpPr/>
          <p:nvPr>
            <p:ph idx="100" type="title" hasCustomPrompt="1"/>
          </p:nvPr>
        </p:nvSpPr>
        <p:spPr>
          <a:xfrm>
            <a:off x="548640" y="1600200"/>
            <a:ext cx="5852160" cy="1097280"/>
          </a:xfrm>
          <a:prstGeom prst="rect">
            <a:avLst/>
          </a:prstGeom>
          <a:noFill/>
          <a:ln/>
        </p:spPr>
        <p:txBody>
          <a:bodyPr wrap="square" lIns="0" tIns="0" rIns="0" bIns="0" rtlCol="0" anchor="b"/>
          <a:lstStyle/>
          <a:p>
            <a:pPr algn="l" indent="0" marL="0">
              <a:buNone/>
            </a:pPr>
            <a:r>
              <a:rPr lang="en-US" sz="7200" b="1" dirty="0">
                <a:solidFill>
                  <a:srgbClr val="FFFFFF"/>
                </a:solidFill>
                <a:latin typeface="Arial" pitchFamily="34" charset="0"/>
                <a:ea typeface="Arial" pitchFamily="34" charset="-122"/>
                <a:cs typeface="Arial" pitchFamily="34" charset="-120"/>
              </a:rPr>
              <a:t>RASS</a:t>
            </a:r>
            <a:endParaRPr lang="en-US" sz="7200" dirty="0"/>
          </a:p>
        </p:txBody>
      </p:sp>
      <p:sp>
        <p:nvSpPr>
          <p:cNvPr id="4" name="Text 0"/>
          <p:cNvSpPr/>
          <p:nvPr>
            <p:ph idx="101" type="body" hasCustomPrompt="1"/>
          </p:nvPr>
        </p:nvSpPr>
        <p:spPr>
          <a:xfrm>
            <a:off x="548640" y="2743200"/>
            <a:ext cx="5852160" cy="914400"/>
          </a:xfrm>
          <a:prstGeom prst="rect">
            <a:avLst/>
          </a:prstGeom>
          <a:noFill/>
          <a:ln/>
        </p:spPr>
        <p:txBody>
          <a:bodyPr wrap="square" lIns="0" tIns="0" rIns="0" bIns="0" rtlCol="0" anchor="t"/>
          <a:lstStyle/>
          <a:p>
            <a:pPr indent="0" marL="0">
              <a:buNone/>
            </a:pPr>
            <a:r>
              <a:rPr lang="en-US" sz="2400" dirty="0">
                <a:solidFill>
                  <a:srgbClr val="7FC8BF"/>
                </a:solidFill>
                <a:latin typeface="Arial" pitchFamily="34" charset="0"/>
                <a:ea typeface="Arial" pitchFamily="34" charset="-122"/>
                <a:cs typeface="Arial" pitchFamily="34" charset="-120"/>
              </a:rPr>
              <a:t>Risk-Audited Budget Selection for Compact NeRF Benchmark Subsets</a:t>
            </a:r>
            <a:endParaRPr lang="en-US" sz="2400" dirty="0"/>
          </a:p>
        </p:txBody>
      </p:sp>
      <p:sp>
        <p:nvSpPr>
          <p:cNvPr id="5" name="Hook"/>
          <p:cNvSpPr txBox="1"/>
          <p:nvPr/>
        </p:nvSpPr>
        <p:spPr>
          <a:xfrm>
            <a:off x="548640" y="3749040"/>
            <a:ext cx="5943600" cy="685800"/>
          </a:xfrm>
          <a:prstGeom prst="rect">
            <a:avLst/>
          </a:prstGeom>
          <a:noFill/>
          <a:ln/>
        </p:spPr>
        <p:txBody>
          <a:bodyPr wrap="square" lIns="0" tIns="0" rIns="0" bIns="0" rtlCol="0" anchor="t"/>
          <a:lstStyle/>
          <a:p>
            <a:pPr indent="0" marL="0">
              <a:lnSpc>
                <a:spcPct val="100000"/>
              </a:lnSpc>
              <a:buNone/>
            </a:pPr>
            <a:r>
              <a:rPr lang="en-US" sz="1900" b="1" dirty="0">
                <a:solidFill>
                  <a:srgbClr val="F2A541"/>
                </a:solidFill>
                <a:latin typeface="Arial" pitchFamily="34" charset="0"/>
                <a:ea typeface="Arial" pitchFamily="34" charset="-122"/>
                <a:cs typeface="Arial" pitchFamily="34" charset="-120"/>
              </a:rPr>
              <a:t>48 scenes instead of 3,521,</a:t>
            </a:r>
            <a:endParaRPr lang="en-US" sz="1900" dirty="0"/>
          </a:p>
          <a:p>
            <a:pPr indent="0" marL="0">
              <a:lnSpc>
                <a:spcPct val="100000"/>
              </a:lnSpc>
              <a:buNone/>
            </a:pPr>
            <a:r>
              <a:rPr lang="en-US" sz="1900" b="1" dirty="0">
                <a:solidFill>
                  <a:srgbClr val="F2A541"/>
                </a:solidFill>
                <a:latin typeface="Arial" pitchFamily="34" charset="0"/>
                <a:ea typeface="Arial" pitchFamily="34" charset="-122"/>
                <a:cs typeface="Arial" pitchFamily="34" charset="-120"/>
              </a:rPr>
              <a:t>backed by a statistical audit</a:t>
            </a:r>
            <a:endParaRPr lang="en-US" sz="1900" dirty="0"/>
          </a:p>
        </p:txBody>
      </p:sp>
      <p:sp>
        <p:nvSpPr>
          <p:cNvPr id="6" name="Authors"/>
          <p:cNvSpPr txBox="1"/>
          <p:nvPr/>
        </p:nvSpPr>
        <p:spPr>
          <a:xfrm>
            <a:off x="548640" y="4526280"/>
            <a:ext cx="5943600" cy="640080"/>
          </a:xfrm>
          <a:prstGeom prst="rect">
            <a:avLst/>
          </a:prstGeom>
          <a:noFill/>
          <a:ln/>
        </p:spPr>
        <p:txBody>
          <a:bodyPr wrap="square" lIns="0" tIns="0" rIns="0" bIns="0" rtlCol="0" anchor="t"/>
          <a:lstStyle/>
          <a:p>
            <a:pPr indent="0" marL="0">
              <a:lnSpc>
                <a:spcPct val="100000"/>
              </a:lnSpc>
              <a:buNone/>
            </a:pPr>
            <a:r>
              <a:rPr lang="en-US" sz="1500" b="1" dirty="0">
                <a:solidFill>
                  <a:srgbClr val="FFFFFF"/>
                </a:solidFill>
                <a:latin typeface="Arial" pitchFamily="34" charset="0"/>
                <a:ea typeface="Arial" pitchFamily="34" charset="-122"/>
                <a:cs typeface="Arial" pitchFamily="34" charset="-120"/>
              </a:rPr>
              <a:t>Ahmad AlMughrabi · Flavià Serret ·</a:t>
            </a:r>
            <a:endParaRPr lang="en-US" sz="1500" dirty="0"/>
          </a:p>
          <a:p>
            <a:pPr indent="0" marL="0">
              <a:lnSpc>
                <a:spcPct val="100000"/>
              </a:lnSpc>
              <a:buNone/>
            </a:pPr>
            <a:r>
              <a:rPr lang="en-US" sz="1500" b="1" dirty="0">
                <a:solidFill>
                  <a:srgbClr val="FFFFFF"/>
                </a:solidFill>
                <a:latin typeface="Arial" pitchFamily="34" charset="0"/>
                <a:ea typeface="Arial" pitchFamily="34" charset="-122"/>
                <a:cs typeface="Arial" pitchFamily="34" charset="-120"/>
              </a:rPr>
              <a:t>Ricardo Marques · Petia Radeva</a:t>
            </a:r>
            <a:endParaRPr lang="en-US" sz="1500" dirty="0"/>
          </a:p>
        </p:txBody>
      </p:sp>
      <p:sp>
        <p:nvSpPr>
          <p:cNvPr id="7" name="Affiliations"/>
          <p:cNvSpPr txBox="1"/>
          <p:nvPr/>
        </p:nvSpPr>
        <p:spPr>
          <a:xfrm>
            <a:off x="548640" y="5257800"/>
            <a:ext cx="5943600" cy="548640"/>
          </a:xfrm>
          <a:prstGeom prst="rect">
            <a:avLst/>
          </a:prstGeom>
          <a:noFill/>
          <a:ln/>
        </p:spPr>
        <p:txBody>
          <a:bodyPr wrap="square" lIns="0" tIns="0" rIns="0" bIns="0" rtlCol="0" anchor="t"/>
          <a:lstStyle/>
          <a:p>
            <a:pPr indent="0" marL="0">
              <a:lnSpc>
                <a:spcPct val="100000"/>
              </a:lnSpc>
              <a:buNone/>
            </a:pPr>
            <a:r>
              <a:rPr lang="en-US" sz="1300" dirty="0">
                <a:solidFill>
                  <a:srgbClr val="7FC8BF"/>
                </a:solidFill>
                <a:latin typeface="Arial" pitchFamily="34" charset="0"/>
                <a:ea typeface="Arial" pitchFamily="34" charset="-122"/>
                <a:cs typeface="Arial" pitchFamily="34" charset="-120"/>
              </a:rPr>
              <a:t>Universitat de Barcelona · Universitat Pompeu Fabra ·</a:t>
            </a:r>
            <a:endParaRPr lang="en-US" sz="1300" dirty="0"/>
          </a:p>
          <a:p>
            <a:pPr indent="0" marL="0">
              <a:lnSpc>
                <a:spcPct val="100000"/>
              </a:lnSpc>
              <a:buNone/>
            </a:pPr>
            <a:r>
              <a:rPr lang="en-US" sz="1300" dirty="0">
                <a:solidFill>
                  <a:srgbClr val="7FC8BF"/>
                </a:solidFill>
                <a:latin typeface="Arial" pitchFamily="34" charset="0"/>
                <a:ea typeface="Arial" pitchFamily="34" charset="-122"/>
                <a:cs typeface="Arial" pitchFamily="34" charset="-120"/>
              </a:rPr>
              <a:t>Institut de Neurosciències, Barcelona</a:t>
            </a:r>
            <a:endParaRPr lang="en-US" sz="1300" dirty="0"/>
          </a:p>
        </p:txBody>
      </p:sp>
      <p:pic>
        <p:nvPicPr>
          <p:cNvPr id="8" name="Scene mosaic" descr="Grid of 20 Nutrition5k food scenes; four are highlighted to represent a compact audited subset">    </p:cNvPr>
          <p:cNvPicPr>
            <a:picLocks noChangeAspect="1"/>
          </p:cNvPicPr>
          <p:nvPr/>
        </p:nvPicPr>
        <p:blipFill>
          <a:blip r:embed="rId1"/>
          <a:stretch>
            <a:fillRect/>
          </a:stretch>
        </p:blipFill>
        <p:spPr>
          <a:xfrm>
            <a:off x="6705295" y="0"/>
            <a:ext cx="54864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000" b="1" dirty="0">
                <a:solidFill>
                  <a:srgbClr val="17212B"/>
                </a:solidFill>
                <a:latin typeface="Arial" pitchFamily="34" charset="0"/>
                <a:ea typeface="Arial" pitchFamily="34" charset="-122"/>
                <a:cs typeface="Arial" pitchFamily="34" charset="-120"/>
              </a:rPr>
              <a:t>Full NeRF benchmarks are too costly to rerun</a:t>
            </a:r>
            <a:endParaRPr lang="en-US" sz="3000" dirty="0"/>
          </a:p>
        </p:txBody>
      </p:sp>
      <p:sp>
        <p:nvSpPr>
          <p:cNvPr id="3" name="Stat trainings"/>
          <p:cNvSpPr txBox="1"/>
          <p:nvPr/>
        </p:nvSpPr>
        <p:spPr>
          <a:xfrm>
            <a:off x="548640" y="1417320"/>
            <a:ext cx="3566160" cy="914400"/>
          </a:xfrm>
          <a:prstGeom prst="rect">
            <a:avLst/>
          </a:prstGeom>
          <a:noFill/>
          <a:ln/>
        </p:spPr>
        <p:txBody>
          <a:bodyPr wrap="square" lIns="0" tIns="0" rIns="0" bIns="0" rtlCol="0" anchor="ctr"/>
          <a:lstStyle/>
          <a:p>
            <a:pPr indent="0" marL="0">
              <a:lnSpc>
                <a:spcPct val="100000"/>
              </a:lnSpc>
              <a:buNone/>
            </a:pPr>
            <a:r>
              <a:rPr lang="en-US" sz="5600" b="1" dirty="0">
                <a:solidFill>
                  <a:srgbClr val="1F8A80"/>
                </a:solidFill>
                <a:latin typeface="Arial" pitchFamily="34" charset="0"/>
                <a:ea typeface="Arial" pitchFamily="34" charset="-122"/>
                <a:cs typeface="Arial" pitchFamily="34" charset="-120"/>
              </a:rPr>
              <a:t>3,521</a:t>
            </a:r>
            <a:endParaRPr lang="en-US" sz="5600" dirty="0"/>
          </a:p>
        </p:txBody>
      </p:sp>
      <p:sp>
        <p:nvSpPr>
          <p:cNvPr id="4" name="Stat trainings label"/>
          <p:cNvSpPr txBox="1"/>
          <p:nvPr/>
        </p:nvSpPr>
        <p:spPr>
          <a:xfrm>
            <a:off x="548640" y="2331720"/>
            <a:ext cx="3474720" cy="731520"/>
          </a:xfrm>
          <a:prstGeom prst="rect">
            <a:avLst/>
          </a:prstGeom>
          <a:noFill/>
          <a:ln/>
        </p:spPr>
        <p:txBody>
          <a:bodyPr wrap="square" lIns="0" tIns="0" rIns="0" bIns="0" rtlCol="0" anchor="t"/>
          <a:lstStyle/>
          <a:p>
            <a:pPr indent="0" marL="0">
              <a:lnSpc>
                <a:spcPct val="100000"/>
              </a:lnSpc>
              <a:buNone/>
            </a:pPr>
            <a:r>
              <a:rPr lang="en-US" sz="1500" dirty="0">
                <a:solidFill>
                  <a:srgbClr val="17212B"/>
                </a:solidFill>
                <a:latin typeface="Arial" pitchFamily="34" charset="0"/>
                <a:ea typeface="Arial" pitchFamily="34" charset="-122"/>
                <a:cs typeface="Arial" pitchFamily="34" charset="-120"/>
              </a:rPr>
              <a:t>NeRF trainings for every ablation on the full benchmark</a:t>
            </a:r>
            <a:endParaRPr lang="en-US" sz="1500" dirty="0"/>
          </a:p>
        </p:txBody>
      </p:sp>
      <p:sp>
        <p:nvSpPr>
          <p:cNvPr id="5" name="Stat GPUs"/>
          <p:cNvSpPr txBox="1"/>
          <p:nvPr/>
        </p:nvSpPr>
        <p:spPr>
          <a:xfrm>
            <a:off x="548640" y="3291840"/>
            <a:ext cx="3566160" cy="731520"/>
          </a:xfrm>
          <a:prstGeom prst="rect">
            <a:avLst/>
          </a:prstGeom>
          <a:noFill/>
          <a:ln/>
        </p:spPr>
        <p:txBody>
          <a:bodyPr wrap="square" lIns="0" tIns="0" rIns="0" bIns="0" rtlCol="0" anchor="ctr"/>
          <a:lstStyle/>
          <a:p>
            <a:pPr indent="0" marL="0">
              <a:lnSpc>
                <a:spcPct val="100000"/>
              </a:lnSpc>
              <a:buNone/>
            </a:pPr>
            <a:r>
              <a:rPr lang="en-US" sz="4200" b="1" dirty="0">
                <a:solidFill>
                  <a:srgbClr val="1F8A80"/>
                </a:solidFill>
                <a:latin typeface="Arial" pitchFamily="34" charset="0"/>
                <a:ea typeface="Arial" pitchFamily="34" charset="-122"/>
                <a:cs typeface="Arial" pitchFamily="34" charset="-120"/>
              </a:rPr>
              <a:t>512</a:t>
            </a:r>
            <a:endParaRPr lang="en-US" sz="4200" dirty="0"/>
          </a:p>
        </p:txBody>
      </p:sp>
      <p:sp>
        <p:nvSpPr>
          <p:cNvPr id="6" name="Stat GPUs label"/>
          <p:cNvSpPr txBox="1"/>
          <p:nvPr/>
        </p:nvSpPr>
        <p:spPr>
          <a:xfrm>
            <a:off x="548640" y="4023360"/>
            <a:ext cx="3474720" cy="731520"/>
          </a:xfrm>
          <a:prstGeom prst="rect">
            <a:avLst/>
          </a:prstGeom>
          <a:noFill/>
          <a:ln/>
        </p:spPr>
        <p:txBody>
          <a:bodyPr wrap="square" lIns="0" tIns="0" rIns="0" bIns="0" rtlCol="0" anchor="t"/>
          <a:lstStyle/>
          <a:p>
            <a:pPr indent="0" marL="0">
              <a:lnSpc>
                <a:spcPct val="100000"/>
              </a:lnSpc>
              <a:buNone/>
            </a:pPr>
            <a:r>
              <a:rPr lang="en-US" sz="1500" dirty="0">
                <a:solidFill>
                  <a:srgbClr val="17212B"/>
                </a:solidFill>
                <a:latin typeface="Arial" pitchFamily="34" charset="0"/>
                <a:ea typeface="Arial" pitchFamily="34" charset="-122"/>
                <a:cs typeface="Arial" pitchFamily="34" charset="-120"/>
              </a:rPr>
              <a:t>H100 GPUs, at most, to produce the full logs once</a:t>
            </a:r>
            <a:endParaRPr lang="en-US" sz="1500" dirty="0"/>
          </a:p>
        </p:txBody>
      </p:sp>
      <p:sp>
        <p:nvSpPr>
          <p:cNvPr id="7" name="Failure header"/>
          <p:cNvSpPr txBox="1"/>
          <p:nvPr/>
        </p:nvSpPr>
        <p:spPr>
          <a:xfrm>
            <a:off x="4572000" y="1463040"/>
            <a:ext cx="7068312" cy="457200"/>
          </a:xfrm>
          <a:prstGeom prst="rect">
            <a:avLst/>
          </a:prstGeom>
          <a:noFill/>
          <a:ln/>
        </p:spPr>
        <p:txBody>
          <a:bodyPr wrap="square" lIns="0" tIns="0" rIns="0" bIns="0" rtlCol="0" anchor="ctr"/>
          <a:lstStyle/>
          <a:p>
            <a:pPr indent="0" marL="0">
              <a:lnSpc>
                <a:spcPct val="100000"/>
              </a:lnSpc>
              <a:buNone/>
            </a:pPr>
            <a:r>
              <a:rPr lang="en-US" sz="1900" b="1" dirty="0">
                <a:solidFill>
                  <a:srgbClr val="17212B"/>
                </a:solidFill>
                <a:latin typeface="Arial" pitchFamily="34" charset="0"/>
                <a:ea typeface="Arial" pitchFamily="34" charset="-122"/>
                <a:cs typeface="Arial" pitchFamily="34" charset="-120"/>
              </a:rPr>
              <a:t>Ad hoc subsets can look right for the wrong reasons</a:t>
            </a:r>
            <a:endParaRPr lang="en-US" sz="1900" dirty="0"/>
          </a:p>
        </p:txBody>
      </p:sp>
      <p:sp>
        <p:nvSpPr>
          <p:cNvPr id="8" name="Fail icon bg 1"/>
          <p:cNvSpPr/>
          <p:nvPr/>
        </p:nvSpPr>
        <p:spPr>
          <a:xfrm>
            <a:off x="4572000" y="2011680"/>
            <a:ext cx="585216" cy="585216"/>
          </a:xfrm>
          <a:prstGeom prst="ellipse">
            <a:avLst/>
          </a:prstGeom>
          <a:solidFill>
            <a:srgbClr val="EEF3F4"/>
          </a:solidFill>
          <a:ln/>
        </p:spPr>
      </p:sp>
      <p:pic>
        <p:nvPicPr>
          <p:cNvPr id="9" name="Image 0" descr="Tail shift">    </p:cNvPr>
          <p:cNvPicPr>
            <a:picLocks noChangeAspect="1"/>
          </p:cNvPicPr>
          <p:nvPr/>
        </p:nvPicPr>
        <p:blipFill>
          <a:blip r:embed="rId1"/>
          <a:stretch>
            <a:fillRect/>
          </a:stretch>
        </p:blipFill>
        <p:spPr>
          <a:xfrm>
            <a:off x="4709160" y="2148840"/>
            <a:ext cx="310896" cy="310896"/>
          </a:xfrm>
          <a:prstGeom prst="rect">
            <a:avLst/>
          </a:prstGeom>
        </p:spPr>
      </p:pic>
      <p:sp>
        <p:nvSpPr>
          <p:cNvPr id="10" name="Fail title 1"/>
          <p:cNvSpPr txBox="1"/>
          <p:nvPr/>
        </p:nvSpPr>
        <p:spPr>
          <a:xfrm>
            <a:off x="5349240" y="1993392"/>
            <a:ext cx="3657600" cy="320040"/>
          </a:xfrm>
          <a:prstGeom prst="rect">
            <a:avLst/>
          </a:prstGeom>
          <a:noFill/>
          <a:ln/>
        </p:spPr>
        <p:txBody>
          <a:bodyPr wrap="square" lIns="0" tIns="0" rIns="0" bIns="0" rtlCol="0" anchor="ctr"/>
          <a:lstStyle/>
          <a:p>
            <a:pPr indent="0" marL="0">
              <a:lnSpc>
                <a:spcPct val="100000"/>
              </a:lnSpc>
              <a:buNone/>
            </a:pPr>
            <a:r>
              <a:rPr lang="en-US" sz="1600" b="1" dirty="0">
                <a:solidFill>
                  <a:srgbClr val="17212B"/>
                </a:solidFill>
                <a:latin typeface="Arial" pitchFamily="34" charset="0"/>
                <a:ea typeface="Arial" pitchFamily="34" charset="-122"/>
                <a:cs typeface="Arial" pitchFamily="34" charset="-120"/>
              </a:rPr>
              <a:t>Tail shift</a:t>
            </a:r>
            <a:endParaRPr lang="en-US" sz="1600" dirty="0"/>
          </a:p>
        </p:txBody>
      </p:sp>
      <p:sp>
        <p:nvSpPr>
          <p:cNvPr id="11" name="Fail desc 1"/>
          <p:cNvSpPr txBox="1"/>
          <p:nvPr/>
        </p:nvSpPr>
        <p:spPr>
          <a:xfrm>
            <a:off x="5349240" y="2313432"/>
            <a:ext cx="3657600" cy="777240"/>
          </a:xfrm>
          <a:prstGeom prst="rect">
            <a:avLst/>
          </a:prstGeom>
          <a:noFill/>
          <a:ln/>
        </p:spPr>
        <p:txBody>
          <a:bodyPr wrap="square" lIns="0" tIns="0" rIns="0" bIns="0" rtlCol="0" anchor="t"/>
          <a:lstStyle/>
          <a:p>
            <a:pPr indent="0" marL="0">
              <a:lnSpc>
                <a:spcPct val="100000"/>
              </a:lnSpc>
              <a:buNone/>
            </a:pPr>
            <a:r>
              <a:rPr lang="en-US" sz="1300" dirty="0">
                <a:solidFill>
                  <a:srgbClr val="5B6B78"/>
                </a:solidFill>
                <a:latin typeface="Arial" pitchFamily="34" charset="0"/>
                <a:ea typeface="Arial" pitchFamily="34" charset="-122"/>
                <a:cs typeface="Arial" pitchFamily="34" charset="-120"/>
              </a:rPr>
              <a:t>A real 48-scene draw: every mean matches, but its LPIPS distribution (amber) drifts</a:t>
            </a:r>
            <a:endParaRPr lang="en-US" sz="1300" dirty="0"/>
          </a:p>
        </p:txBody>
      </p:sp>
      <p:sp>
        <p:nvSpPr>
          <p:cNvPr id="12" name="Fail example tile 1"/>
          <p:cNvSpPr/>
          <p:nvPr/>
        </p:nvSpPr>
        <p:spPr>
          <a:xfrm>
            <a:off x="9189720" y="2057400"/>
            <a:ext cx="2450592" cy="1097280"/>
          </a:xfrm>
          <a:prstGeom prst="roundRect">
            <a:avLst>
              <a:gd name="adj" fmla="val 10000"/>
            </a:avLst>
          </a:prstGeom>
          <a:solidFill>
            <a:srgbClr val="EEF3F4"/>
          </a:solidFill>
          <a:ln/>
        </p:spPr>
      </p:sp>
      <p:pic>
        <p:nvPicPr>
          <p:cNvPr id="13" name="Fail example 1" descr="Cumulative LPIPS distribution of a real 48-scene draw versus all scenes, with the KS gap of 0.16 marked against the 0.14 limit">    </p:cNvPr>
          <p:cNvPicPr>
            <a:picLocks noChangeAspect="1"/>
          </p:cNvPicPr>
          <p:nvPr/>
        </p:nvPicPr>
        <p:blipFill>
          <a:blip r:embed="rId2"/>
          <a:stretch>
            <a:fillRect/>
          </a:stretch>
        </p:blipFill>
        <p:spPr>
          <a:xfrm>
            <a:off x="9423924" y="2093976"/>
            <a:ext cx="1982183" cy="1024128"/>
          </a:xfrm>
          <a:prstGeom prst="rect">
            <a:avLst/>
          </a:prstGeom>
        </p:spPr>
      </p:pic>
      <p:sp>
        <p:nvSpPr>
          <p:cNvPr id="14" name="Fail icon bg 2"/>
          <p:cNvSpPr/>
          <p:nvPr/>
        </p:nvSpPr>
        <p:spPr>
          <a:xfrm>
            <a:off x="4572000" y="3310128"/>
            <a:ext cx="585216" cy="585216"/>
          </a:xfrm>
          <a:prstGeom prst="ellipse">
            <a:avLst/>
          </a:prstGeom>
          <a:solidFill>
            <a:srgbClr val="EEF3F4"/>
          </a:solidFill>
          <a:ln/>
        </p:spPr>
      </p:sp>
      <p:pic>
        <p:nvPicPr>
          <p:cNvPr id="15" name="Image 2" descr="Metric leakage">    </p:cNvPr>
          <p:cNvPicPr>
            <a:picLocks noChangeAspect="1"/>
          </p:cNvPicPr>
          <p:nvPr/>
        </p:nvPicPr>
        <p:blipFill>
          <a:blip r:embed="rId3"/>
          <a:stretch>
            <a:fillRect/>
          </a:stretch>
        </p:blipFill>
        <p:spPr>
          <a:xfrm>
            <a:off x="4709160" y="3447288"/>
            <a:ext cx="310896" cy="310896"/>
          </a:xfrm>
          <a:prstGeom prst="rect">
            <a:avLst/>
          </a:prstGeom>
        </p:spPr>
      </p:pic>
      <p:sp>
        <p:nvSpPr>
          <p:cNvPr id="16" name="Fail title 2"/>
          <p:cNvSpPr txBox="1"/>
          <p:nvPr/>
        </p:nvSpPr>
        <p:spPr>
          <a:xfrm>
            <a:off x="5349240" y="3291840"/>
            <a:ext cx="3657600" cy="320040"/>
          </a:xfrm>
          <a:prstGeom prst="rect">
            <a:avLst/>
          </a:prstGeom>
          <a:noFill/>
          <a:ln/>
        </p:spPr>
        <p:txBody>
          <a:bodyPr wrap="square" lIns="0" tIns="0" rIns="0" bIns="0" rtlCol="0" anchor="ctr"/>
          <a:lstStyle/>
          <a:p>
            <a:pPr indent="0" marL="0">
              <a:lnSpc>
                <a:spcPct val="100000"/>
              </a:lnSpc>
              <a:buNone/>
            </a:pPr>
            <a:r>
              <a:rPr lang="en-US" sz="1600" b="1" dirty="0">
                <a:solidFill>
                  <a:srgbClr val="17212B"/>
                </a:solidFill>
                <a:latin typeface="Arial" pitchFamily="34" charset="0"/>
                <a:ea typeface="Arial" pitchFamily="34" charset="-122"/>
                <a:cs typeface="Arial" pitchFamily="34" charset="-120"/>
              </a:rPr>
              <a:t>Metric leakage</a:t>
            </a:r>
            <a:endParaRPr lang="en-US" sz="1600" dirty="0"/>
          </a:p>
        </p:txBody>
      </p:sp>
      <p:sp>
        <p:nvSpPr>
          <p:cNvPr id="17" name="Fail desc 2"/>
          <p:cNvSpPr txBox="1"/>
          <p:nvPr/>
        </p:nvSpPr>
        <p:spPr>
          <a:xfrm>
            <a:off x="5349240" y="3611880"/>
            <a:ext cx="3657600" cy="777240"/>
          </a:xfrm>
          <a:prstGeom prst="rect">
            <a:avLst/>
          </a:prstGeom>
          <a:noFill/>
          <a:ln/>
        </p:spPr>
        <p:txBody>
          <a:bodyPr wrap="square" lIns="0" tIns="0" rIns="0" bIns="0" rtlCol="0" anchor="t"/>
          <a:lstStyle/>
          <a:p>
            <a:pPr indent="0" marL="0">
              <a:lnSpc>
                <a:spcPct val="100000"/>
              </a:lnSpc>
              <a:buNone/>
            </a:pPr>
            <a:r>
              <a:rPr lang="en-US" sz="1300" dirty="0">
                <a:solidFill>
                  <a:srgbClr val="5B6B78"/>
                </a:solidFill>
                <a:latin typeface="Arial" pitchFamily="34" charset="0"/>
                <a:ea typeface="Arial" pitchFamily="34" charset="-122"/>
                <a:cs typeface="Arial" pitchFamily="34" charset="-120"/>
              </a:rPr>
              <a:t>Another real draw: PSNR matches, but SSIM and LPIPS overshoot their allowed gaps</a:t>
            </a:r>
            <a:endParaRPr lang="en-US" sz="1300" dirty="0"/>
          </a:p>
        </p:txBody>
      </p:sp>
      <p:sp>
        <p:nvSpPr>
          <p:cNvPr id="18" name="Fail example tile 2"/>
          <p:cNvSpPr/>
          <p:nvPr/>
        </p:nvSpPr>
        <p:spPr>
          <a:xfrm>
            <a:off x="9189720" y="3355848"/>
            <a:ext cx="2450592" cy="1097280"/>
          </a:xfrm>
          <a:prstGeom prst="roundRect">
            <a:avLst>
              <a:gd name="adj" fmla="val 10000"/>
            </a:avLst>
          </a:prstGeom>
          <a:solidFill>
            <a:srgbClr val="EEF3F4"/>
          </a:solidFill>
          <a:ln/>
        </p:spPr>
      </p:sp>
      <p:pic>
        <p:nvPicPr>
          <p:cNvPr id="19" name="Fail example 2" descr="Share of tolerance used by a real draw: PSNR 1%, SSIM 162%, LPIPS 125%">    </p:cNvPr>
          <p:cNvPicPr>
            <a:picLocks noChangeAspect="1"/>
          </p:cNvPicPr>
          <p:nvPr/>
        </p:nvPicPr>
        <p:blipFill>
          <a:blip r:embed="rId4"/>
          <a:stretch>
            <a:fillRect/>
          </a:stretch>
        </p:blipFill>
        <p:spPr>
          <a:xfrm>
            <a:off x="9423924" y="3392424"/>
            <a:ext cx="1982183" cy="1024128"/>
          </a:xfrm>
          <a:prstGeom prst="rect">
            <a:avLst/>
          </a:prstGeom>
        </p:spPr>
      </p:pic>
      <p:sp>
        <p:nvSpPr>
          <p:cNvPr id="20" name="Fail icon bg 3"/>
          <p:cNvSpPr/>
          <p:nvPr/>
        </p:nvSpPr>
        <p:spPr>
          <a:xfrm>
            <a:off x="4572000" y="4608576"/>
            <a:ext cx="585216" cy="585216"/>
          </a:xfrm>
          <a:prstGeom prst="ellipse">
            <a:avLst/>
          </a:prstGeom>
          <a:solidFill>
            <a:srgbClr val="EEF3F4"/>
          </a:solidFill>
          <a:ln/>
        </p:spPr>
      </p:sp>
      <p:pic>
        <p:nvPicPr>
          <p:cNvPr id="21" name="Image 4" descr="Sampling luck">    </p:cNvPr>
          <p:cNvPicPr>
            <a:picLocks noChangeAspect="1"/>
          </p:cNvPicPr>
          <p:nvPr/>
        </p:nvPicPr>
        <p:blipFill>
          <a:blip r:embed="rId5"/>
          <a:stretch>
            <a:fillRect/>
          </a:stretch>
        </p:blipFill>
        <p:spPr>
          <a:xfrm>
            <a:off x="4709160" y="4745736"/>
            <a:ext cx="310896" cy="310896"/>
          </a:xfrm>
          <a:prstGeom prst="rect">
            <a:avLst/>
          </a:prstGeom>
        </p:spPr>
      </p:pic>
      <p:sp>
        <p:nvSpPr>
          <p:cNvPr id="22" name="Fail title 3"/>
          <p:cNvSpPr txBox="1"/>
          <p:nvPr/>
        </p:nvSpPr>
        <p:spPr>
          <a:xfrm>
            <a:off x="5349240" y="4590288"/>
            <a:ext cx="3657600" cy="320040"/>
          </a:xfrm>
          <a:prstGeom prst="rect">
            <a:avLst/>
          </a:prstGeom>
          <a:noFill/>
          <a:ln/>
        </p:spPr>
        <p:txBody>
          <a:bodyPr wrap="square" lIns="0" tIns="0" rIns="0" bIns="0" rtlCol="0" anchor="ctr"/>
          <a:lstStyle/>
          <a:p>
            <a:pPr indent="0" marL="0">
              <a:lnSpc>
                <a:spcPct val="100000"/>
              </a:lnSpc>
              <a:buNone/>
            </a:pPr>
            <a:r>
              <a:rPr lang="en-US" sz="1600" b="1" dirty="0">
                <a:solidFill>
                  <a:srgbClr val="17212B"/>
                </a:solidFill>
                <a:latin typeface="Arial" pitchFamily="34" charset="0"/>
                <a:ea typeface="Arial" pitchFamily="34" charset="-122"/>
                <a:cs typeface="Arial" pitchFamily="34" charset="-120"/>
              </a:rPr>
              <a:t>Sampling luck</a:t>
            </a:r>
            <a:endParaRPr lang="en-US" sz="1600" dirty="0"/>
          </a:p>
        </p:txBody>
      </p:sp>
      <p:sp>
        <p:nvSpPr>
          <p:cNvPr id="23" name="Fail desc 3"/>
          <p:cNvSpPr txBox="1"/>
          <p:nvPr/>
        </p:nvSpPr>
        <p:spPr>
          <a:xfrm>
            <a:off x="5349240" y="4910328"/>
            <a:ext cx="6291072" cy="777240"/>
          </a:xfrm>
          <a:prstGeom prst="rect">
            <a:avLst/>
          </a:prstGeom>
          <a:noFill/>
          <a:ln/>
        </p:spPr>
        <p:txBody>
          <a:bodyPr wrap="square" lIns="0" tIns="0" rIns="0" bIns="0" rtlCol="0" anchor="t"/>
          <a:lstStyle/>
          <a:p>
            <a:pPr indent="0" marL="0">
              <a:lnSpc>
                <a:spcPct val="100000"/>
              </a:lnSpc>
              <a:buNone/>
            </a:pPr>
            <a:r>
              <a:rPr lang="en-US" sz="1300" dirty="0">
                <a:solidFill>
                  <a:srgbClr val="5B6B78"/>
                </a:solidFill>
                <a:latin typeface="Arial" pitchFamily="34" charset="0"/>
                <a:ea typeface="Arial" pitchFamily="34" charset="-122"/>
                <a:cs typeface="Arial" pitchFamily="34" charset="-120"/>
              </a:rPr>
              <a:t>One subset passes by chance; the next draw does not</a:t>
            </a:r>
            <a:endParaRPr lang="en-US" sz="1300" dirty="0"/>
          </a:p>
        </p:txBody>
      </p:sp>
      <p:sp>
        <p:nvSpPr>
          <p:cNvPr id="24" name="Question card"/>
          <p:cNvSpPr/>
          <p:nvPr/>
        </p:nvSpPr>
        <p:spPr>
          <a:xfrm>
            <a:off x="548640" y="5349240"/>
            <a:ext cx="11091672" cy="914400"/>
          </a:xfrm>
          <a:prstGeom prst="roundRect">
            <a:avLst>
              <a:gd name="adj" fmla="val 12000"/>
            </a:avLst>
          </a:prstGeom>
          <a:solidFill>
            <a:srgbClr val="EEF3F4"/>
          </a:solidFill>
          <a:ln/>
        </p:spPr>
      </p:sp>
      <p:sp>
        <p:nvSpPr>
          <p:cNvPr id="25" name="Question icon bg"/>
          <p:cNvSpPr/>
          <p:nvPr/>
        </p:nvSpPr>
        <p:spPr>
          <a:xfrm>
            <a:off x="822960" y="5509260"/>
            <a:ext cx="594360" cy="594360"/>
          </a:xfrm>
          <a:prstGeom prst="ellipse">
            <a:avLst/>
          </a:prstGeom>
          <a:solidFill>
            <a:srgbClr val="1F8A80"/>
          </a:solidFill>
          <a:ln/>
        </p:spPr>
      </p:sp>
      <p:pic>
        <p:nvPicPr>
          <p:cNvPr id="26" name="Image 5" descr="Question">    </p:cNvPr>
          <p:cNvPicPr>
            <a:picLocks noChangeAspect="1"/>
          </p:cNvPicPr>
          <p:nvPr/>
        </p:nvPicPr>
        <p:blipFill>
          <a:blip r:embed="rId6"/>
          <a:stretch>
            <a:fillRect/>
          </a:stretch>
        </p:blipFill>
        <p:spPr>
          <a:xfrm>
            <a:off x="969264" y="5655564"/>
            <a:ext cx="301752" cy="301752"/>
          </a:xfrm>
          <a:prstGeom prst="rect">
            <a:avLst/>
          </a:prstGeom>
        </p:spPr>
      </p:pic>
      <p:sp>
        <p:nvSpPr>
          <p:cNvPr id="27" name="Question text"/>
          <p:cNvSpPr txBox="1"/>
          <p:nvPr/>
        </p:nvSpPr>
        <p:spPr>
          <a:xfrm>
            <a:off x="1645920" y="5372100"/>
            <a:ext cx="9829800" cy="868680"/>
          </a:xfrm>
          <a:prstGeom prst="rect">
            <a:avLst/>
          </a:prstGeom>
          <a:noFill/>
          <a:ln/>
        </p:spPr>
        <p:txBody>
          <a:bodyPr wrap="square" lIns="0" tIns="0" rIns="0" bIns="0" rtlCol="0" anchor="ctr"/>
          <a:lstStyle/>
          <a:p>
            <a:pPr indent="0" marL="0">
              <a:lnSpc>
                <a:spcPct val="100000"/>
              </a:lnSpc>
              <a:buNone/>
            </a:pPr>
            <a:r>
              <a:rPr lang="en-US" sz="1800" b="1" dirty="0">
                <a:solidFill>
                  <a:srgbClr val="1F8A80"/>
                </a:solidFill>
                <a:latin typeface="Arial" pitchFamily="34" charset="0"/>
                <a:ea typeface="Arial" pitchFamily="34" charset="-122"/>
                <a:cs typeface="Arial" pitchFamily="34" charset="-120"/>
              </a:rPr>
              <a:t>Our question: </a:t>
            </a:r>
            <a:pPr indent="0" marL="0">
              <a:lnSpc>
                <a:spcPct val="100000"/>
              </a:lnSpc>
              <a:buNone/>
            </a:pPr>
            <a:r>
              <a:rPr lang="en-US" sz="1800" dirty="0">
                <a:solidFill>
                  <a:srgbClr val="17212B"/>
                </a:solidFill>
                <a:latin typeface="Arial" pitchFamily="34" charset="0"/>
                <a:ea typeface="Arial" pitchFamily="34" charset="-122"/>
                <a:cs typeface="Arial" pitchFamily="34" charset="-120"/>
              </a:rPr>
              <a:t>what is the smallest subset that preserves the full-benchmark summaries, under explicit fidelity constraints?</a:t>
            </a:r>
            <a:endParaRPr lang="en-US" sz="18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000" b="1" dirty="0">
                <a:solidFill>
                  <a:srgbClr val="17212B"/>
                </a:solidFill>
                <a:latin typeface="Arial" pitchFamily="34" charset="0"/>
                <a:ea typeface="Arial" pitchFamily="34" charset="-122"/>
                <a:cs typeface="Arial" pitchFamily="34" charset="-120"/>
              </a:rPr>
              <a:t>RASS audits the procedure, not one lucky subset</a:t>
            </a:r>
            <a:endParaRPr lang="en-US" sz="3000" dirty="0"/>
          </a:p>
        </p:txBody>
      </p:sp>
      <p:sp>
        <p:nvSpPr>
          <p:cNvPr id="3" name="Step card 1"/>
          <p:cNvSpPr/>
          <p:nvPr/>
        </p:nvSpPr>
        <p:spPr>
          <a:xfrm>
            <a:off x="548640" y="1417320"/>
            <a:ext cx="2514600" cy="3886200"/>
          </a:xfrm>
          <a:prstGeom prst="roundRect">
            <a:avLst>
              <a:gd name="adj" fmla="val 4364"/>
            </a:avLst>
          </a:prstGeom>
          <a:solidFill>
            <a:srgbClr val="EEF3F4"/>
          </a:solidFill>
          <a:ln/>
        </p:spPr>
      </p:sp>
      <p:sp>
        <p:nvSpPr>
          <p:cNvPr id="4" name="Step num bg 1"/>
          <p:cNvSpPr/>
          <p:nvPr/>
        </p:nvSpPr>
        <p:spPr>
          <a:xfrm>
            <a:off x="777240" y="1645920"/>
            <a:ext cx="548640" cy="548640"/>
          </a:xfrm>
          <a:prstGeom prst="ellipse">
            <a:avLst/>
          </a:prstGeom>
          <a:solidFill>
            <a:srgbClr val="1F8A80"/>
          </a:solidFill>
          <a:ln/>
        </p:spPr>
      </p:sp>
      <p:sp>
        <p:nvSpPr>
          <p:cNvPr id="5" name="Step num 1"/>
          <p:cNvSpPr txBox="1"/>
          <p:nvPr/>
        </p:nvSpPr>
        <p:spPr>
          <a:xfrm>
            <a:off x="777240" y="1645920"/>
            <a:ext cx="548640" cy="548640"/>
          </a:xfrm>
          <a:prstGeom prst="rect">
            <a:avLst/>
          </a:prstGeom>
          <a:noFill/>
          <a:ln/>
        </p:spPr>
        <p:txBody>
          <a:bodyPr wrap="square" lIns="0" tIns="0" rIns="0" bIns="0" rtlCol="0" anchor="ctr"/>
          <a:lstStyle/>
          <a:p>
            <a:pPr algn="ctr" indent="0" marL="0">
              <a:lnSpc>
                <a:spcPct val="100000"/>
              </a:lnSpc>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6" name="Step name 1"/>
          <p:cNvSpPr txBox="1"/>
          <p:nvPr/>
        </p:nvSpPr>
        <p:spPr>
          <a:xfrm>
            <a:off x="777240" y="2331720"/>
            <a:ext cx="2057400" cy="457200"/>
          </a:xfrm>
          <a:prstGeom prst="rect">
            <a:avLst/>
          </a:prstGeom>
          <a:noFill/>
          <a:ln/>
        </p:spPr>
        <p:txBody>
          <a:bodyPr wrap="square" lIns="0" tIns="0" rIns="0" bIns="0" rtlCol="0" anchor="ctr"/>
          <a:lstStyle/>
          <a:p>
            <a:pPr indent="0" marL="0">
              <a:lnSpc>
                <a:spcPct val="100000"/>
              </a:lnSpc>
              <a:buNone/>
            </a:pPr>
            <a:r>
              <a:rPr lang="en-US" sz="2100" b="1" dirty="0">
                <a:solidFill>
                  <a:srgbClr val="17212B"/>
                </a:solidFill>
                <a:latin typeface="Arial" pitchFamily="34" charset="0"/>
                <a:ea typeface="Arial" pitchFamily="34" charset="-122"/>
                <a:cs typeface="Arial" pitchFamily="34" charset="-120"/>
              </a:rPr>
              <a:t>Describe</a:t>
            </a:r>
            <a:endParaRPr lang="en-US" sz="2100" dirty="0"/>
          </a:p>
        </p:txBody>
      </p:sp>
      <p:sp>
        <p:nvSpPr>
          <p:cNvPr id="7" name="Step body 1"/>
          <p:cNvSpPr txBox="1"/>
          <p:nvPr/>
        </p:nvSpPr>
        <p:spPr>
          <a:xfrm>
            <a:off x="777240" y="2834640"/>
            <a:ext cx="2103120" cy="1463040"/>
          </a:xfrm>
          <a:prstGeom prst="rect">
            <a:avLst/>
          </a:prstGeom>
          <a:noFill/>
          <a:ln/>
        </p:spPr>
        <p:txBody>
          <a:bodyPr wrap="square" lIns="0" tIns="0" rIns="0" bIns="0" rtlCol="0" anchor="t"/>
          <a:lstStyle/>
          <a:p>
            <a:pPr indent="0" marL="0">
              <a:lnSpc>
                <a:spcPct val="100000"/>
              </a:lnSpc>
              <a:spcAft>
                <a:spcPts val="400"/>
              </a:spcAft>
              <a:buNone/>
            </a:pPr>
            <a:r>
              <a:rPr lang="en-US" sz="1400" dirty="0">
                <a:solidFill>
                  <a:srgbClr val="17212B"/>
                </a:solidFill>
                <a:latin typeface="Arial" pitchFamily="34" charset="0"/>
                <a:ea typeface="Arial" pitchFamily="34" charset="-122"/>
                <a:cs typeface="Arial" pitchFamily="34" charset="-120"/>
              </a:rPr>
              <a:t>57-D descriptor per scene</a:t>
            </a:r>
            <a:endParaRPr lang="en-US" sz="1400" dirty="0"/>
          </a:p>
          <a:p>
            <a:pPr indent="0" marL="0">
              <a:lnSpc>
                <a:spcPct val="100000"/>
              </a:lnSpc>
              <a:spcAft>
                <a:spcPts val="400"/>
              </a:spcAft>
              <a:buNone/>
            </a:pPr>
            <a:r>
              <a:rPr lang="en-US" sz="1400" dirty="0">
                <a:solidFill>
                  <a:srgbClr val="17212B"/>
                </a:solidFill>
                <a:latin typeface="Arial" pitchFamily="34" charset="0"/>
                <a:ea typeface="Arial" pitchFamily="34" charset="-122"/>
                <a:cs typeface="Arial" pitchFamily="34" charset="-120"/>
              </a:rPr>
              <a:t>K-Means into 6 regimes</a:t>
            </a:r>
            <a:endParaRPr lang="en-US" sz="1400" dirty="0"/>
          </a:p>
        </p:txBody>
      </p:sp>
      <p:pic>
        <p:nvPicPr>
          <p:cNvPr id="8" name="Step visual 1" descr="Scenes in descriptor space, coloured by six regimes">    </p:cNvPr>
          <p:cNvPicPr>
            <a:picLocks noChangeAspect="1"/>
          </p:cNvPicPr>
          <p:nvPr/>
        </p:nvPicPr>
        <p:blipFill>
          <a:blip r:embed="rId1"/>
          <a:stretch>
            <a:fillRect/>
          </a:stretch>
        </p:blipFill>
        <p:spPr>
          <a:xfrm>
            <a:off x="777240" y="3657600"/>
            <a:ext cx="2057400" cy="1417320"/>
          </a:xfrm>
          <a:prstGeom prst="rect">
            <a:avLst/>
          </a:prstGeom>
        </p:spPr>
      </p:pic>
      <p:sp>
        <p:nvSpPr>
          <p:cNvPr id="9" name="Arrow 1"/>
          <p:cNvSpPr/>
          <p:nvPr/>
        </p:nvSpPr>
        <p:spPr>
          <a:xfrm>
            <a:off x="3154680" y="3200400"/>
            <a:ext cx="164592" cy="274320"/>
          </a:xfrm>
          <a:prstGeom prst="chevron">
            <a:avLst/>
          </a:prstGeom>
          <a:solidFill>
            <a:srgbClr val="5B6B78"/>
          </a:solidFill>
          <a:ln/>
        </p:spPr>
      </p:sp>
      <p:sp>
        <p:nvSpPr>
          <p:cNvPr id="10" name="Step card 2"/>
          <p:cNvSpPr/>
          <p:nvPr/>
        </p:nvSpPr>
        <p:spPr>
          <a:xfrm>
            <a:off x="3407969" y="1417320"/>
            <a:ext cx="2514600" cy="3886200"/>
          </a:xfrm>
          <a:prstGeom prst="roundRect">
            <a:avLst>
              <a:gd name="adj" fmla="val 4364"/>
            </a:avLst>
          </a:prstGeom>
          <a:solidFill>
            <a:srgbClr val="EEF3F4"/>
          </a:solidFill>
          <a:ln/>
        </p:spPr>
      </p:sp>
      <p:sp>
        <p:nvSpPr>
          <p:cNvPr id="11" name="Step num bg 2"/>
          <p:cNvSpPr/>
          <p:nvPr/>
        </p:nvSpPr>
        <p:spPr>
          <a:xfrm>
            <a:off x="3636569" y="1645920"/>
            <a:ext cx="548640" cy="548640"/>
          </a:xfrm>
          <a:prstGeom prst="ellipse">
            <a:avLst/>
          </a:prstGeom>
          <a:solidFill>
            <a:srgbClr val="1F8A80"/>
          </a:solidFill>
          <a:ln/>
        </p:spPr>
      </p:sp>
      <p:sp>
        <p:nvSpPr>
          <p:cNvPr id="12" name="Step num 2"/>
          <p:cNvSpPr txBox="1"/>
          <p:nvPr/>
        </p:nvSpPr>
        <p:spPr>
          <a:xfrm>
            <a:off x="3636569" y="1645920"/>
            <a:ext cx="548640" cy="548640"/>
          </a:xfrm>
          <a:prstGeom prst="rect">
            <a:avLst/>
          </a:prstGeom>
          <a:noFill/>
          <a:ln/>
        </p:spPr>
        <p:txBody>
          <a:bodyPr wrap="square" lIns="0" tIns="0" rIns="0" bIns="0" rtlCol="0" anchor="ctr"/>
          <a:lstStyle/>
          <a:p>
            <a:pPr algn="ctr" indent="0" marL="0">
              <a:lnSpc>
                <a:spcPct val="100000"/>
              </a:lnSpc>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3" name="Step name 2"/>
          <p:cNvSpPr txBox="1"/>
          <p:nvPr/>
        </p:nvSpPr>
        <p:spPr>
          <a:xfrm>
            <a:off x="3636569" y="2331720"/>
            <a:ext cx="2057400" cy="457200"/>
          </a:xfrm>
          <a:prstGeom prst="rect">
            <a:avLst/>
          </a:prstGeom>
          <a:noFill/>
          <a:ln/>
        </p:spPr>
        <p:txBody>
          <a:bodyPr wrap="square" lIns="0" tIns="0" rIns="0" bIns="0" rtlCol="0" anchor="ctr"/>
          <a:lstStyle/>
          <a:p>
            <a:pPr indent="0" marL="0">
              <a:lnSpc>
                <a:spcPct val="100000"/>
              </a:lnSpc>
              <a:buNone/>
            </a:pPr>
            <a:r>
              <a:rPr lang="en-US" sz="2100" b="1" dirty="0">
                <a:solidFill>
                  <a:srgbClr val="17212B"/>
                </a:solidFill>
                <a:latin typeface="Arial" pitchFamily="34" charset="0"/>
                <a:ea typeface="Arial" pitchFamily="34" charset="-122"/>
                <a:cs typeface="Arial" pitchFamily="34" charset="-120"/>
              </a:rPr>
              <a:t>Generate</a:t>
            </a:r>
            <a:endParaRPr lang="en-US" sz="2100" dirty="0"/>
          </a:p>
        </p:txBody>
      </p:sp>
      <p:sp>
        <p:nvSpPr>
          <p:cNvPr id="14" name="Step body 2"/>
          <p:cNvSpPr txBox="1"/>
          <p:nvPr/>
        </p:nvSpPr>
        <p:spPr>
          <a:xfrm>
            <a:off x="3636569" y="2834640"/>
            <a:ext cx="2103120" cy="1463040"/>
          </a:xfrm>
          <a:prstGeom prst="rect">
            <a:avLst/>
          </a:prstGeom>
          <a:noFill/>
          <a:ln/>
        </p:spPr>
        <p:txBody>
          <a:bodyPr wrap="square" lIns="0" tIns="0" rIns="0" bIns="0" rtlCol="0" anchor="t"/>
          <a:lstStyle/>
          <a:p>
            <a:pPr indent="0" marL="0">
              <a:lnSpc>
                <a:spcPct val="100000"/>
              </a:lnSpc>
              <a:spcAft>
                <a:spcPts val="400"/>
              </a:spcAft>
              <a:buNone/>
            </a:pPr>
            <a:r>
              <a:rPr lang="en-US" sz="1400" dirty="0">
                <a:solidFill>
                  <a:srgbClr val="17212B"/>
                </a:solidFill>
                <a:latin typeface="Arial" pitchFamily="34" charset="0"/>
                <a:ea typeface="Arial" pitchFamily="34" charset="-122"/>
                <a:cs typeface="Arial" pitchFamily="34" charset="-120"/>
              </a:rPr>
              <a:t>Draw 400 candidates per budget B</a:t>
            </a:r>
            <a:endParaRPr lang="en-US" sz="1400" dirty="0"/>
          </a:p>
          <a:p>
            <a:pPr indent="0" marL="0">
              <a:lnSpc>
                <a:spcPct val="100000"/>
              </a:lnSpc>
              <a:spcAft>
                <a:spcPts val="400"/>
              </a:spcAft>
              <a:buNone/>
            </a:pPr>
            <a:r>
              <a:rPr lang="en-US" sz="1400" dirty="0">
                <a:solidFill>
                  <a:srgbClr val="17212B"/>
                </a:solidFill>
                <a:latin typeface="Arial" pitchFamily="34" charset="0"/>
                <a:ea typeface="Arial" pitchFamily="34" charset="-122"/>
                <a:cs typeface="Arial" pitchFamily="34" charset="-120"/>
              </a:rPr>
              <a:t>Balanced: equal scenes per regime</a:t>
            </a:r>
            <a:endParaRPr lang="en-US" sz="1400" dirty="0"/>
          </a:p>
        </p:txBody>
      </p:sp>
      <p:pic>
        <p:nvPicPr>
          <p:cNvPr id="15" name="Step visual 2" descr="Candidate subsets, each with equal scenes from every regime">    </p:cNvPr>
          <p:cNvPicPr>
            <a:picLocks noChangeAspect="1"/>
          </p:cNvPicPr>
          <p:nvPr/>
        </p:nvPicPr>
        <p:blipFill>
          <a:blip r:embed="rId2"/>
          <a:stretch>
            <a:fillRect/>
          </a:stretch>
        </p:blipFill>
        <p:spPr>
          <a:xfrm>
            <a:off x="3636569" y="4160520"/>
            <a:ext cx="2057400" cy="731520"/>
          </a:xfrm>
          <a:prstGeom prst="rect">
            <a:avLst/>
          </a:prstGeom>
        </p:spPr>
      </p:pic>
      <p:sp>
        <p:nvSpPr>
          <p:cNvPr id="16" name="Step caption 2"/>
          <p:cNvSpPr txBox="1"/>
          <p:nvPr/>
        </p:nvSpPr>
        <p:spPr>
          <a:xfrm>
            <a:off x="3636569" y="4965192"/>
            <a:ext cx="2057400" cy="274320"/>
          </a:xfrm>
          <a:prstGeom prst="rect">
            <a:avLst/>
          </a:prstGeom>
          <a:noFill/>
          <a:ln/>
        </p:spPr>
        <p:txBody>
          <a:bodyPr wrap="square" lIns="0" tIns="0" rIns="0" bIns="0" rtlCol="0" anchor="ctr"/>
          <a:lstStyle/>
          <a:p>
            <a:pPr indent="0" marL="0">
              <a:lnSpc>
                <a:spcPct val="100000"/>
              </a:lnSpc>
              <a:buNone/>
            </a:pPr>
            <a:r>
              <a:rPr lang="en-US" sz="1300" b="1" dirty="0">
                <a:solidFill>
                  <a:srgbClr val="5B6B78"/>
                </a:solidFill>
                <a:latin typeface="Arial" pitchFamily="34" charset="0"/>
                <a:ea typeface="Arial" pitchFamily="34" charset="-122"/>
                <a:cs typeface="Arial" pitchFamily="34" charset="-120"/>
              </a:rPr>
              <a:t>× 400 draws</a:t>
            </a:r>
            <a:endParaRPr lang="en-US" sz="1300" dirty="0"/>
          </a:p>
        </p:txBody>
      </p:sp>
      <p:sp>
        <p:nvSpPr>
          <p:cNvPr id="17" name="Arrow 2"/>
          <p:cNvSpPr/>
          <p:nvPr/>
        </p:nvSpPr>
        <p:spPr>
          <a:xfrm>
            <a:off x="6014009" y="3200400"/>
            <a:ext cx="164592" cy="274320"/>
          </a:xfrm>
          <a:prstGeom prst="chevron">
            <a:avLst/>
          </a:prstGeom>
          <a:solidFill>
            <a:srgbClr val="5B6B78"/>
          </a:solidFill>
          <a:ln/>
        </p:spPr>
      </p:sp>
      <p:sp>
        <p:nvSpPr>
          <p:cNvPr id="18" name="Step card 3"/>
          <p:cNvSpPr/>
          <p:nvPr/>
        </p:nvSpPr>
        <p:spPr>
          <a:xfrm>
            <a:off x="6267298" y="1417320"/>
            <a:ext cx="2514600" cy="3886200"/>
          </a:xfrm>
          <a:prstGeom prst="roundRect">
            <a:avLst>
              <a:gd name="adj" fmla="val 4364"/>
            </a:avLst>
          </a:prstGeom>
          <a:solidFill>
            <a:srgbClr val="EEF3F4"/>
          </a:solidFill>
          <a:ln/>
        </p:spPr>
      </p:sp>
      <p:sp>
        <p:nvSpPr>
          <p:cNvPr id="19" name="Step num bg 3"/>
          <p:cNvSpPr/>
          <p:nvPr/>
        </p:nvSpPr>
        <p:spPr>
          <a:xfrm>
            <a:off x="6495898" y="1645920"/>
            <a:ext cx="548640" cy="548640"/>
          </a:xfrm>
          <a:prstGeom prst="ellipse">
            <a:avLst/>
          </a:prstGeom>
          <a:solidFill>
            <a:srgbClr val="1F8A80"/>
          </a:solidFill>
          <a:ln/>
        </p:spPr>
      </p:sp>
      <p:sp>
        <p:nvSpPr>
          <p:cNvPr id="20" name="Step num 3"/>
          <p:cNvSpPr txBox="1"/>
          <p:nvPr/>
        </p:nvSpPr>
        <p:spPr>
          <a:xfrm>
            <a:off x="6495898" y="1645920"/>
            <a:ext cx="548640" cy="548640"/>
          </a:xfrm>
          <a:prstGeom prst="rect">
            <a:avLst/>
          </a:prstGeom>
          <a:noFill/>
          <a:ln/>
        </p:spPr>
        <p:txBody>
          <a:bodyPr wrap="square" lIns="0" tIns="0" rIns="0" bIns="0" rtlCol="0" anchor="ctr"/>
          <a:lstStyle/>
          <a:p>
            <a:pPr algn="ctr" indent="0" marL="0">
              <a:lnSpc>
                <a:spcPct val="100000"/>
              </a:lnSpc>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21" name="Step name 3"/>
          <p:cNvSpPr txBox="1"/>
          <p:nvPr/>
        </p:nvSpPr>
        <p:spPr>
          <a:xfrm>
            <a:off x="6495898" y="2331720"/>
            <a:ext cx="2057400" cy="457200"/>
          </a:xfrm>
          <a:prstGeom prst="rect">
            <a:avLst/>
          </a:prstGeom>
          <a:noFill/>
          <a:ln/>
        </p:spPr>
        <p:txBody>
          <a:bodyPr wrap="square" lIns="0" tIns="0" rIns="0" bIns="0" rtlCol="0" anchor="ctr"/>
          <a:lstStyle/>
          <a:p>
            <a:pPr indent="0" marL="0">
              <a:lnSpc>
                <a:spcPct val="100000"/>
              </a:lnSpc>
              <a:buNone/>
            </a:pPr>
            <a:r>
              <a:rPr lang="en-US" sz="2100" b="1" dirty="0">
                <a:solidFill>
                  <a:srgbClr val="17212B"/>
                </a:solidFill>
                <a:latin typeface="Arial" pitchFamily="34" charset="0"/>
                <a:ea typeface="Arial" pitchFamily="34" charset="-122"/>
                <a:cs typeface="Arial" pitchFamily="34" charset="-120"/>
              </a:rPr>
              <a:t>Test</a:t>
            </a:r>
            <a:endParaRPr lang="en-US" sz="2100" dirty="0"/>
          </a:p>
        </p:txBody>
      </p:sp>
      <p:sp>
        <p:nvSpPr>
          <p:cNvPr id="22" name="Step body 3"/>
          <p:cNvSpPr txBox="1"/>
          <p:nvPr/>
        </p:nvSpPr>
        <p:spPr>
          <a:xfrm>
            <a:off x="6495898" y="2834640"/>
            <a:ext cx="2103120" cy="1463040"/>
          </a:xfrm>
          <a:prstGeom prst="rect">
            <a:avLst/>
          </a:prstGeom>
          <a:noFill/>
          <a:ln/>
        </p:spPr>
        <p:txBody>
          <a:bodyPr wrap="square" lIns="0" tIns="0" rIns="0" bIns="0" rtlCol="0" anchor="t"/>
          <a:lstStyle/>
          <a:p>
            <a:pPr indent="0" marL="0">
              <a:lnSpc>
                <a:spcPct val="100000"/>
              </a:lnSpc>
              <a:spcAft>
                <a:spcPts val="400"/>
              </a:spcAft>
              <a:buNone/>
            </a:pPr>
            <a:r>
              <a:rPr lang="en-US" sz="1400" i="1" dirty="0">
                <a:solidFill>
                  <a:srgbClr val="17212B"/>
                </a:solidFill>
                <a:latin typeface="Arial" pitchFamily="34" charset="0"/>
                <a:ea typeface="Arial" pitchFamily="34" charset="-122"/>
                <a:cs typeface="Arial" pitchFamily="34" charset="-120"/>
              </a:rPr>
              <a:t>All six must hold:</a:t>
            </a:r>
            <a:endParaRPr lang="en-US" sz="1400" dirty="0"/>
          </a:p>
          <a:p>
            <a:pPr indent="0" marL="0">
              <a:lnSpc>
                <a:spcPct val="100000"/>
              </a:lnSpc>
              <a:spcAft>
                <a:spcPts val="400"/>
              </a:spcAft>
              <a:buNone/>
            </a:pPr>
            <a:r>
              <a:rPr lang="en-US" sz="1400" dirty="0">
                <a:solidFill>
                  <a:srgbClr val="17212B"/>
                </a:solidFill>
                <a:latin typeface="Arial" pitchFamily="34" charset="0"/>
                <a:ea typeface="Arial" pitchFamily="34" charset="-122"/>
                <a:cs typeface="Arial" pitchFamily="34" charset="-120"/>
              </a:rPr>
              <a:t>|ΔPSNR| ≤ 0.5 dB</a:t>
            </a:r>
            <a:endParaRPr lang="en-US" sz="1400" dirty="0"/>
          </a:p>
          <a:p>
            <a:pPr indent="0" marL="0">
              <a:lnSpc>
                <a:spcPct val="100000"/>
              </a:lnSpc>
              <a:spcAft>
                <a:spcPts val="400"/>
              </a:spcAft>
              <a:buNone/>
            </a:pPr>
            <a:r>
              <a:rPr lang="en-US" sz="1400" dirty="0">
                <a:solidFill>
                  <a:srgbClr val="17212B"/>
                </a:solidFill>
                <a:latin typeface="Arial" pitchFamily="34" charset="0"/>
                <a:ea typeface="Arial" pitchFamily="34" charset="-122"/>
                <a:cs typeface="Arial" pitchFamily="34" charset="-120"/>
              </a:rPr>
              <a:t>|ΔSSIM| ≤ 0.01</a:t>
            </a:r>
            <a:endParaRPr lang="en-US" sz="1400" dirty="0"/>
          </a:p>
          <a:p>
            <a:pPr indent="0" marL="0">
              <a:lnSpc>
                <a:spcPct val="100000"/>
              </a:lnSpc>
              <a:spcAft>
                <a:spcPts val="400"/>
              </a:spcAft>
              <a:buNone/>
            </a:pPr>
            <a:r>
              <a:rPr lang="en-US" sz="1400" dirty="0">
                <a:solidFill>
                  <a:srgbClr val="17212B"/>
                </a:solidFill>
                <a:latin typeface="Arial" pitchFamily="34" charset="0"/>
                <a:ea typeface="Arial" pitchFamily="34" charset="-122"/>
                <a:cs typeface="Arial" pitchFamily="34" charset="-120"/>
              </a:rPr>
              <a:t>|ΔLPIPS| ≤ 0.01</a:t>
            </a:r>
            <a:endParaRPr lang="en-US" sz="1400" dirty="0"/>
          </a:p>
          <a:p>
            <a:pPr indent="0" marL="0">
              <a:lnSpc>
                <a:spcPct val="100000"/>
              </a:lnSpc>
              <a:spcAft>
                <a:spcPts val="400"/>
              </a:spcAft>
              <a:buNone/>
            </a:pPr>
            <a:r>
              <a:rPr lang="en-US" sz="1400" dirty="0">
                <a:solidFill>
                  <a:srgbClr val="17212B"/>
                </a:solidFill>
                <a:latin typeface="Arial" pitchFamily="34" charset="0"/>
                <a:ea typeface="Arial" pitchFamily="34" charset="-122"/>
                <a:cs typeface="Arial" pitchFamily="34" charset="-120"/>
              </a:rPr>
              <a:t>KS ≤ 0.14, per metric</a:t>
            </a:r>
            <a:endParaRPr lang="en-US" sz="1400" dirty="0"/>
          </a:p>
        </p:txBody>
      </p:sp>
      <p:sp>
        <p:nvSpPr>
          <p:cNvPr id="23" name="Guard label 3"/>
          <p:cNvSpPr txBox="1"/>
          <p:nvPr/>
        </p:nvSpPr>
        <p:spPr>
          <a:xfrm>
            <a:off x="6495898" y="4315968"/>
            <a:ext cx="2057400" cy="274320"/>
          </a:xfrm>
          <a:prstGeom prst="rect">
            <a:avLst/>
          </a:prstGeom>
          <a:noFill/>
          <a:ln/>
        </p:spPr>
        <p:txBody>
          <a:bodyPr wrap="square" lIns="0" tIns="0" rIns="0" bIns="0" rtlCol="0" anchor="ctr"/>
          <a:lstStyle/>
          <a:p>
            <a:pPr indent="0" marL="0">
              <a:lnSpc>
                <a:spcPct val="100000"/>
              </a:lnSpc>
              <a:buNone/>
            </a:pPr>
            <a:r>
              <a:rPr lang="en-US" sz="1200" b="1" spc="100" kern="0" dirty="0">
                <a:solidFill>
                  <a:srgbClr val="5B6B78"/>
                </a:solidFill>
                <a:latin typeface="Arial" pitchFamily="34" charset="0"/>
                <a:ea typeface="Arial" pitchFamily="34" charset="-122"/>
                <a:cs typeface="Arial" pitchFamily="34" charset="-120"/>
              </a:rPr>
              <a:t>GUARDS AGAINST</a:t>
            </a:r>
            <a:endParaRPr lang="en-US" sz="1200" dirty="0"/>
          </a:p>
        </p:txBody>
      </p:sp>
      <p:pic>
        <p:nvPicPr>
          <p:cNvPr id="24" name="Image 2" descr="Tail shift">    </p:cNvPr>
          <p:cNvPicPr>
            <a:picLocks noChangeAspect="1"/>
          </p:cNvPicPr>
          <p:nvPr/>
        </p:nvPicPr>
        <p:blipFill>
          <a:blip r:embed="rId3"/>
          <a:stretch>
            <a:fillRect/>
          </a:stretch>
        </p:blipFill>
        <p:spPr>
          <a:xfrm>
            <a:off x="6495898" y="4645152"/>
            <a:ext cx="228600" cy="228600"/>
          </a:xfrm>
          <a:prstGeom prst="rect">
            <a:avLst/>
          </a:prstGeom>
        </p:spPr>
      </p:pic>
      <p:sp>
        <p:nvSpPr>
          <p:cNvPr id="25" name="Guard 3.1"/>
          <p:cNvSpPr txBox="1"/>
          <p:nvPr/>
        </p:nvSpPr>
        <p:spPr>
          <a:xfrm>
            <a:off x="6834226" y="4617720"/>
            <a:ext cx="1783080" cy="283464"/>
          </a:xfrm>
          <a:prstGeom prst="rect">
            <a:avLst/>
          </a:prstGeom>
          <a:noFill/>
          <a:ln/>
        </p:spPr>
        <p:txBody>
          <a:bodyPr wrap="square" lIns="0" tIns="0" rIns="0" bIns="0" rtlCol="0" anchor="ctr"/>
          <a:lstStyle/>
          <a:p>
            <a:pPr indent="0" marL="0">
              <a:lnSpc>
                <a:spcPct val="100000"/>
              </a:lnSpc>
              <a:buNone/>
            </a:pPr>
            <a:r>
              <a:rPr lang="en-US" sz="1400" b="1" dirty="0">
                <a:solidFill>
                  <a:srgbClr val="17212B"/>
                </a:solidFill>
                <a:latin typeface="Arial" pitchFamily="34" charset="0"/>
                <a:ea typeface="Arial" pitchFamily="34" charset="-122"/>
                <a:cs typeface="Arial" pitchFamily="34" charset="-120"/>
              </a:rPr>
              <a:t>Tail shift</a:t>
            </a:r>
            <a:endParaRPr lang="en-US" sz="1400" dirty="0"/>
          </a:p>
        </p:txBody>
      </p:sp>
      <p:pic>
        <p:nvPicPr>
          <p:cNvPr id="26" name="Image 3" descr="Metric leakage">    </p:cNvPr>
          <p:cNvPicPr>
            <a:picLocks noChangeAspect="1"/>
          </p:cNvPicPr>
          <p:nvPr/>
        </p:nvPicPr>
        <p:blipFill>
          <a:blip r:embed="rId4"/>
          <a:stretch>
            <a:fillRect/>
          </a:stretch>
        </p:blipFill>
        <p:spPr>
          <a:xfrm>
            <a:off x="6495898" y="4956048"/>
            <a:ext cx="228600" cy="228600"/>
          </a:xfrm>
          <a:prstGeom prst="rect">
            <a:avLst/>
          </a:prstGeom>
        </p:spPr>
      </p:pic>
      <p:sp>
        <p:nvSpPr>
          <p:cNvPr id="27" name="Guard 3.2"/>
          <p:cNvSpPr txBox="1"/>
          <p:nvPr/>
        </p:nvSpPr>
        <p:spPr>
          <a:xfrm>
            <a:off x="6834226" y="4928616"/>
            <a:ext cx="1783080" cy="283464"/>
          </a:xfrm>
          <a:prstGeom prst="rect">
            <a:avLst/>
          </a:prstGeom>
          <a:noFill/>
          <a:ln/>
        </p:spPr>
        <p:txBody>
          <a:bodyPr wrap="square" lIns="0" tIns="0" rIns="0" bIns="0" rtlCol="0" anchor="ctr"/>
          <a:lstStyle/>
          <a:p>
            <a:pPr indent="0" marL="0">
              <a:lnSpc>
                <a:spcPct val="100000"/>
              </a:lnSpc>
              <a:buNone/>
            </a:pPr>
            <a:r>
              <a:rPr lang="en-US" sz="1400" b="1" dirty="0">
                <a:solidFill>
                  <a:srgbClr val="17212B"/>
                </a:solidFill>
                <a:latin typeface="Arial" pitchFamily="34" charset="0"/>
                <a:ea typeface="Arial" pitchFamily="34" charset="-122"/>
                <a:cs typeface="Arial" pitchFamily="34" charset="-120"/>
              </a:rPr>
              <a:t>Metric leakage</a:t>
            </a:r>
            <a:endParaRPr lang="en-US" sz="1400" dirty="0"/>
          </a:p>
        </p:txBody>
      </p:sp>
      <p:sp>
        <p:nvSpPr>
          <p:cNvPr id="28" name="Arrow 3"/>
          <p:cNvSpPr/>
          <p:nvPr/>
        </p:nvSpPr>
        <p:spPr>
          <a:xfrm>
            <a:off x="8873338" y="3200400"/>
            <a:ext cx="164592" cy="274320"/>
          </a:xfrm>
          <a:prstGeom prst="chevron">
            <a:avLst/>
          </a:prstGeom>
          <a:solidFill>
            <a:srgbClr val="5B6B78"/>
          </a:solidFill>
          <a:ln/>
        </p:spPr>
      </p:sp>
      <p:sp>
        <p:nvSpPr>
          <p:cNvPr id="29" name="Step card 4"/>
          <p:cNvSpPr/>
          <p:nvPr/>
        </p:nvSpPr>
        <p:spPr>
          <a:xfrm>
            <a:off x="9126626" y="1417320"/>
            <a:ext cx="2514600" cy="3886200"/>
          </a:xfrm>
          <a:prstGeom prst="roundRect">
            <a:avLst>
              <a:gd name="adj" fmla="val 4364"/>
            </a:avLst>
          </a:prstGeom>
          <a:solidFill>
            <a:srgbClr val="10313A"/>
          </a:solidFill>
          <a:ln/>
        </p:spPr>
      </p:sp>
      <p:sp>
        <p:nvSpPr>
          <p:cNvPr id="30" name="Step num bg 4"/>
          <p:cNvSpPr/>
          <p:nvPr/>
        </p:nvSpPr>
        <p:spPr>
          <a:xfrm>
            <a:off x="9355226" y="1645920"/>
            <a:ext cx="548640" cy="548640"/>
          </a:xfrm>
          <a:prstGeom prst="ellipse">
            <a:avLst/>
          </a:prstGeom>
          <a:solidFill>
            <a:srgbClr val="E4572E"/>
          </a:solidFill>
          <a:ln/>
        </p:spPr>
      </p:sp>
      <p:sp>
        <p:nvSpPr>
          <p:cNvPr id="31" name="Step num 4"/>
          <p:cNvSpPr txBox="1"/>
          <p:nvPr/>
        </p:nvSpPr>
        <p:spPr>
          <a:xfrm>
            <a:off x="9355226" y="1645920"/>
            <a:ext cx="548640" cy="548640"/>
          </a:xfrm>
          <a:prstGeom prst="rect">
            <a:avLst/>
          </a:prstGeom>
          <a:noFill/>
          <a:ln/>
        </p:spPr>
        <p:txBody>
          <a:bodyPr wrap="square" lIns="0" tIns="0" rIns="0" bIns="0" rtlCol="0" anchor="ctr"/>
          <a:lstStyle/>
          <a:p>
            <a:pPr algn="ctr" indent="0" marL="0">
              <a:lnSpc>
                <a:spcPct val="100000"/>
              </a:lnSpc>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32" name="Step name 4"/>
          <p:cNvSpPr txBox="1"/>
          <p:nvPr/>
        </p:nvSpPr>
        <p:spPr>
          <a:xfrm>
            <a:off x="9355226" y="2331720"/>
            <a:ext cx="2057400" cy="457200"/>
          </a:xfrm>
          <a:prstGeom prst="rect">
            <a:avLst/>
          </a:prstGeom>
          <a:noFill/>
          <a:ln/>
        </p:spPr>
        <p:txBody>
          <a:bodyPr wrap="square" lIns="0" tIns="0" rIns="0" bIns="0" rtlCol="0" anchor="ctr"/>
          <a:lstStyle/>
          <a:p>
            <a:pPr indent="0" marL="0">
              <a:lnSpc>
                <a:spcPct val="100000"/>
              </a:lnSpc>
              <a:buNone/>
            </a:pPr>
            <a:r>
              <a:rPr lang="en-US" sz="2100" b="1" dirty="0">
                <a:solidFill>
                  <a:srgbClr val="FFFFFF"/>
                </a:solidFill>
                <a:latin typeface="Arial" pitchFamily="34" charset="0"/>
                <a:ea typeface="Arial" pitchFamily="34" charset="-122"/>
                <a:cs typeface="Arial" pitchFamily="34" charset="-120"/>
              </a:rPr>
              <a:t>Audit</a:t>
            </a:r>
            <a:endParaRPr lang="en-US" sz="2100" dirty="0"/>
          </a:p>
        </p:txBody>
      </p:sp>
      <p:sp>
        <p:nvSpPr>
          <p:cNvPr id="33" name="Step body 4"/>
          <p:cNvSpPr txBox="1"/>
          <p:nvPr/>
        </p:nvSpPr>
        <p:spPr>
          <a:xfrm>
            <a:off x="9355226" y="2834640"/>
            <a:ext cx="2103120" cy="1463040"/>
          </a:xfrm>
          <a:prstGeom prst="rect">
            <a:avLst/>
          </a:prstGeom>
          <a:noFill/>
          <a:ln/>
        </p:spPr>
        <p:txBody>
          <a:bodyPr wrap="square" lIns="0" tIns="0" rIns="0" bIns="0" rtlCol="0" anchor="t"/>
          <a:lstStyle/>
          <a:p>
            <a:pPr indent="0" marL="0">
              <a:lnSpc>
                <a:spcPct val="100000"/>
              </a:lnSpc>
              <a:spcAft>
                <a:spcPts val="400"/>
              </a:spcAft>
              <a:buNone/>
            </a:pPr>
            <a:r>
              <a:rPr lang="en-US" sz="1400" dirty="0">
                <a:solidFill>
                  <a:srgbClr val="FFFFFF"/>
                </a:solidFill>
                <a:latin typeface="Arial" pitchFamily="34" charset="0"/>
                <a:ea typeface="Arial" pitchFamily="34" charset="-122"/>
                <a:cs typeface="Arial" pitchFamily="34" charset="-120"/>
              </a:rPr>
              <a:t>Wilson 95% lower bound (LCB) on the pass rate</a:t>
            </a:r>
            <a:endParaRPr lang="en-US" sz="1400" dirty="0"/>
          </a:p>
          <a:p>
            <a:pPr indent="0" marL="0">
              <a:lnSpc>
                <a:spcPct val="100000"/>
              </a:lnSpc>
              <a:spcAft>
                <a:spcPts val="400"/>
              </a:spcAft>
              <a:buNone/>
            </a:pPr>
            <a:r>
              <a:rPr lang="en-US" sz="1400" dirty="0">
                <a:solidFill>
                  <a:srgbClr val="FFFFFF"/>
                </a:solidFill>
                <a:latin typeface="Arial" pitchFamily="34" charset="0"/>
                <a:ea typeface="Arial" pitchFamily="34" charset="-122"/>
                <a:cs typeface="Arial" pitchFamily="34" charset="-120"/>
              </a:rPr>
              <a:t>Pick the smallest B with LCB ≥ target</a:t>
            </a:r>
            <a:endParaRPr lang="en-US" sz="1400" dirty="0"/>
          </a:p>
        </p:txBody>
      </p:sp>
      <p:sp>
        <p:nvSpPr>
          <p:cNvPr id="34" name="Guard label 4"/>
          <p:cNvSpPr txBox="1"/>
          <p:nvPr/>
        </p:nvSpPr>
        <p:spPr>
          <a:xfrm>
            <a:off x="9355226" y="4315968"/>
            <a:ext cx="2057400" cy="274320"/>
          </a:xfrm>
          <a:prstGeom prst="rect">
            <a:avLst/>
          </a:prstGeom>
          <a:noFill/>
          <a:ln/>
        </p:spPr>
        <p:txBody>
          <a:bodyPr wrap="square" lIns="0" tIns="0" rIns="0" bIns="0" rtlCol="0" anchor="ctr"/>
          <a:lstStyle/>
          <a:p>
            <a:pPr indent="0" marL="0">
              <a:lnSpc>
                <a:spcPct val="100000"/>
              </a:lnSpc>
              <a:buNone/>
            </a:pPr>
            <a:r>
              <a:rPr lang="en-US" sz="1200" b="1" spc="100" kern="0" dirty="0">
                <a:solidFill>
                  <a:srgbClr val="7FC8BF"/>
                </a:solidFill>
                <a:latin typeface="Arial" pitchFamily="34" charset="0"/>
                <a:ea typeface="Arial" pitchFamily="34" charset="-122"/>
                <a:cs typeface="Arial" pitchFamily="34" charset="-120"/>
              </a:rPr>
              <a:t>GUARDS AGAINST</a:t>
            </a:r>
            <a:endParaRPr lang="en-US" sz="1200" dirty="0"/>
          </a:p>
        </p:txBody>
      </p:sp>
      <p:pic>
        <p:nvPicPr>
          <p:cNvPr id="35" name="Image 4" descr="Sampling luck">    </p:cNvPr>
          <p:cNvPicPr>
            <a:picLocks noChangeAspect="1"/>
          </p:cNvPicPr>
          <p:nvPr/>
        </p:nvPicPr>
        <p:blipFill>
          <a:blip r:embed="rId5"/>
          <a:stretch>
            <a:fillRect/>
          </a:stretch>
        </p:blipFill>
        <p:spPr>
          <a:xfrm>
            <a:off x="9355226" y="4645152"/>
            <a:ext cx="228600" cy="228600"/>
          </a:xfrm>
          <a:prstGeom prst="rect">
            <a:avLst/>
          </a:prstGeom>
        </p:spPr>
      </p:pic>
      <p:sp>
        <p:nvSpPr>
          <p:cNvPr id="36" name="Guard 4.1"/>
          <p:cNvSpPr txBox="1"/>
          <p:nvPr/>
        </p:nvSpPr>
        <p:spPr>
          <a:xfrm>
            <a:off x="9693554" y="4617720"/>
            <a:ext cx="1783080" cy="283464"/>
          </a:xfrm>
          <a:prstGeom prst="rect">
            <a:avLst/>
          </a:prstGeom>
          <a:noFill/>
          <a:ln/>
        </p:spPr>
        <p:txBody>
          <a:bodyPr wrap="square" lIns="0" tIns="0" rIns="0" bIns="0" rtlCol="0" anchor="ctr"/>
          <a:lstStyle/>
          <a:p>
            <a:pPr indent="0" marL="0">
              <a:lnSpc>
                <a:spcPct val="100000"/>
              </a:lnSpc>
              <a:buNone/>
            </a:pPr>
            <a:r>
              <a:rPr lang="en-US" sz="1400" b="1" dirty="0">
                <a:solidFill>
                  <a:srgbClr val="FFFFFF"/>
                </a:solidFill>
                <a:latin typeface="Arial" pitchFamily="34" charset="0"/>
                <a:ea typeface="Arial" pitchFamily="34" charset="-122"/>
                <a:cs typeface="Arial" pitchFamily="34" charset="-120"/>
              </a:rPr>
              <a:t>Sampling luck</a:t>
            </a:r>
            <a:endParaRPr lang="en-US" sz="1400" dirty="0"/>
          </a:p>
        </p:txBody>
      </p:sp>
      <p:sp>
        <p:nvSpPr>
          <p:cNvPr id="37" name="Note icon bg 1"/>
          <p:cNvSpPr/>
          <p:nvPr/>
        </p:nvSpPr>
        <p:spPr>
          <a:xfrm>
            <a:off x="548640" y="5532120"/>
            <a:ext cx="548640" cy="548640"/>
          </a:xfrm>
          <a:prstGeom prst="ellipse">
            <a:avLst/>
          </a:prstGeom>
          <a:solidFill>
            <a:srgbClr val="EEF3F4"/>
          </a:solidFill>
          <a:ln/>
        </p:spPr>
      </p:sp>
      <p:pic>
        <p:nvPicPr>
          <p:cNvPr id="38" name="Image 5" descr="Export: ">    </p:cNvPr>
          <p:cNvPicPr>
            <a:picLocks noChangeAspect="1"/>
          </p:cNvPicPr>
          <p:nvPr/>
        </p:nvPicPr>
        <p:blipFill>
          <a:blip r:embed="rId6"/>
          <a:stretch>
            <a:fillRect/>
          </a:stretch>
        </p:blipFill>
        <p:spPr>
          <a:xfrm>
            <a:off x="685800" y="5669280"/>
            <a:ext cx="274320" cy="274320"/>
          </a:xfrm>
          <a:prstGeom prst="rect">
            <a:avLst/>
          </a:prstGeom>
        </p:spPr>
      </p:pic>
      <p:sp>
        <p:nvSpPr>
          <p:cNvPr id="39" name="Note 1"/>
          <p:cNvSpPr txBox="1"/>
          <p:nvPr/>
        </p:nvSpPr>
        <p:spPr>
          <a:xfrm>
            <a:off x="1280160" y="5486400"/>
            <a:ext cx="4846320" cy="640080"/>
          </a:xfrm>
          <a:prstGeom prst="rect">
            <a:avLst/>
          </a:prstGeom>
          <a:noFill/>
          <a:ln/>
        </p:spPr>
        <p:txBody>
          <a:bodyPr wrap="square" lIns="0" tIns="0" rIns="0" bIns="0" rtlCol="0" anchor="ctr"/>
          <a:lstStyle/>
          <a:p>
            <a:pPr indent="0" marL="0">
              <a:lnSpc>
                <a:spcPct val="100000"/>
              </a:lnSpc>
              <a:buNone/>
            </a:pPr>
            <a:r>
              <a:rPr lang="en-US" sz="1400" b="1" dirty="0">
                <a:solidFill>
                  <a:srgbClr val="17212B"/>
                </a:solidFill>
                <a:latin typeface="Arial" pitchFamily="34" charset="0"/>
                <a:ea typeface="Arial" pitchFamily="34" charset="-122"/>
                <a:cs typeface="Arial" pitchFamily="34" charset="-120"/>
              </a:rPr>
              <a:t>Export: </a:t>
            </a:r>
            <a:pPr indent="0" marL="0">
              <a:lnSpc>
                <a:spcPct val="100000"/>
              </a:lnSpc>
              <a:buNone/>
            </a:pPr>
            <a:r>
              <a:rPr lang="en-US" sz="1400" dirty="0">
                <a:solidFill>
                  <a:srgbClr val="17212B"/>
                </a:solidFill>
                <a:latin typeface="Arial" pitchFamily="34" charset="0"/>
                <a:ea typeface="Arial" pitchFamily="34" charset="-122"/>
                <a:cs typeface="Arial" pitchFamily="34" charset="-120"/>
              </a:rPr>
              <a:t>release one passing draw, picked by a</a:t>
            </a:r>
            <a:endParaRPr lang="en-US" sz="1400" dirty="0"/>
          </a:p>
          <a:p>
            <a:pPr indent="0" marL="0">
              <a:lnSpc>
                <a:spcPct val="100000"/>
              </a:lnSpc>
              <a:buNone/>
            </a:pPr>
            <a:r>
              <a:rPr lang="en-US" sz="1400" dirty="0">
                <a:solidFill>
                  <a:srgbClr val="17212B"/>
                </a:solidFill>
                <a:latin typeface="Arial" pitchFamily="34" charset="0"/>
                <a:ea typeface="Arial" pitchFamily="34" charset="-122"/>
                <a:cs typeface="Arial" pitchFamily="34" charset="-120"/>
              </a:rPr>
              <a:t>fixed rule, and validate it on its own</a:t>
            </a:r>
            <a:endParaRPr lang="en-US" sz="1400" dirty="0"/>
          </a:p>
        </p:txBody>
      </p:sp>
      <p:sp>
        <p:nvSpPr>
          <p:cNvPr id="40" name="Note icon bg 2"/>
          <p:cNvSpPr/>
          <p:nvPr/>
        </p:nvSpPr>
        <p:spPr>
          <a:xfrm>
            <a:off x="6267298" y="5532120"/>
            <a:ext cx="548640" cy="548640"/>
          </a:xfrm>
          <a:prstGeom prst="ellipse">
            <a:avLst/>
          </a:prstGeom>
          <a:solidFill>
            <a:srgbClr val="EEF3F4"/>
          </a:solidFill>
          <a:ln/>
        </p:spPr>
      </p:sp>
      <p:pic>
        <p:nvPicPr>
          <p:cNvPr id="41" name="Image 6" descr="Log-based: ">    </p:cNvPr>
          <p:cNvPicPr>
            <a:picLocks noChangeAspect="1"/>
          </p:cNvPicPr>
          <p:nvPr/>
        </p:nvPicPr>
        <p:blipFill>
          <a:blip r:embed="rId7"/>
          <a:stretch>
            <a:fillRect/>
          </a:stretch>
        </p:blipFill>
        <p:spPr>
          <a:xfrm>
            <a:off x="6404458" y="5669280"/>
            <a:ext cx="274320" cy="274320"/>
          </a:xfrm>
          <a:prstGeom prst="rect">
            <a:avLst/>
          </a:prstGeom>
        </p:spPr>
      </p:pic>
      <p:sp>
        <p:nvSpPr>
          <p:cNvPr id="42" name="Note 2"/>
          <p:cNvSpPr txBox="1"/>
          <p:nvPr/>
        </p:nvSpPr>
        <p:spPr>
          <a:xfrm>
            <a:off x="6998818" y="5486400"/>
            <a:ext cx="4846320" cy="640080"/>
          </a:xfrm>
          <a:prstGeom prst="rect">
            <a:avLst/>
          </a:prstGeom>
          <a:noFill/>
          <a:ln/>
        </p:spPr>
        <p:txBody>
          <a:bodyPr wrap="square" lIns="0" tIns="0" rIns="0" bIns="0" rtlCol="0" anchor="ctr"/>
          <a:lstStyle/>
          <a:p>
            <a:pPr indent="0" marL="0">
              <a:lnSpc>
                <a:spcPct val="100000"/>
              </a:lnSpc>
              <a:buNone/>
            </a:pPr>
            <a:r>
              <a:rPr lang="en-US" sz="1400" b="1" dirty="0">
                <a:solidFill>
                  <a:srgbClr val="17212B"/>
                </a:solidFill>
                <a:latin typeface="Arial" pitchFamily="34" charset="0"/>
                <a:ea typeface="Arial" pitchFamily="34" charset="-122"/>
                <a:cs typeface="Arial" pitchFamily="34" charset="-120"/>
              </a:rPr>
              <a:t>Log-based: </a:t>
            </a:r>
            <a:pPr indent="0" marL="0">
              <a:lnSpc>
                <a:spcPct val="100000"/>
              </a:lnSpc>
              <a:buNone/>
            </a:pPr>
            <a:r>
              <a:rPr lang="en-US" sz="1400" dirty="0">
                <a:solidFill>
                  <a:srgbClr val="17212B"/>
                </a:solidFill>
                <a:latin typeface="Arial" pitchFamily="34" charset="0"/>
                <a:ea typeface="Arial" pitchFamily="34" charset="-122"/>
                <a:cs typeface="Arial" pitchFamily="34" charset="-120"/>
              </a:rPr>
              <a:t>no GPU training; the audit reruns</a:t>
            </a:r>
            <a:endParaRPr lang="en-US" sz="1400" dirty="0"/>
          </a:p>
          <a:p>
            <a:pPr indent="0" marL="0">
              <a:lnSpc>
                <a:spcPct val="100000"/>
              </a:lnSpc>
              <a:buNone/>
            </a:pPr>
            <a:r>
              <a:rPr lang="en-US" sz="1400" dirty="0">
                <a:solidFill>
                  <a:srgbClr val="17212B"/>
                </a:solidFill>
                <a:latin typeface="Arial" pitchFamily="34" charset="0"/>
                <a:ea typeface="Arial" pitchFamily="34" charset="-122"/>
                <a:cs typeface="Arial" pitchFamily="34" charset="-120"/>
              </a:rPr>
              <a:t>on a CPU in minutes</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000" b="1" dirty="0">
                <a:solidFill>
                  <a:srgbClr val="17212B"/>
                </a:solidFill>
                <a:latin typeface="Arial" pitchFamily="34" charset="0"/>
                <a:ea typeface="Arial" pitchFamily="34" charset="-122"/>
                <a:cs typeface="Arial" pitchFamily="34" charset="-120"/>
              </a:rPr>
              <a:t>At 48 scenes, even the pessimistic rate clears the target</a:t>
            </a:r>
            <a:endParaRPr lang="en-US" sz="3000" dirty="0"/>
          </a:p>
        </p:txBody>
      </p:sp>
      <p:pic>
        <p:nvPicPr>
          <p:cNvPr id="3" name="Draw grid" descr="The 400 real candidate draws at 48 scenes, grouped: 88 pass all constraints, 7 match the means but fail KS, 305 fail a mean constraint">    </p:cNvPr>
          <p:cNvPicPr>
            <a:picLocks noChangeAspect="1"/>
          </p:cNvPicPr>
          <p:nvPr/>
        </p:nvPicPr>
        <p:blipFill>
          <a:blip r:embed="rId1"/>
          <a:stretch>
            <a:fillRect/>
          </a:stretch>
        </p:blipFill>
        <p:spPr>
          <a:xfrm>
            <a:off x="502920" y="1371600"/>
            <a:ext cx="4480560" cy="4480560"/>
          </a:xfrm>
          <a:prstGeom prst="rect">
            <a:avLst/>
          </a:prstGeom>
        </p:spPr>
      </p:pic>
      <p:sp>
        <p:nvSpPr>
          <p:cNvPr id="4" name="Grid caption"/>
          <p:cNvSpPr txBox="1"/>
          <p:nvPr/>
        </p:nvSpPr>
        <p:spPr>
          <a:xfrm>
            <a:off x="548640" y="5897880"/>
            <a:ext cx="4480560" cy="274320"/>
          </a:xfrm>
          <a:prstGeom prst="rect">
            <a:avLst/>
          </a:prstGeom>
          <a:noFill/>
          <a:ln/>
        </p:spPr>
        <p:txBody>
          <a:bodyPr wrap="square" lIns="0" tIns="0" rIns="0" bIns="0" rtlCol="0" anchor="ctr"/>
          <a:lstStyle/>
          <a:p>
            <a:pPr indent="0" marL="0">
              <a:lnSpc>
                <a:spcPct val="100000"/>
              </a:lnSpc>
              <a:buNone/>
            </a:pPr>
            <a:r>
              <a:rPr lang="en-US" sz="1300" dirty="0">
                <a:solidFill>
                  <a:srgbClr val="5B6B78"/>
                </a:solidFill>
                <a:latin typeface="Arial" pitchFamily="34" charset="0"/>
                <a:ea typeface="Arial" pitchFamily="34" charset="-122"/>
                <a:cs typeface="Arial" pitchFamily="34" charset="-120"/>
              </a:rPr>
              <a:t>The 400 real candidate draws at 48 scenes</a:t>
            </a:r>
            <a:endParaRPr lang="en-US" sz="1300" dirty="0"/>
          </a:p>
        </p:txBody>
      </p:sp>
      <p:sp>
        <p:nvSpPr>
          <p:cNvPr id="5" name="Key swatch 1"/>
          <p:cNvSpPr/>
          <p:nvPr/>
        </p:nvSpPr>
        <p:spPr>
          <a:xfrm>
            <a:off x="5486400" y="1481328"/>
            <a:ext cx="256032" cy="256032"/>
          </a:xfrm>
          <a:prstGeom prst="rect">
            <a:avLst/>
          </a:prstGeom>
          <a:solidFill>
            <a:srgbClr val="1F8A80"/>
          </a:solidFill>
          <a:ln/>
        </p:spPr>
      </p:sp>
      <p:sp>
        <p:nvSpPr>
          <p:cNvPr id="6" name="Key label 1"/>
          <p:cNvSpPr txBox="1"/>
          <p:nvPr/>
        </p:nvSpPr>
        <p:spPr>
          <a:xfrm>
            <a:off x="5897880" y="1435608"/>
            <a:ext cx="5760720" cy="347472"/>
          </a:xfrm>
          <a:prstGeom prst="rect">
            <a:avLst/>
          </a:prstGeom>
          <a:noFill/>
          <a:ln/>
        </p:spPr>
        <p:txBody>
          <a:bodyPr wrap="square" lIns="0" tIns="0" rIns="0" bIns="0" rtlCol="0" anchor="ctr"/>
          <a:lstStyle/>
          <a:p>
            <a:pPr indent="0" marL="0">
              <a:lnSpc>
                <a:spcPct val="100000"/>
              </a:lnSpc>
              <a:buNone/>
            </a:pPr>
            <a:r>
              <a:rPr lang="en-US" sz="1500" dirty="0">
                <a:solidFill>
                  <a:srgbClr val="17212B"/>
                </a:solidFill>
                <a:latin typeface="Arial" pitchFamily="34" charset="0"/>
                <a:ea typeface="Arial" pitchFamily="34" charset="-122"/>
                <a:cs typeface="Arial" pitchFamily="34" charset="-120"/>
              </a:rPr>
              <a:t>Pass all six constraints (88)</a:t>
            </a:r>
            <a:endParaRPr lang="en-US" sz="1500" dirty="0"/>
          </a:p>
        </p:txBody>
      </p:sp>
      <p:sp>
        <p:nvSpPr>
          <p:cNvPr id="7" name="Key swatch 2"/>
          <p:cNvSpPr/>
          <p:nvPr/>
        </p:nvSpPr>
        <p:spPr>
          <a:xfrm>
            <a:off x="5486400" y="1892808"/>
            <a:ext cx="256032" cy="256032"/>
          </a:xfrm>
          <a:prstGeom prst="rect">
            <a:avLst/>
          </a:prstGeom>
          <a:solidFill>
            <a:srgbClr val="C27A00"/>
          </a:solidFill>
          <a:ln/>
        </p:spPr>
      </p:sp>
      <p:sp>
        <p:nvSpPr>
          <p:cNvPr id="8" name="Key label 2"/>
          <p:cNvSpPr txBox="1"/>
          <p:nvPr/>
        </p:nvSpPr>
        <p:spPr>
          <a:xfrm>
            <a:off x="5897880" y="1847088"/>
            <a:ext cx="5760720" cy="347472"/>
          </a:xfrm>
          <a:prstGeom prst="rect">
            <a:avLst/>
          </a:prstGeom>
          <a:noFill/>
          <a:ln/>
        </p:spPr>
        <p:txBody>
          <a:bodyPr wrap="square" lIns="0" tIns="0" rIns="0" bIns="0" rtlCol="0" anchor="ctr"/>
          <a:lstStyle/>
          <a:p>
            <a:pPr indent="0" marL="0">
              <a:lnSpc>
                <a:spcPct val="100000"/>
              </a:lnSpc>
              <a:buNone/>
            </a:pPr>
            <a:r>
              <a:rPr lang="en-US" sz="1500" dirty="0">
                <a:solidFill>
                  <a:srgbClr val="17212B"/>
                </a:solidFill>
                <a:latin typeface="Arial" pitchFamily="34" charset="0"/>
                <a:ea typeface="Arial" pitchFamily="34" charset="-122"/>
                <a:cs typeface="Arial" pitchFamily="34" charset="-120"/>
              </a:rPr>
              <a:t>Means match, KS fails: tail shift caught (7)</a:t>
            </a:r>
            <a:endParaRPr lang="en-US" sz="1500" dirty="0"/>
          </a:p>
        </p:txBody>
      </p:sp>
      <p:sp>
        <p:nvSpPr>
          <p:cNvPr id="9" name="Key swatch 3"/>
          <p:cNvSpPr/>
          <p:nvPr/>
        </p:nvSpPr>
        <p:spPr>
          <a:xfrm>
            <a:off x="5486400" y="2304288"/>
            <a:ext cx="256032" cy="256032"/>
          </a:xfrm>
          <a:prstGeom prst="rect">
            <a:avLst/>
          </a:prstGeom>
          <a:solidFill>
            <a:srgbClr val="DDE3E6"/>
          </a:solidFill>
          <a:ln/>
        </p:spPr>
      </p:sp>
      <p:sp>
        <p:nvSpPr>
          <p:cNvPr id="10" name="Key label 3"/>
          <p:cNvSpPr txBox="1"/>
          <p:nvPr/>
        </p:nvSpPr>
        <p:spPr>
          <a:xfrm>
            <a:off x="5897880" y="2258568"/>
            <a:ext cx="5760720" cy="347472"/>
          </a:xfrm>
          <a:prstGeom prst="rect">
            <a:avLst/>
          </a:prstGeom>
          <a:noFill/>
          <a:ln/>
        </p:spPr>
        <p:txBody>
          <a:bodyPr wrap="square" lIns="0" tIns="0" rIns="0" bIns="0" rtlCol="0" anchor="ctr"/>
          <a:lstStyle/>
          <a:p>
            <a:pPr indent="0" marL="0">
              <a:lnSpc>
                <a:spcPct val="100000"/>
              </a:lnSpc>
              <a:buNone/>
            </a:pPr>
            <a:r>
              <a:rPr lang="en-US" sz="1500" dirty="0">
                <a:solidFill>
                  <a:srgbClr val="17212B"/>
                </a:solidFill>
                <a:latin typeface="Arial" pitchFamily="34" charset="0"/>
                <a:ea typeface="Arial" pitchFamily="34" charset="-122"/>
                <a:cs typeface="Arial" pitchFamily="34" charset="-120"/>
              </a:rPr>
              <a:t>Fail a mean constraint (305)</a:t>
            </a:r>
            <a:endParaRPr lang="en-US" sz="1500" dirty="0"/>
          </a:p>
        </p:txBody>
      </p:sp>
      <p:sp>
        <p:nvSpPr>
          <p:cNvPr id="11" name="Verdict card"/>
          <p:cNvSpPr/>
          <p:nvPr/>
        </p:nvSpPr>
        <p:spPr>
          <a:xfrm>
            <a:off x="5486400" y="2880360"/>
            <a:ext cx="6153912" cy="1874520"/>
          </a:xfrm>
          <a:prstGeom prst="roundRect">
            <a:avLst>
              <a:gd name="adj" fmla="val 5854"/>
            </a:avLst>
          </a:prstGeom>
          <a:solidFill>
            <a:srgbClr val="10313A"/>
          </a:solidFill>
          <a:ln/>
        </p:spPr>
      </p:sp>
      <p:sp>
        <p:nvSpPr>
          <p:cNvPr id="12" name="Verdict rate"/>
          <p:cNvSpPr txBox="1"/>
          <p:nvPr/>
        </p:nvSpPr>
        <p:spPr>
          <a:xfrm>
            <a:off x="5806440" y="3017520"/>
            <a:ext cx="5669280" cy="457200"/>
          </a:xfrm>
          <a:prstGeom prst="rect">
            <a:avLst/>
          </a:prstGeom>
          <a:noFill/>
          <a:ln/>
        </p:spPr>
        <p:txBody>
          <a:bodyPr wrap="square" lIns="0" tIns="0" rIns="0" bIns="0" rtlCol="0" anchor="ctr"/>
          <a:lstStyle/>
          <a:p>
            <a:pPr indent="0" marL="0">
              <a:lnSpc>
                <a:spcPct val="100000"/>
              </a:lnSpc>
              <a:buNone/>
            </a:pPr>
            <a:r>
              <a:rPr lang="en-US" sz="1900" dirty="0">
                <a:solidFill>
                  <a:srgbClr val="FFFFFF"/>
                </a:solidFill>
                <a:latin typeface="Arial" pitchFamily="34" charset="0"/>
                <a:ea typeface="Arial" pitchFamily="34" charset="-122"/>
                <a:cs typeface="Arial" pitchFamily="34" charset="-120"/>
              </a:rPr>
              <a:t>Pass rate   </a:t>
            </a:r>
            <a:pPr indent="0" marL="0">
              <a:lnSpc>
                <a:spcPct val="100000"/>
              </a:lnSpc>
              <a:buNone/>
            </a:pPr>
            <a:r>
              <a:rPr lang="en-US" sz="1900" b="1" dirty="0">
                <a:solidFill>
                  <a:srgbClr val="FFFFFF"/>
                </a:solidFill>
                <a:latin typeface="Arial" pitchFamily="34" charset="0"/>
                <a:ea typeface="Arial" pitchFamily="34" charset="-122"/>
                <a:cs typeface="Arial" pitchFamily="34" charset="-120"/>
              </a:rPr>
              <a:t>88 / 400 = 0.22</a:t>
            </a:r>
            <a:endParaRPr lang="en-US" sz="1900" dirty="0"/>
          </a:p>
        </p:txBody>
      </p:sp>
      <p:sp>
        <p:nvSpPr>
          <p:cNvPr id="13" name="Verdict bound"/>
          <p:cNvSpPr txBox="1"/>
          <p:nvPr/>
        </p:nvSpPr>
        <p:spPr>
          <a:xfrm>
            <a:off x="5806440" y="3520440"/>
            <a:ext cx="5669280" cy="502920"/>
          </a:xfrm>
          <a:prstGeom prst="rect">
            <a:avLst/>
          </a:prstGeom>
          <a:noFill/>
          <a:ln/>
        </p:spPr>
        <p:txBody>
          <a:bodyPr wrap="square" lIns="0" tIns="0" rIns="0" bIns="0" rtlCol="0" anchor="ctr"/>
          <a:lstStyle/>
          <a:p>
            <a:pPr indent="0" marL="0">
              <a:lnSpc>
                <a:spcPct val="100000"/>
              </a:lnSpc>
              <a:buNone/>
            </a:pPr>
            <a:r>
              <a:rPr lang="en-US" sz="2100" dirty="0">
                <a:solidFill>
                  <a:srgbClr val="FFFFFF"/>
                </a:solidFill>
                <a:latin typeface="Arial" pitchFamily="34" charset="0"/>
                <a:ea typeface="Arial" pitchFamily="34" charset="-122"/>
                <a:cs typeface="Arial" pitchFamily="34" charset="-120"/>
              </a:rPr>
              <a:t>Wilson 95% LCB   </a:t>
            </a:r>
            <a:pPr indent="0" marL="0">
              <a:lnSpc>
                <a:spcPct val="100000"/>
              </a:lnSpc>
              <a:buNone/>
            </a:pPr>
            <a:r>
              <a:rPr lang="en-US" sz="2100" b="1" dirty="0">
                <a:solidFill>
                  <a:srgbClr val="E4572E"/>
                </a:solidFill>
                <a:latin typeface="Arial" pitchFamily="34" charset="0"/>
                <a:ea typeface="Arial" pitchFamily="34" charset="-122"/>
                <a:cs typeface="Arial" pitchFamily="34" charset="-120"/>
              </a:rPr>
              <a:t>0.182</a:t>
            </a:r>
            <a:pPr indent="0" marL="0">
              <a:lnSpc>
                <a:spcPct val="100000"/>
              </a:lnSpc>
              <a:buNone/>
            </a:pPr>
            <a:r>
              <a:rPr lang="en-US" sz="2100" dirty="0">
                <a:solidFill>
                  <a:srgbClr val="FFFFFF"/>
                </a:solidFill>
                <a:latin typeface="Arial" pitchFamily="34" charset="0"/>
                <a:ea typeface="Arial" pitchFamily="34" charset="-122"/>
                <a:cs typeface="Arial" pitchFamily="34" charset="-120"/>
              </a:rPr>
              <a:t> ≥ target 0.08</a:t>
            </a:r>
            <a:endParaRPr lang="en-US" sz="2100" dirty="0"/>
          </a:p>
        </p:txBody>
      </p:sp>
      <p:pic>
        <p:nvPicPr>
          <p:cNvPr id="14" name="Image 1" descr="Certified">    </p:cNvPr>
          <p:cNvPicPr>
            <a:picLocks noChangeAspect="1"/>
          </p:cNvPicPr>
          <p:nvPr/>
        </p:nvPicPr>
        <p:blipFill>
          <a:blip r:embed="rId2"/>
          <a:stretch>
            <a:fillRect/>
          </a:stretch>
        </p:blipFill>
        <p:spPr>
          <a:xfrm>
            <a:off x="5806440" y="4133088"/>
            <a:ext cx="384048" cy="384048"/>
          </a:xfrm>
          <a:prstGeom prst="rect">
            <a:avLst/>
          </a:prstGeom>
        </p:spPr>
      </p:pic>
      <p:sp>
        <p:nvSpPr>
          <p:cNvPr id="15" name="Verdict result"/>
          <p:cNvSpPr txBox="1"/>
          <p:nvPr/>
        </p:nvSpPr>
        <p:spPr>
          <a:xfrm>
            <a:off x="6327648" y="4096512"/>
            <a:ext cx="5120640" cy="457200"/>
          </a:xfrm>
          <a:prstGeom prst="rect">
            <a:avLst/>
          </a:prstGeom>
          <a:noFill/>
          <a:ln/>
        </p:spPr>
        <p:txBody>
          <a:bodyPr wrap="square" lIns="0" tIns="0" rIns="0" bIns="0" rtlCol="0" anchor="ctr"/>
          <a:lstStyle/>
          <a:p>
            <a:pPr indent="0" marL="0">
              <a:lnSpc>
                <a:spcPct val="100000"/>
              </a:lnSpc>
              <a:buNone/>
            </a:pPr>
            <a:r>
              <a:rPr lang="en-US" sz="2100" b="1" dirty="0">
                <a:solidFill>
                  <a:srgbClr val="7FC8BF"/>
                </a:solidFill>
                <a:latin typeface="Arial" pitchFamily="34" charset="0"/>
                <a:ea typeface="Arial" pitchFamily="34" charset="-122"/>
                <a:cs typeface="Arial" pitchFamily="34" charset="-120"/>
              </a:rPr>
              <a:t>48 scenes certified</a:t>
            </a:r>
            <a:endParaRPr lang="en-US" sz="2100" dirty="0"/>
          </a:p>
        </p:txBody>
      </p:sp>
      <p:sp>
        <p:nvSpPr>
          <p:cNvPr id="16" name="Yield note"/>
          <p:cNvSpPr txBox="1"/>
          <p:nvPr/>
        </p:nvSpPr>
        <p:spPr>
          <a:xfrm>
            <a:off x="5486400" y="5029200"/>
            <a:ext cx="6153912" cy="777240"/>
          </a:xfrm>
          <a:prstGeom prst="rect">
            <a:avLst/>
          </a:prstGeom>
          <a:noFill/>
          <a:ln/>
        </p:spPr>
        <p:txBody>
          <a:bodyPr wrap="square" lIns="0" tIns="0" rIns="0" bIns="0" rtlCol="0" anchor="t"/>
          <a:lstStyle/>
          <a:p>
            <a:pPr indent="0" marL="0">
              <a:lnSpc>
                <a:spcPct val="100000"/>
              </a:lnSpc>
              <a:buNone/>
            </a:pPr>
            <a:r>
              <a:rPr lang="en-US" sz="1700" b="1" dirty="0">
                <a:solidFill>
                  <a:srgbClr val="1F8A80"/>
                </a:solidFill>
                <a:latin typeface="Arial" pitchFamily="34" charset="0"/>
                <a:ea typeface="Arial" pitchFamily="34" charset="-122"/>
                <a:cs typeface="Arial" pitchFamily="34" charset="-120"/>
              </a:rPr>
              <a:t>The target is a yield: </a:t>
            </a:r>
            <a:pPr indent="0" marL="0">
              <a:lnSpc>
                <a:spcPct val="100000"/>
              </a:lnSpc>
              <a:buNone/>
            </a:pPr>
            <a:r>
              <a:rPr lang="en-US" sz="1700" dirty="0">
                <a:solidFill>
                  <a:srgbClr val="17212B"/>
                </a:solidFill>
                <a:latin typeface="Arial" pitchFamily="34" charset="0"/>
                <a:ea typeface="Arial" pitchFamily="34" charset="-122"/>
                <a:cs typeface="Arial" pitchFamily="34" charset="-120"/>
              </a:rPr>
              <a:t>on average, at most 12.5 cheap log checks find a passing subset.</a:t>
            </a:r>
            <a:endParaRPr lang="en-US" sz="17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000" b="1" dirty="0">
                <a:solidFill>
                  <a:srgbClr val="17212B"/>
                </a:solidFill>
                <a:latin typeface="Arial" pitchFamily="34" charset="0"/>
                <a:ea typeface="Arial" pitchFamily="34" charset="-122"/>
                <a:cs typeface="Arial" pitchFamily="34" charset="-120"/>
              </a:rPr>
              <a:t>The frontier trades scenes for reliability</a:t>
            </a:r>
            <a:endParaRPr lang="en-US" sz="3000" dirty="0"/>
          </a:p>
        </p:txBody>
      </p:sp>
      <p:pic>
        <p:nvPicPr>
          <p:cNvPr id="3" name="Frontier chart" descr="Pass rate and Wilson lower bound versus subset size; the bound first clears the 0.08 target at 48 scenes">    </p:cNvPr>
          <p:cNvPicPr>
            <a:picLocks noChangeAspect="1"/>
          </p:cNvPicPr>
          <p:nvPr/>
        </p:nvPicPr>
        <p:blipFill>
          <a:blip r:embed="rId1"/>
          <a:stretch>
            <a:fillRect/>
          </a:stretch>
        </p:blipFill>
        <p:spPr>
          <a:xfrm>
            <a:off x="548640" y="1325880"/>
            <a:ext cx="7315200" cy="4754880"/>
          </a:xfrm>
          <a:prstGeom prst="rect">
            <a:avLst/>
          </a:prstGeom>
        </p:spPr>
      </p:pic>
      <p:sp>
        <p:nvSpPr>
          <p:cNvPr id="4" name="Operating point 1"/>
          <p:cNvSpPr/>
          <p:nvPr/>
        </p:nvSpPr>
        <p:spPr>
          <a:xfrm>
            <a:off x="8138160" y="1417320"/>
            <a:ext cx="3502152" cy="2057400"/>
          </a:xfrm>
          <a:prstGeom prst="roundRect">
            <a:avLst>
              <a:gd name="adj" fmla="val 5333"/>
            </a:avLst>
          </a:prstGeom>
          <a:solidFill>
            <a:srgbClr val="10313A"/>
          </a:solidFill>
          <a:ln/>
        </p:spPr>
      </p:sp>
      <p:sp>
        <p:nvSpPr>
          <p:cNvPr id="5" name="Op target 1"/>
          <p:cNvSpPr txBox="1"/>
          <p:nvPr/>
        </p:nvSpPr>
        <p:spPr>
          <a:xfrm>
            <a:off x="8412480" y="1618488"/>
            <a:ext cx="3017520" cy="320040"/>
          </a:xfrm>
          <a:prstGeom prst="rect">
            <a:avLst/>
          </a:prstGeom>
          <a:noFill/>
          <a:ln/>
        </p:spPr>
        <p:txBody>
          <a:bodyPr wrap="square" lIns="0" tIns="0" rIns="0" bIns="0" rtlCol="0" anchor="ctr"/>
          <a:lstStyle/>
          <a:p>
            <a:pPr indent="0" marL="0">
              <a:lnSpc>
                <a:spcPct val="100000"/>
              </a:lnSpc>
              <a:buNone/>
            </a:pPr>
            <a:r>
              <a:rPr lang="en-US" sz="1400" dirty="0">
                <a:solidFill>
                  <a:srgbClr val="7FC8BF"/>
                </a:solidFill>
                <a:latin typeface="Arial" pitchFamily="34" charset="0"/>
                <a:ea typeface="Arial" pitchFamily="34" charset="-122"/>
                <a:cs typeface="Arial" pitchFamily="34" charset="-120"/>
              </a:rPr>
              <a:t>Target 0.08</a:t>
            </a:r>
            <a:endParaRPr lang="en-US" sz="1400" dirty="0"/>
          </a:p>
        </p:txBody>
      </p:sp>
      <p:sp>
        <p:nvSpPr>
          <p:cNvPr id="6" name="Op name 1"/>
          <p:cNvSpPr txBox="1"/>
          <p:nvPr/>
        </p:nvSpPr>
        <p:spPr>
          <a:xfrm>
            <a:off x="8412480" y="1938528"/>
            <a:ext cx="3017520" cy="640080"/>
          </a:xfrm>
          <a:prstGeom prst="rect">
            <a:avLst/>
          </a:prstGeom>
          <a:noFill/>
          <a:ln/>
        </p:spPr>
        <p:txBody>
          <a:bodyPr wrap="square" lIns="0" tIns="0" rIns="0" bIns="0" rtlCol="0" anchor="ctr"/>
          <a:lstStyle/>
          <a:p>
            <a:pPr indent="0" marL="0">
              <a:lnSpc>
                <a:spcPct val="100000"/>
              </a:lnSpc>
              <a:buNone/>
            </a:pPr>
            <a:r>
              <a:rPr lang="en-US" sz="3400" b="1" dirty="0">
                <a:solidFill>
                  <a:srgbClr val="FFFFFF"/>
                </a:solidFill>
                <a:latin typeface="Arial" pitchFamily="34" charset="0"/>
                <a:ea typeface="Arial" pitchFamily="34" charset="-122"/>
                <a:cs typeface="Arial" pitchFamily="34" charset="-120"/>
              </a:rPr>
              <a:t>RASS-48</a:t>
            </a:r>
            <a:endParaRPr lang="en-US" sz="3400" dirty="0"/>
          </a:p>
        </p:txBody>
      </p:sp>
      <p:sp>
        <p:nvSpPr>
          <p:cNvPr id="7" name="Op stat 1"/>
          <p:cNvSpPr txBox="1"/>
          <p:nvPr/>
        </p:nvSpPr>
        <p:spPr>
          <a:xfrm>
            <a:off x="8412480" y="2578608"/>
            <a:ext cx="3017520" cy="320040"/>
          </a:xfrm>
          <a:prstGeom prst="rect">
            <a:avLst/>
          </a:prstGeom>
          <a:noFill/>
          <a:ln/>
        </p:spPr>
        <p:txBody>
          <a:bodyPr wrap="square" lIns="0" tIns="0" rIns="0" bIns="0" rtlCol="0" anchor="ctr"/>
          <a:lstStyle/>
          <a:p>
            <a:pPr indent="0" marL="0">
              <a:lnSpc>
                <a:spcPct val="100000"/>
              </a:lnSpc>
              <a:buNone/>
            </a:pPr>
            <a:r>
              <a:rPr lang="en-US" sz="1400" dirty="0">
                <a:solidFill>
                  <a:srgbClr val="FFFFFF"/>
                </a:solidFill>
                <a:latin typeface="Arial" pitchFamily="34" charset="0"/>
                <a:ea typeface="Arial" pitchFamily="34" charset="-122"/>
                <a:cs typeface="Arial" pitchFamily="34" charset="-120"/>
              </a:rPr>
              <a:t>48 scenes · LCB 0.182</a:t>
            </a:r>
            <a:endParaRPr lang="en-US" sz="1400" dirty="0"/>
          </a:p>
        </p:txBody>
      </p:sp>
      <p:sp>
        <p:nvSpPr>
          <p:cNvPr id="8" name="Op use 1"/>
          <p:cNvSpPr txBox="1"/>
          <p:nvPr/>
        </p:nvSpPr>
        <p:spPr>
          <a:xfrm>
            <a:off x="8412480" y="2898648"/>
            <a:ext cx="3017520" cy="320040"/>
          </a:xfrm>
          <a:prstGeom prst="rect">
            <a:avLst/>
          </a:prstGeom>
          <a:noFill/>
          <a:ln/>
        </p:spPr>
        <p:txBody>
          <a:bodyPr wrap="square" lIns="0" tIns="0" rIns="0" bIns="0" rtlCol="0" anchor="ctr"/>
          <a:lstStyle/>
          <a:p>
            <a:pPr indent="0" marL="0">
              <a:lnSpc>
                <a:spcPct val="100000"/>
              </a:lnSpc>
              <a:buNone/>
            </a:pPr>
            <a:r>
              <a:rPr lang="en-US" sz="1400" b="1" i="1" dirty="0">
                <a:solidFill>
                  <a:srgbClr val="F2A541"/>
                </a:solidFill>
                <a:latin typeface="Arial" pitchFamily="34" charset="0"/>
                <a:ea typeface="Arial" pitchFamily="34" charset="-122"/>
                <a:cs typeface="Arial" pitchFamily="34" charset="-120"/>
              </a:rPr>
              <a:t>Screening &amp; ablations</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000" b="1" dirty="0">
                <a:solidFill>
                  <a:srgbClr val="17212B"/>
                </a:solidFill>
                <a:latin typeface="Arial" pitchFamily="34" charset="0"/>
                <a:ea typeface="Arial" pitchFamily="34" charset="-122"/>
                <a:cs typeface="Arial" pitchFamily="34" charset="-120"/>
              </a:rPr>
              <a:t>The frontier trades scenes for reliability</a:t>
            </a:r>
            <a:endParaRPr lang="en-US" sz="3000" dirty="0"/>
          </a:p>
        </p:txBody>
      </p:sp>
      <p:pic>
        <p:nvPicPr>
          <p:cNvPr id="3" name="Frontier chart" descr="Same chart with a 0.20 target; the bound first clears it at 96 scenes">    </p:cNvPr>
          <p:cNvPicPr>
            <a:picLocks noChangeAspect="1"/>
          </p:cNvPicPr>
          <p:nvPr/>
        </p:nvPicPr>
        <p:blipFill>
          <a:blip r:embed="rId1"/>
          <a:stretch>
            <a:fillRect/>
          </a:stretch>
        </p:blipFill>
        <p:spPr>
          <a:xfrm>
            <a:off x="548640" y="1325880"/>
            <a:ext cx="7315200" cy="4754880"/>
          </a:xfrm>
          <a:prstGeom prst="rect">
            <a:avLst/>
          </a:prstGeom>
        </p:spPr>
      </p:pic>
      <p:sp>
        <p:nvSpPr>
          <p:cNvPr id="4" name="Operating point 1"/>
          <p:cNvSpPr/>
          <p:nvPr/>
        </p:nvSpPr>
        <p:spPr>
          <a:xfrm>
            <a:off x="8138160" y="1417320"/>
            <a:ext cx="3502152" cy="2057400"/>
          </a:xfrm>
          <a:prstGeom prst="roundRect">
            <a:avLst>
              <a:gd name="adj" fmla="val 5333"/>
            </a:avLst>
          </a:prstGeom>
          <a:solidFill>
            <a:srgbClr val="EEF3F4"/>
          </a:solidFill>
          <a:ln/>
        </p:spPr>
      </p:sp>
      <p:sp>
        <p:nvSpPr>
          <p:cNvPr id="5" name="Op target 1"/>
          <p:cNvSpPr txBox="1"/>
          <p:nvPr/>
        </p:nvSpPr>
        <p:spPr>
          <a:xfrm>
            <a:off x="8412480" y="1618488"/>
            <a:ext cx="3017520" cy="320040"/>
          </a:xfrm>
          <a:prstGeom prst="rect">
            <a:avLst/>
          </a:prstGeom>
          <a:noFill/>
          <a:ln/>
        </p:spPr>
        <p:txBody>
          <a:bodyPr wrap="square" lIns="0" tIns="0" rIns="0" bIns="0" rtlCol="0" anchor="ctr"/>
          <a:lstStyle/>
          <a:p>
            <a:pPr indent="0" marL="0">
              <a:lnSpc>
                <a:spcPct val="100000"/>
              </a:lnSpc>
              <a:buNone/>
            </a:pPr>
            <a:r>
              <a:rPr lang="en-US" sz="1400" dirty="0">
                <a:solidFill>
                  <a:srgbClr val="5B6B78"/>
                </a:solidFill>
                <a:latin typeface="Arial" pitchFamily="34" charset="0"/>
                <a:ea typeface="Arial" pitchFamily="34" charset="-122"/>
                <a:cs typeface="Arial" pitchFamily="34" charset="-120"/>
              </a:rPr>
              <a:t>Target 0.08</a:t>
            </a:r>
            <a:endParaRPr lang="en-US" sz="1400" dirty="0"/>
          </a:p>
        </p:txBody>
      </p:sp>
      <p:sp>
        <p:nvSpPr>
          <p:cNvPr id="6" name="Op name 1"/>
          <p:cNvSpPr txBox="1"/>
          <p:nvPr/>
        </p:nvSpPr>
        <p:spPr>
          <a:xfrm>
            <a:off x="8412480" y="1938528"/>
            <a:ext cx="3017520" cy="640080"/>
          </a:xfrm>
          <a:prstGeom prst="rect">
            <a:avLst/>
          </a:prstGeom>
          <a:noFill/>
          <a:ln/>
        </p:spPr>
        <p:txBody>
          <a:bodyPr wrap="square" lIns="0" tIns="0" rIns="0" bIns="0" rtlCol="0" anchor="ctr"/>
          <a:lstStyle/>
          <a:p>
            <a:pPr indent="0" marL="0">
              <a:lnSpc>
                <a:spcPct val="100000"/>
              </a:lnSpc>
              <a:buNone/>
            </a:pPr>
            <a:r>
              <a:rPr lang="en-US" sz="3400" b="1" dirty="0">
                <a:solidFill>
                  <a:srgbClr val="5B6B78"/>
                </a:solidFill>
                <a:latin typeface="Arial" pitchFamily="34" charset="0"/>
                <a:ea typeface="Arial" pitchFamily="34" charset="-122"/>
                <a:cs typeface="Arial" pitchFamily="34" charset="-120"/>
              </a:rPr>
              <a:t>RASS-48</a:t>
            </a:r>
            <a:endParaRPr lang="en-US" sz="3400" dirty="0"/>
          </a:p>
        </p:txBody>
      </p:sp>
      <p:sp>
        <p:nvSpPr>
          <p:cNvPr id="7" name="Op stat 1"/>
          <p:cNvSpPr txBox="1"/>
          <p:nvPr/>
        </p:nvSpPr>
        <p:spPr>
          <a:xfrm>
            <a:off x="8412480" y="2578608"/>
            <a:ext cx="3017520" cy="320040"/>
          </a:xfrm>
          <a:prstGeom prst="rect">
            <a:avLst/>
          </a:prstGeom>
          <a:noFill/>
          <a:ln/>
        </p:spPr>
        <p:txBody>
          <a:bodyPr wrap="square" lIns="0" tIns="0" rIns="0" bIns="0" rtlCol="0" anchor="ctr"/>
          <a:lstStyle/>
          <a:p>
            <a:pPr indent="0" marL="0">
              <a:lnSpc>
                <a:spcPct val="100000"/>
              </a:lnSpc>
              <a:buNone/>
            </a:pPr>
            <a:r>
              <a:rPr lang="en-US" sz="1400" dirty="0">
                <a:solidFill>
                  <a:srgbClr val="5B6B78"/>
                </a:solidFill>
                <a:latin typeface="Arial" pitchFamily="34" charset="0"/>
                <a:ea typeface="Arial" pitchFamily="34" charset="-122"/>
                <a:cs typeface="Arial" pitchFamily="34" charset="-120"/>
              </a:rPr>
              <a:t>48 scenes · LCB 0.182</a:t>
            </a:r>
            <a:endParaRPr lang="en-US" sz="1400" dirty="0"/>
          </a:p>
        </p:txBody>
      </p:sp>
      <p:sp>
        <p:nvSpPr>
          <p:cNvPr id="8" name="Op use 1"/>
          <p:cNvSpPr txBox="1"/>
          <p:nvPr/>
        </p:nvSpPr>
        <p:spPr>
          <a:xfrm>
            <a:off x="8412480" y="2898648"/>
            <a:ext cx="3017520" cy="320040"/>
          </a:xfrm>
          <a:prstGeom prst="rect">
            <a:avLst/>
          </a:prstGeom>
          <a:noFill/>
          <a:ln/>
        </p:spPr>
        <p:txBody>
          <a:bodyPr wrap="square" lIns="0" tIns="0" rIns="0" bIns="0" rtlCol="0" anchor="ctr"/>
          <a:lstStyle/>
          <a:p>
            <a:pPr indent="0" marL="0">
              <a:lnSpc>
                <a:spcPct val="100000"/>
              </a:lnSpc>
              <a:buNone/>
            </a:pPr>
            <a:r>
              <a:rPr lang="en-US" sz="1400" b="1" i="1" dirty="0">
                <a:solidFill>
                  <a:srgbClr val="5B6B78"/>
                </a:solidFill>
                <a:latin typeface="Arial" pitchFamily="34" charset="0"/>
                <a:ea typeface="Arial" pitchFamily="34" charset="-122"/>
                <a:cs typeface="Arial" pitchFamily="34" charset="-120"/>
              </a:rPr>
              <a:t>Screening &amp; ablations</a:t>
            </a:r>
            <a:endParaRPr lang="en-US" sz="1400" dirty="0"/>
          </a:p>
        </p:txBody>
      </p:sp>
      <p:sp>
        <p:nvSpPr>
          <p:cNvPr id="9" name="Operating point 2"/>
          <p:cNvSpPr/>
          <p:nvPr/>
        </p:nvSpPr>
        <p:spPr>
          <a:xfrm>
            <a:off x="8138160" y="3703320"/>
            <a:ext cx="3502152" cy="2057400"/>
          </a:xfrm>
          <a:prstGeom prst="roundRect">
            <a:avLst>
              <a:gd name="adj" fmla="val 5333"/>
            </a:avLst>
          </a:prstGeom>
          <a:solidFill>
            <a:srgbClr val="10313A"/>
          </a:solidFill>
          <a:ln/>
        </p:spPr>
      </p:sp>
      <p:sp>
        <p:nvSpPr>
          <p:cNvPr id="10" name="Op target 2"/>
          <p:cNvSpPr txBox="1"/>
          <p:nvPr/>
        </p:nvSpPr>
        <p:spPr>
          <a:xfrm>
            <a:off x="8412480" y="3904488"/>
            <a:ext cx="3017520" cy="320040"/>
          </a:xfrm>
          <a:prstGeom prst="rect">
            <a:avLst/>
          </a:prstGeom>
          <a:noFill/>
          <a:ln/>
        </p:spPr>
        <p:txBody>
          <a:bodyPr wrap="square" lIns="0" tIns="0" rIns="0" bIns="0" rtlCol="0" anchor="ctr"/>
          <a:lstStyle/>
          <a:p>
            <a:pPr indent="0" marL="0">
              <a:lnSpc>
                <a:spcPct val="100000"/>
              </a:lnSpc>
              <a:buNone/>
            </a:pPr>
            <a:r>
              <a:rPr lang="en-US" sz="1400" dirty="0">
                <a:solidFill>
                  <a:srgbClr val="7FC8BF"/>
                </a:solidFill>
                <a:latin typeface="Arial" pitchFamily="34" charset="0"/>
                <a:ea typeface="Arial" pitchFamily="34" charset="-122"/>
                <a:cs typeface="Arial" pitchFamily="34" charset="-120"/>
              </a:rPr>
              <a:t>Target 0.20</a:t>
            </a:r>
            <a:endParaRPr lang="en-US" sz="1400" dirty="0"/>
          </a:p>
        </p:txBody>
      </p:sp>
      <p:sp>
        <p:nvSpPr>
          <p:cNvPr id="11" name="Op name 2"/>
          <p:cNvSpPr txBox="1"/>
          <p:nvPr/>
        </p:nvSpPr>
        <p:spPr>
          <a:xfrm>
            <a:off x="8412480" y="4224528"/>
            <a:ext cx="3017520" cy="640080"/>
          </a:xfrm>
          <a:prstGeom prst="rect">
            <a:avLst/>
          </a:prstGeom>
          <a:noFill/>
          <a:ln/>
        </p:spPr>
        <p:txBody>
          <a:bodyPr wrap="square" lIns="0" tIns="0" rIns="0" bIns="0" rtlCol="0" anchor="ctr"/>
          <a:lstStyle/>
          <a:p>
            <a:pPr indent="0" marL="0">
              <a:lnSpc>
                <a:spcPct val="100000"/>
              </a:lnSpc>
              <a:buNone/>
            </a:pPr>
            <a:r>
              <a:rPr lang="en-US" sz="3400" b="1" dirty="0">
                <a:solidFill>
                  <a:srgbClr val="FFFFFF"/>
                </a:solidFill>
                <a:latin typeface="Arial" pitchFamily="34" charset="0"/>
                <a:ea typeface="Arial" pitchFamily="34" charset="-122"/>
                <a:cs typeface="Arial" pitchFamily="34" charset="-120"/>
              </a:rPr>
              <a:t>RASS-96</a:t>
            </a:r>
            <a:endParaRPr lang="en-US" sz="3400" dirty="0"/>
          </a:p>
        </p:txBody>
      </p:sp>
      <p:sp>
        <p:nvSpPr>
          <p:cNvPr id="12" name="Op stat 2"/>
          <p:cNvSpPr txBox="1"/>
          <p:nvPr/>
        </p:nvSpPr>
        <p:spPr>
          <a:xfrm>
            <a:off x="8412480" y="4864608"/>
            <a:ext cx="3017520" cy="320040"/>
          </a:xfrm>
          <a:prstGeom prst="rect">
            <a:avLst/>
          </a:prstGeom>
          <a:noFill/>
          <a:ln/>
        </p:spPr>
        <p:txBody>
          <a:bodyPr wrap="square" lIns="0" tIns="0" rIns="0" bIns="0" rtlCol="0" anchor="ctr"/>
          <a:lstStyle/>
          <a:p>
            <a:pPr indent="0" marL="0">
              <a:lnSpc>
                <a:spcPct val="100000"/>
              </a:lnSpc>
              <a:buNone/>
            </a:pPr>
            <a:r>
              <a:rPr lang="en-US" sz="1400" dirty="0">
                <a:solidFill>
                  <a:srgbClr val="FFFFFF"/>
                </a:solidFill>
                <a:latin typeface="Arial" pitchFamily="34" charset="0"/>
                <a:ea typeface="Arial" pitchFamily="34" charset="-122"/>
                <a:cs typeface="Arial" pitchFamily="34" charset="-120"/>
              </a:rPr>
              <a:t>96 scenes · LCB 0.241</a:t>
            </a:r>
            <a:endParaRPr lang="en-US" sz="1400" dirty="0"/>
          </a:p>
        </p:txBody>
      </p:sp>
      <p:sp>
        <p:nvSpPr>
          <p:cNvPr id="13" name="Op use 2"/>
          <p:cNvSpPr txBox="1"/>
          <p:nvPr/>
        </p:nvSpPr>
        <p:spPr>
          <a:xfrm>
            <a:off x="8412480" y="5184648"/>
            <a:ext cx="3017520" cy="320040"/>
          </a:xfrm>
          <a:prstGeom prst="rect">
            <a:avLst/>
          </a:prstGeom>
          <a:noFill/>
          <a:ln/>
        </p:spPr>
        <p:txBody>
          <a:bodyPr wrap="square" lIns="0" tIns="0" rIns="0" bIns="0" rtlCol="0" anchor="ctr"/>
          <a:lstStyle/>
          <a:p>
            <a:pPr indent="0" marL="0">
              <a:lnSpc>
                <a:spcPct val="100000"/>
              </a:lnSpc>
              <a:buNone/>
            </a:pPr>
            <a:r>
              <a:rPr lang="en-US" sz="1400" b="1" i="1" dirty="0">
                <a:solidFill>
                  <a:srgbClr val="F2A541"/>
                </a:solidFill>
                <a:latin typeface="Arial" pitchFamily="34" charset="0"/>
                <a:ea typeface="Arial" pitchFamily="34" charset="-122"/>
                <a:cs typeface="Arial" pitchFamily="34" charset="-120"/>
              </a:rPr>
              <a:t>Compact reporting</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000" b="1" dirty="0">
                <a:solidFill>
                  <a:srgbClr val="17212B"/>
                </a:solidFill>
                <a:latin typeface="Arial" pitchFamily="34" charset="0"/>
                <a:ea typeface="Arial" pitchFamily="34" charset="-122"/>
                <a:cs typeface="Arial" pitchFamily="34" charset="-120"/>
              </a:rPr>
              <a:t>RASS-48 passes the global audit with 73× fewer scenes</a:t>
            </a:r>
            <a:endParaRPr lang="en-US" sz="3000" dirty="0"/>
          </a:p>
        </p:txBody>
      </p:sp>
      <p:sp>
        <p:nvSpPr>
          <p:cNvPr id="3" name="Margin header"/>
          <p:cNvSpPr txBox="1"/>
          <p:nvPr/>
        </p:nvSpPr>
        <p:spPr>
          <a:xfrm>
            <a:off x="548640" y="1371600"/>
            <a:ext cx="7315200" cy="365760"/>
          </a:xfrm>
          <a:prstGeom prst="rect">
            <a:avLst/>
          </a:prstGeom>
          <a:noFill/>
          <a:ln/>
        </p:spPr>
        <p:txBody>
          <a:bodyPr wrap="square" lIns="0" tIns="0" rIns="0" bIns="0" rtlCol="0" anchor="ctr"/>
          <a:lstStyle/>
          <a:p>
            <a:pPr indent="0" marL="0">
              <a:lnSpc>
                <a:spcPct val="100000"/>
              </a:lnSpc>
              <a:buNone/>
            </a:pPr>
            <a:r>
              <a:rPr lang="en-US" sz="1700" b="1" dirty="0">
                <a:solidFill>
                  <a:srgbClr val="17212B"/>
                </a:solidFill>
                <a:latin typeface="Arial" pitchFamily="34" charset="0"/>
                <a:ea typeface="Arial" pitchFamily="34" charset="-122"/>
                <a:cs typeface="Arial" pitchFamily="34" charset="-120"/>
              </a:rPr>
              <a:t>Share of each tolerance that RASS-48 uses</a:t>
            </a:r>
            <a:endParaRPr lang="en-US" sz="1700" dirty="0"/>
          </a:p>
        </p:txBody>
      </p:sp>
      <p:pic>
        <p:nvPicPr>
          <p:cNvPr id="4" name="Margin chart" descr="Bar chart: all six constraints use less than 100% of their tolerance; largest is LPIPS KS at 80%">    </p:cNvPr>
          <p:cNvPicPr>
            <a:picLocks noChangeAspect="1"/>
          </p:cNvPicPr>
          <p:nvPr/>
        </p:nvPicPr>
        <p:blipFill>
          <a:blip r:embed="rId1"/>
          <a:stretch>
            <a:fillRect/>
          </a:stretch>
        </p:blipFill>
        <p:spPr>
          <a:xfrm>
            <a:off x="548640" y="1828800"/>
            <a:ext cx="7315200" cy="4023360"/>
          </a:xfrm>
          <a:prstGeom prst="rect">
            <a:avLst/>
          </a:prstGeom>
        </p:spPr>
      </p:pic>
      <p:sp>
        <p:nvSpPr>
          <p:cNvPr id="5" name="Stat 73x"/>
          <p:cNvSpPr txBox="1"/>
          <p:nvPr/>
        </p:nvSpPr>
        <p:spPr>
          <a:xfrm>
            <a:off x="8321040" y="1600200"/>
            <a:ext cx="3319272" cy="1143000"/>
          </a:xfrm>
          <a:prstGeom prst="rect">
            <a:avLst/>
          </a:prstGeom>
          <a:noFill/>
          <a:ln/>
        </p:spPr>
        <p:txBody>
          <a:bodyPr wrap="square" lIns="0" tIns="0" rIns="0" bIns="0" rtlCol="0" anchor="ctr"/>
          <a:lstStyle/>
          <a:p>
            <a:pPr indent="0" marL="0">
              <a:lnSpc>
                <a:spcPct val="100000"/>
              </a:lnSpc>
              <a:buNone/>
            </a:pPr>
            <a:r>
              <a:rPr lang="en-US" sz="7600" b="1" dirty="0">
                <a:solidFill>
                  <a:srgbClr val="1F8A80"/>
                </a:solidFill>
                <a:latin typeface="Arial" pitchFamily="34" charset="0"/>
                <a:ea typeface="Arial" pitchFamily="34" charset="-122"/>
                <a:cs typeface="Arial" pitchFamily="34" charset="-120"/>
              </a:rPr>
              <a:t>73×</a:t>
            </a:r>
            <a:endParaRPr lang="en-US" sz="7600" dirty="0"/>
          </a:p>
        </p:txBody>
      </p:sp>
      <p:sp>
        <p:nvSpPr>
          <p:cNvPr id="6" name="Stat 73x label"/>
          <p:cNvSpPr txBox="1"/>
          <p:nvPr/>
        </p:nvSpPr>
        <p:spPr>
          <a:xfrm>
            <a:off x="8321040" y="2788920"/>
            <a:ext cx="3319272" cy="411480"/>
          </a:xfrm>
          <a:prstGeom prst="rect">
            <a:avLst/>
          </a:prstGeom>
          <a:noFill/>
          <a:ln/>
        </p:spPr>
        <p:txBody>
          <a:bodyPr wrap="square" lIns="0" tIns="0" rIns="0" bIns="0" rtlCol="0" anchor="ctr"/>
          <a:lstStyle/>
          <a:p>
            <a:pPr indent="0" marL="0">
              <a:lnSpc>
                <a:spcPct val="100000"/>
              </a:lnSpc>
              <a:buNone/>
            </a:pPr>
            <a:r>
              <a:rPr lang="en-US" sz="1900" b="1" dirty="0">
                <a:solidFill>
                  <a:srgbClr val="17212B"/>
                </a:solidFill>
                <a:latin typeface="Arial" pitchFamily="34" charset="0"/>
                <a:ea typeface="Arial" pitchFamily="34" charset="-122"/>
                <a:cs typeface="Arial" pitchFamily="34" charset="-120"/>
              </a:rPr>
              <a:t>fewer scenes: 3,521 to 48</a:t>
            </a:r>
            <a:endParaRPr lang="en-US" sz="1900" dirty="0"/>
          </a:p>
        </p:txBody>
      </p:sp>
      <p:sp>
        <p:nvSpPr>
          <p:cNvPr id="7" name="Regime note"/>
          <p:cNvSpPr txBox="1"/>
          <p:nvPr/>
        </p:nvSpPr>
        <p:spPr>
          <a:xfrm>
            <a:off x="8321040" y="3291840"/>
            <a:ext cx="3319272" cy="640080"/>
          </a:xfrm>
          <a:prstGeom prst="rect">
            <a:avLst/>
          </a:prstGeom>
          <a:noFill/>
          <a:ln/>
        </p:spPr>
        <p:txBody>
          <a:bodyPr wrap="square" lIns="0" tIns="0" rIns="0" bIns="0" rtlCol="0" anchor="t"/>
          <a:lstStyle/>
          <a:p>
            <a:pPr indent="0" marL="0">
              <a:lnSpc>
                <a:spcPct val="100000"/>
              </a:lnSpc>
              <a:buNone/>
            </a:pPr>
            <a:r>
              <a:rPr lang="en-US" sz="1500" dirty="0">
                <a:solidFill>
                  <a:srgbClr val="5B6B78"/>
                </a:solidFill>
                <a:latin typeface="Arial" pitchFamily="34" charset="0"/>
                <a:ea typeface="Arial" pitchFamily="34" charset="-122"/>
                <a:cs typeface="Arial" pitchFamily="34" charset="-120"/>
              </a:rPr>
              <a:t>8 scenes from each of the</a:t>
            </a:r>
            <a:endParaRPr lang="en-US" sz="1500" dirty="0"/>
          </a:p>
          <a:p>
            <a:pPr indent="0" marL="0">
              <a:lnSpc>
                <a:spcPct val="100000"/>
              </a:lnSpc>
              <a:buNone/>
            </a:pPr>
            <a:r>
              <a:rPr lang="en-US" sz="1500" dirty="0">
                <a:solidFill>
                  <a:srgbClr val="5B6B78"/>
                </a:solidFill>
                <a:latin typeface="Arial" pitchFamily="34" charset="0"/>
                <a:ea typeface="Arial" pitchFamily="34" charset="-122"/>
                <a:cs typeface="Arial" pitchFamily="34" charset="-120"/>
              </a:rPr>
              <a:t>6 descriptor regimes</a:t>
            </a:r>
            <a:endParaRPr lang="en-US" sz="1500" dirty="0"/>
          </a:p>
        </p:txBody>
      </p:sp>
      <p:sp>
        <p:nvSpPr>
          <p:cNvPr id="8" name="Pass card"/>
          <p:cNvSpPr/>
          <p:nvPr/>
        </p:nvSpPr>
        <p:spPr>
          <a:xfrm>
            <a:off x="8321040" y="4251960"/>
            <a:ext cx="3319272" cy="685800"/>
          </a:xfrm>
          <a:prstGeom prst="roundRect">
            <a:avLst>
              <a:gd name="adj" fmla="val 16000"/>
            </a:avLst>
          </a:prstGeom>
          <a:solidFill>
            <a:srgbClr val="EEF3F4"/>
          </a:solidFill>
          <a:ln/>
        </p:spPr>
      </p:sp>
      <p:pic>
        <p:nvPicPr>
          <p:cNvPr id="9" name="Image 1" descr="Passes all six checks">    </p:cNvPr>
          <p:cNvPicPr>
            <a:picLocks noChangeAspect="1"/>
          </p:cNvPicPr>
          <p:nvPr/>
        </p:nvPicPr>
        <p:blipFill>
          <a:blip r:embed="rId2"/>
          <a:stretch>
            <a:fillRect/>
          </a:stretch>
        </p:blipFill>
        <p:spPr>
          <a:xfrm>
            <a:off x="8503920" y="4407408"/>
            <a:ext cx="365760" cy="365760"/>
          </a:xfrm>
          <a:prstGeom prst="rect">
            <a:avLst/>
          </a:prstGeom>
        </p:spPr>
      </p:pic>
      <p:sp>
        <p:nvSpPr>
          <p:cNvPr id="10" name="Pass label"/>
          <p:cNvSpPr txBox="1"/>
          <p:nvPr/>
        </p:nvSpPr>
        <p:spPr>
          <a:xfrm>
            <a:off x="9006840" y="4251960"/>
            <a:ext cx="2606040" cy="685800"/>
          </a:xfrm>
          <a:prstGeom prst="rect">
            <a:avLst/>
          </a:prstGeom>
          <a:noFill/>
          <a:ln/>
        </p:spPr>
        <p:txBody>
          <a:bodyPr wrap="square" lIns="0" tIns="0" rIns="0" bIns="0" rtlCol="0" anchor="ctr"/>
          <a:lstStyle/>
          <a:p>
            <a:pPr indent="0" marL="0">
              <a:lnSpc>
                <a:spcPct val="100000"/>
              </a:lnSpc>
              <a:buNone/>
            </a:pPr>
            <a:r>
              <a:rPr lang="en-US" sz="1700" b="1" dirty="0">
                <a:solidFill>
                  <a:srgbClr val="1F8A80"/>
                </a:solidFill>
                <a:latin typeface="Arial" pitchFamily="34" charset="0"/>
                <a:ea typeface="Arial" pitchFamily="34" charset="-122"/>
                <a:cs typeface="Arial" pitchFamily="34" charset="-120"/>
              </a:rPr>
              <a:t>Passes all six checks</a:t>
            </a:r>
            <a:endParaRPr lang="en-US" sz="17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000" b="1" dirty="0">
                <a:solidFill>
                  <a:srgbClr val="17212B"/>
                </a:solidFill>
                <a:latin typeface="Arial" pitchFamily="34" charset="0"/>
                <a:ea typeface="Arial" pitchFamily="34" charset="-122"/>
                <a:cs typeface="Arial" pitchFamily="34" charset="-120"/>
              </a:rPr>
              <a:t>One audit covers more methods, generators, and datasets</a:t>
            </a:r>
            <a:endParaRPr lang="en-US" sz="3000" dirty="0"/>
          </a:p>
        </p:txBody>
      </p:sp>
      <p:sp>
        <p:nvSpPr>
          <p:cNvPr id="3" name="Ext card 1"/>
          <p:cNvSpPr/>
          <p:nvPr/>
        </p:nvSpPr>
        <p:spPr>
          <a:xfrm>
            <a:off x="548640" y="1417320"/>
            <a:ext cx="3511296" cy="4572000"/>
          </a:xfrm>
          <a:prstGeom prst="roundRect">
            <a:avLst>
              <a:gd name="adj" fmla="val 3125"/>
            </a:avLst>
          </a:prstGeom>
          <a:solidFill>
            <a:srgbClr val="EEF3F4"/>
          </a:solidFill>
          <a:ln/>
        </p:spPr>
      </p:sp>
      <p:sp>
        <p:nvSpPr>
          <p:cNvPr id="4" name="Ext icon bg 1"/>
          <p:cNvSpPr/>
          <p:nvPr/>
        </p:nvSpPr>
        <p:spPr>
          <a:xfrm>
            <a:off x="822960" y="1645920"/>
            <a:ext cx="548640" cy="548640"/>
          </a:xfrm>
          <a:prstGeom prst="ellipse">
            <a:avLst/>
          </a:prstGeom>
          <a:solidFill>
            <a:srgbClr val="1F8A80"/>
          </a:solidFill>
          <a:ln/>
        </p:spPr>
      </p:sp>
      <p:pic>
        <p:nvPicPr>
          <p:cNvPr id="5" name="Image 0" descr="RASS-96 passes the 3- and 4-method audits">    </p:cNvPr>
          <p:cNvPicPr>
            <a:picLocks noChangeAspect="1"/>
          </p:cNvPicPr>
          <p:nvPr/>
        </p:nvPicPr>
        <p:blipFill>
          <a:blip r:embed="rId1"/>
          <a:stretch>
            <a:fillRect/>
          </a:stretch>
        </p:blipFill>
        <p:spPr>
          <a:xfrm>
            <a:off x="960120" y="1783080"/>
            <a:ext cx="274320" cy="274320"/>
          </a:xfrm>
          <a:prstGeom prst="rect">
            <a:avLst/>
          </a:prstGeom>
        </p:spPr>
      </p:pic>
      <p:sp>
        <p:nvSpPr>
          <p:cNvPr id="6" name="Ext head 1"/>
          <p:cNvSpPr txBox="1"/>
          <p:nvPr/>
        </p:nvSpPr>
        <p:spPr>
          <a:xfrm>
            <a:off x="1508760" y="1572768"/>
            <a:ext cx="2487168" cy="694944"/>
          </a:xfrm>
          <a:prstGeom prst="rect">
            <a:avLst/>
          </a:prstGeom>
          <a:noFill/>
          <a:ln/>
        </p:spPr>
        <p:txBody>
          <a:bodyPr wrap="square" lIns="0" tIns="0" rIns="0" bIns="0" rtlCol="0" anchor="ctr"/>
          <a:lstStyle/>
          <a:p>
            <a:pPr indent="0" marL="0">
              <a:lnSpc>
                <a:spcPct val="100000"/>
              </a:lnSpc>
              <a:buNone/>
            </a:pPr>
            <a:r>
              <a:rPr lang="en-US" sz="1500" b="1" dirty="0">
                <a:solidFill>
                  <a:srgbClr val="17212B"/>
                </a:solidFill>
                <a:latin typeface="Arial" pitchFamily="34" charset="0"/>
                <a:ea typeface="Arial" pitchFamily="34" charset="-122"/>
                <a:cs typeface="Arial" pitchFamily="34" charset="-120"/>
              </a:rPr>
              <a:t>RASS-96 passes the</a:t>
            </a:r>
            <a:endParaRPr lang="en-US" sz="1500" dirty="0"/>
          </a:p>
          <a:p>
            <a:pPr indent="0" marL="0">
              <a:lnSpc>
                <a:spcPct val="100000"/>
              </a:lnSpc>
              <a:buNone/>
            </a:pPr>
            <a:r>
              <a:rPr lang="en-US" sz="1500" b="1" dirty="0">
                <a:solidFill>
                  <a:srgbClr val="17212B"/>
                </a:solidFill>
                <a:latin typeface="Arial" pitchFamily="34" charset="0"/>
                <a:ea typeface="Arial" pitchFamily="34" charset="-122"/>
                <a:cs typeface="Arial" pitchFamily="34" charset="-120"/>
              </a:rPr>
              <a:t>3- and 4-method audits</a:t>
            </a:r>
            <a:endParaRPr lang="en-US" sz="1500" dirty="0"/>
          </a:p>
        </p:txBody>
      </p:sp>
      <p:sp>
        <p:nvSpPr>
          <p:cNvPr id="7" name="Ext card 2"/>
          <p:cNvSpPr/>
          <p:nvPr/>
        </p:nvSpPr>
        <p:spPr>
          <a:xfrm>
            <a:off x="4338828" y="1417320"/>
            <a:ext cx="3511296" cy="4572000"/>
          </a:xfrm>
          <a:prstGeom prst="roundRect">
            <a:avLst>
              <a:gd name="adj" fmla="val 3125"/>
            </a:avLst>
          </a:prstGeom>
          <a:solidFill>
            <a:srgbClr val="F5F8F9"/>
          </a:solidFill>
          <a:ln/>
        </p:spPr>
      </p:sp>
      <p:sp>
        <p:nvSpPr>
          <p:cNvPr id="8" name="Ext icon bg 2"/>
          <p:cNvSpPr/>
          <p:nvPr/>
        </p:nvSpPr>
        <p:spPr>
          <a:xfrm>
            <a:off x="4613148" y="1645920"/>
            <a:ext cx="548640" cy="548640"/>
          </a:xfrm>
          <a:prstGeom prst="ellipse">
            <a:avLst/>
          </a:prstGeom>
          <a:solidFill>
            <a:srgbClr val="B7DAD6"/>
          </a:solidFill>
          <a:ln/>
        </p:spPr>
      </p:sp>
      <p:pic>
        <p:nvPicPr>
          <p:cNvPr id="9" name="Image 1" descr="Any candidate generator plugs in">    </p:cNvPr>
          <p:cNvPicPr>
            <a:picLocks noChangeAspect="1"/>
          </p:cNvPicPr>
          <p:nvPr/>
        </p:nvPicPr>
        <p:blipFill>
          <a:blip r:embed="rId2"/>
          <a:stretch>
            <a:fillRect/>
          </a:stretch>
        </p:blipFill>
        <p:spPr>
          <a:xfrm>
            <a:off x="4750308" y="1783080"/>
            <a:ext cx="274320" cy="274320"/>
          </a:xfrm>
          <a:prstGeom prst="rect">
            <a:avLst/>
          </a:prstGeom>
        </p:spPr>
      </p:pic>
      <p:sp>
        <p:nvSpPr>
          <p:cNvPr id="10" name="Ext head 2"/>
          <p:cNvSpPr txBox="1"/>
          <p:nvPr/>
        </p:nvSpPr>
        <p:spPr>
          <a:xfrm>
            <a:off x="5298948" y="1572768"/>
            <a:ext cx="2487168" cy="694944"/>
          </a:xfrm>
          <a:prstGeom prst="rect">
            <a:avLst/>
          </a:prstGeom>
          <a:noFill/>
          <a:ln/>
        </p:spPr>
        <p:txBody>
          <a:bodyPr wrap="square" lIns="0" tIns="0" rIns="0" bIns="0" rtlCol="0" anchor="ctr"/>
          <a:lstStyle/>
          <a:p>
            <a:pPr indent="0" marL="0">
              <a:lnSpc>
                <a:spcPct val="100000"/>
              </a:lnSpc>
              <a:buNone/>
            </a:pPr>
            <a:r>
              <a:rPr lang="en-US" sz="1500" b="1" dirty="0">
                <a:solidFill>
                  <a:srgbClr val="A9B4BC"/>
                </a:solidFill>
                <a:latin typeface="Arial" pitchFamily="34" charset="0"/>
                <a:ea typeface="Arial" pitchFamily="34" charset="-122"/>
                <a:cs typeface="Arial" pitchFamily="34" charset="-120"/>
              </a:rPr>
              <a:t>Any candidate</a:t>
            </a:r>
            <a:endParaRPr lang="en-US" sz="1500" dirty="0"/>
          </a:p>
          <a:p>
            <a:pPr indent="0" marL="0">
              <a:lnSpc>
                <a:spcPct val="100000"/>
              </a:lnSpc>
              <a:buNone/>
            </a:pPr>
            <a:r>
              <a:rPr lang="en-US" sz="1500" b="1" dirty="0">
                <a:solidFill>
                  <a:srgbClr val="A9B4BC"/>
                </a:solidFill>
                <a:latin typeface="Arial" pitchFamily="34" charset="0"/>
                <a:ea typeface="Arial" pitchFamily="34" charset="-122"/>
                <a:cs typeface="Arial" pitchFamily="34" charset="-120"/>
              </a:rPr>
              <a:t>generator plugs in</a:t>
            </a:r>
            <a:endParaRPr lang="en-US" sz="1500" dirty="0"/>
          </a:p>
        </p:txBody>
      </p:sp>
      <p:sp>
        <p:nvSpPr>
          <p:cNvPr id="11" name="Ext card 3"/>
          <p:cNvSpPr/>
          <p:nvPr/>
        </p:nvSpPr>
        <p:spPr>
          <a:xfrm>
            <a:off x="8129016" y="1417320"/>
            <a:ext cx="3511296" cy="4572000"/>
          </a:xfrm>
          <a:prstGeom prst="roundRect">
            <a:avLst>
              <a:gd name="adj" fmla="val 3125"/>
            </a:avLst>
          </a:prstGeom>
          <a:solidFill>
            <a:srgbClr val="F5F8F9"/>
          </a:solidFill>
          <a:ln/>
        </p:spPr>
      </p:sp>
      <p:sp>
        <p:nvSpPr>
          <p:cNvPr id="12" name="Ext icon bg 3"/>
          <p:cNvSpPr/>
          <p:nvPr/>
        </p:nvSpPr>
        <p:spPr>
          <a:xfrm>
            <a:off x="8403336" y="1645920"/>
            <a:ext cx="548640" cy="548640"/>
          </a:xfrm>
          <a:prstGeom prst="ellipse">
            <a:avLst/>
          </a:prstGeom>
          <a:solidFill>
            <a:srgbClr val="B7DAD6"/>
          </a:solidFill>
          <a:ln/>
        </p:spPr>
      </p:sp>
      <p:pic>
        <p:nvPicPr>
          <p:cNvPr id="13" name="Image 2" descr="The protocol transfers to DL3DV">    </p:cNvPr>
          <p:cNvPicPr>
            <a:picLocks noChangeAspect="1"/>
          </p:cNvPicPr>
          <p:nvPr/>
        </p:nvPicPr>
        <p:blipFill>
          <a:blip r:embed="rId3"/>
          <a:stretch>
            <a:fillRect/>
          </a:stretch>
        </p:blipFill>
        <p:spPr>
          <a:xfrm>
            <a:off x="8540496" y="1783080"/>
            <a:ext cx="274320" cy="274320"/>
          </a:xfrm>
          <a:prstGeom prst="rect">
            <a:avLst/>
          </a:prstGeom>
        </p:spPr>
      </p:pic>
      <p:sp>
        <p:nvSpPr>
          <p:cNvPr id="14" name="Ext head 3"/>
          <p:cNvSpPr txBox="1"/>
          <p:nvPr/>
        </p:nvSpPr>
        <p:spPr>
          <a:xfrm>
            <a:off x="9089136" y="1572768"/>
            <a:ext cx="2487168" cy="694944"/>
          </a:xfrm>
          <a:prstGeom prst="rect">
            <a:avLst/>
          </a:prstGeom>
          <a:noFill/>
          <a:ln/>
        </p:spPr>
        <p:txBody>
          <a:bodyPr wrap="square" lIns="0" tIns="0" rIns="0" bIns="0" rtlCol="0" anchor="ctr"/>
          <a:lstStyle/>
          <a:p>
            <a:pPr indent="0" marL="0">
              <a:lnSpc>
                <a:spcPct val="100000"/>
              </a:lnSpc>
              <a:buNone/>
            </a:pPr>
            <a:r>
              <a:rPr lang="en-US" sz="1500" b="1" dirty="0">
                <a:solidFill>
                  <a:srgbClr val="A9B4BC"/>
                </a:solidFill>
                <a:latin typeface="Arial" pitchFamily="34" charset="0"/>
                <a:ea typeface="Arial" pitchFamily="34" charset="-122"/>
                <a:cs typeface="Arial" pitchFamily="34" charset="-120"/>
              </a:rPr>
              <a:t>The protocol</a:t>
            </a:r>
            <a:endParaRPr lang="en-US" sz="1500" dirty="0"/>
          </a:p>
          <a:p>
            <a:pPr indent="0" marL="0">
              <a:lnSpc>
                <a:spcPct val="100000"/>
              </a:lnSpc>
              <a:buNone/>
            </a:pPr>
            <a:r>
              <a:rPr lang="en-US" sz="1500" b="1" dirty="0">
                <a:solidFill>
                  <a:srgbClr val="A9B4BC"/>
                </a:solidFill>
                <a:latin typeface="Arial" pitchFamily="34" charset="0"/>
                <a:ea typeface="Arial" pitchFamily="34" charset="-122"/>
                <a:cs typeface="Arial" pitchFamily="34" charset="-120"/>
              </a:rPr>
              <a:t>transfers to DL3DV</a:t>
            </a:r>
            <a:endParaRPr lang="en-US" sz="1500" dirty="0"/>
          </a:p>
        </p:txBody>
      </p:sp>
      <p:sp>
        <p:nvSpPr>
          <p:cNvPr id="15" name="MM sub"/>
          <p:cNvSpPr txBox="1"/>
          <p:nvPr/>
        </p:nvSpPr>
        <p:spPr>
          <a:xfrm>
            <a:off x="822960" y="2468880"/>
            <a:ext cx="3017520" cy="320040"/>
          </a:xfrm>
          <a:prstGeom prst="rect">
            <a:avLst/>
          </a:prstGeom>
          <a:noFill/>
          <a:ln/>
        </p:spPr>
        <p:txBody>
          <a:bodyPr wrap="square" lIns="0" tIns="0" rIns="0" bIns="0" rtlCol="0" anchor="ctr"/>
          <a:lstStyle/>
          <a:p>
            <a:pPr indent="0" marL="0">
              <a:lnSpc>
                <a:spcPct val="100000"/>
              </a:lnSpc>
              <a:buNone/>
            </a:pPr>
            <a:r>
              <a:rPr lang="en-US" sz="1400" dirty="0">
                <a:solidFill>
                  <a:srgbClr val="17212B"/>
                </a:solidFill>
                <a:latin typeface="Arial" pitchFamily="34" charset="0"/>
                <a:ea typeface="Arial" pitchFamily="34" charset="-122"/>
                <a:cs typeface="Arial" pitchFamily="34" charset="-120"/>
              </a:rPr>
              <a:t>Constraints passed in joint audits</a:t>
            </a:r>
            <a:endParaRPr lang="en-US" sz="1400" dirty="0"/>
          </a:p>
        </p:txBody>
      </p:sp>
      <p:graphicFrame>
        <p:nvGraphicFramePr>
          <p:cNvPr id="9" name="MM table"/>
          <p:cNvGraphicFramePr>
            <a:graphicFrameLocks noGrp="1"/>
          </p:cNvGraphicFramePr>
          <p:nvPr>
            <p:extLst>
              <p:ext uri="{D42A27DB-BD31-4B8C-83A1-F6EECF244321}">
                <p14:modId xmlns:p14="http://schemas.microsoft.com/office/powerpoint/2010/main" val="1579011935"/>
              </p:ext>
            </p:extLst>
          </p:nvPr>
        </p:nvGraphicFramePr>
        <p:xfrm>
          <a:off x="822960" y="2880360"/>
          <a:ext cx="2962656" cy="914400"/>
        </p:xfrm>
        <a:graphic>
          <a:graphicData uri="http://schemas.openxmlformats.org/drawingml/2006/table">
            <a:tbl>
              <a:tblPr/>
              <a:tblGrid>
                <a:gridCol w="914400"/>
                <a:gridCol w="1024128"/>
                <a:gridCol w="1024128"/>
              </a:tblGrid>
              <a:tr h="384048">
                <a:tc>
                  <a:txBody>
                    <a:bodyPr/>
                    <a:lstStyle/>
                    <a:p>
                      <a:pPr indent="0" marL="0">
                        <a:buNone/>
                      </a:pPr>
                      <a:endParaRPr lang="en-US" sz="1200" dirty="0"/>
                    </a:p>
                  </a:txBody>
                  <a:tcPr marL="0" marR="0" marT="0" marB="0" anchor="ctr">
                    <a:lnL w="0" cap="flat" cmpd="sng" algn="ctr">
                      <a:noFill/>
                    </a:lnL>
                    <a:lnR w="0" cap="flat" cmpd="sng" algn="ctr">
                      <a:noFill/>
                    </a:lnR>
                    <a:lnT w="0" cap="flat" cmpd="sng" algn="ctr">
                      <a:noFill/>
                    </a:lnT>
                    <a:lnB w="0" cap="flat" cmpd="sng" algn="ctr">
                      <a:noFill/>
                    </a:lnB>
                    <a:solidFill>
                      <a:srgbClr val="EEF3F4"/>
                    </a:solidFill>
                  </a:tcPr>
                </a:tc>
                <a:tc>
                  <a:txBody>
                    <a:bodyPr/>
                    <a:lstStyle/>
                    <a:p>
                      <a:pPr algn="ctr" indent="0" marL="0">
                        <a:buNone/>
                      </a:pPr>
                      <a:r>
                        <a:rPr lang="en-US" sz="1300" b="1" dirty="0">
                          <a:solidFill>
                            <a:srgbClr val="5B6B78"/>
                          </a:solidFill>
                          <a:latin typeface="Arial" pitchFamily="34" charset="0"/>
                          <a:ea typeface="Arial" pitchFamily="34" charset="-122"/>
                          <a:cs typeface="Arial" pitchFamily="34" charset="-120"/>
                        </a:rPr>
                        <a:t>3 methods</a:t>
                      </a:r>
                      <a:endParaRPr lang="en-US" sz="13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EEF3F4"/>
                    </a:solidFill>
                  </a:tcPr>
                </a:tc>
                <a:tc>
                  <a:txBody>
                    <a:bodyPr/>
                    <a:lstStyle/>
                    <a:p>
                      <a:pPr algn="ctr" indent="0" marL="0">
                        <a:buNone/>
                      </a:pPr>
                      <a:r>
                        <a:rPr lang="en-US" sz="1300" b="1" dirty="0">
                          <a:solidFill>
                            <a:srgbClr val="5B6B78"/>
                          </a:solidFill>
                          <a:latin typeface="Arial" pitchFamily="34" charset="0"/>
                          <a:ea typeface="Arial" pitchFamily="34" charset="-122"/>
                          <a:cs typeface="Arial" pitchFamily="34" charset="-120"/>
                        </a:rPr>
                        <a:t>+ nerfacto</a:t>
                      </a:r>
                      <a:endParaRPr lang="en-US" sz="13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EEF3F4"/>
                    </a:solidFill>
                  </a:tcPr>
                </a:tc>
              </a:tr>
              <a:tr h="603504">
                <a:tc>
                  <a:txBody>
                    <a:bodyPr/>
                    <a:lstStyle/>
                    <a:p>
                      <a:pPr indent="0" marL="0">
                        <a:buNone/>
                      </a:pPr>
                      <a:r>
                        <a:rPr lang="en-US" sz="1400" b="1" dirty="0">
                          <a:solidFill>
                            <a:srgbClr val="5B6B78"/>
                          </a:solidFill>
                          <a:latin typeface="Arial" pitchFamily="34" charset="0"/>
                          <a:ea typeface="Arial" pitchFamily="34" charset="-122"/>
                          <a:cs typeface="Arial" pitchFamily="34" charset="-120"/>
                        </a:rPr>
                        <a:t>RASS-48</a:t>
                      </a:r>
                      <a:endParaRPr lang="en-US" sz="14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EEF3F4"/>
                    </a:solidFill>
                  </a:tcPr>
                </a:tc>
                <a:tc>
                  <a:txBody>
                    <a:bodyPr/>
                    <a:lstStyle/>
                    <a:p>
                      <a:pPr algn="ctr" indent="0" marL="0">
                        <a:buNone/>
                      </a:pPr>
                      <a:r>
                        <a:rPr lang="en-US" sz="2200" b="1" dirty="0">
                          <a:solidFill>
                            <a:srgbClr val="5B6B78"/>
                          </a:solidFill>
                          <a:latin typeface="Arial" pitchFamily="34" charset="0"/>
                          <a:ea typeface="Arial" pitchFamily="34" charset="-122"/>
                          <a:cs typeface="Arial" pitchFamily="34" charset="-120"/>
                        </a:rPr>
                        <a:t>14/16</a:t>
                      </a:r>
                      <a:endParaRPr lang="en-US" sz="22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EEF3F4"/>
                    </a:solidFill>
                  </a:tcPr>
                </a:tc>
                <a:tc>
                  <a:txBody>
                    <a:bodyPr/>
                    <a:lstStyle/>
                    <a:p>
                      <a:pPr algn="ctr" indent="0" marL="0">
                        <a:buNone/>
                      </a:pPr>
                      <a:r>
                        <a:rPr lang="en-US" sz="2200" b="1" dirty="0">
                          <a:solidFill>
                            <a:srgbClr val="5B6B78"/>
                          </a:solidFill>
                          <a:latin typeface="Arial" pitchFamily="34" charset="0"/>
                          <a:ea typeface="Arial" pitchFamily="34" charset="-122"/>
                          <a:cs typeface="Arial" pitchFamily="34" charset="-120"/>
                        </a:rPr>
                        <a:t>19/22</a:t>
                      </a:r>
                      <a:endParaRPr lang="en-US" sz="22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EEF3F4"/>
                    </a:solidFill>
                  </a:tcPr>
                </a:tc>
              </a:tr>
              <a:tr h="603504">
                <a:tc>
                  <a:txBody>
                    <a:bodyPr/>
                    <a:lstStyle/>
                    <a:p>
                      <a:pPr indent="0" marL="0">
                        <a:buNone/>
                      </a:pPr>
                      <a:r>
                        <a:rPr lang="en-US" sz="1400" b="1" dirty="0">
                          <a:solidFill>
                            <a:srgbClr val="17212B"/>
                          </a:solidFill>
                          <a:latin typeface="Arial" pitchFamily="34" charset="0"/>
                          <a:ea typeface="Arial" pitchFamily="34" charset="-122"/>
                          <a:cs typeface="Arial" pitchFamily="34" charset="-120"/>
                        </a:rPr>
                        <a:t>RASS-96</a:t>
                      </a:r>
                      <a:endParaRPr lang="en-US" sz="14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EEF3F4"/>
                    </a:solidFill>
                  </a:tcPr>
                </a:tc>
                <a:tc>
                  <a:txBody>
                    <a:bodyPr/>
                    <a:lstStyle/>
                    <a:p>
                      <a:pPr algn="ctr" indent="0" marL="0">
                        <a:buNone/>
                      </a:pPr>
                      <a:r>
                        <a:rPr lang="en-US" sz="2200" b="1" dirty="0">
                          <a:solidFill>
                            <a:srgbClr val="1F8A80"/>
                          </a:solidFill>
                          <a:latin typeface="Arial" pitchFamily="34" charset="0"/>
                          <a:ea typeface="Arial" pitchFamily="34" charset="-122"/>
                          <a:cs typeface="Arial" pitchFamily="34" charset="-120"/>
                        </a:rPr>
                        <a:t>16/16</a:t>
                      </a:r>
                      <a:endParaRPr lang="en-US" sz="22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EEF3F4"/>
                    </a:solidFill>
                  </a:tcPr>
                </a:tc>
                <a:tc>
                  <a:txBody>
                    <a:bodyPr/>
                    <a:lstStyle/>
                    <a:p>
                      <a:pPr algn="ctr" indent="0" marL="0">
                        <a:buNone/>
                      </a:pPr>
                      <a:r>
                        <a:rPr lang="en-US" sz="2200" b="1" dirty="0">
                          <a:solidFill>
                            <a:srgbClr val="1F8A80"/>
                          </a:solidFill>
                          <a:latin typeface="Arial" pitchFamily="34" charset="0"/>
                          <a:ea typeface="Arial" pitchFamily="34" charset="-122"/>
                          <a:cs typeface="Arial" pitchFamily="34" charset="-120"/>
                        </a:rPr>
                        <a:t>22/22</a:t>
                      </a:r>
                      <a:endParaRPr lang="en-US" sz="22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EEF3F4"/>
                    </a:solidFill>
                  </a:tcPr>
                </a:tc>
              </a:tr>
            </a:tbl>
          </a:graphicData>
        </a:graphic>
      </p:graphicFrame>
      <p:sp>
        <p:nvSpPr>
          <p:cNvPr id="17" name="MM desc"/>
          <p:cNvSpPr txBox="1"/>
          <p:nvPr/>
        </p:nvSpPr>
        <p:spPr>
          <a:xfrm>
            <a:off x="822960" y="4663440"/>
            <a:ext cx="3017520" cy="594360"/>
          </a:xfrm>
          <a:prstGeom prst="rect">
            <a:avLst/>
          </a:prstGeom>
          <a:noFill/>
          <a:ln/>
        </p:spPr>
        <p:txBody>
          <a:bodyPr wrap="square" lIns="0" tIns="0" rIns="0" bIns="0" rtlCol="0" anchor="t"/>
          <a:lstStyle/>
          <a:p>
            <a:pPr indent="0" marL="0">
              <a:lnSpc>
                <a:spcPct val="100000"/>
              </a:lnSpc>
              <a:buNone/>
            </a:pPr>
            <a:r>
              <a:rPr lang="en-US" sz="1400" dirty="0">
                <a:solidFill>
                  <a:srgbClr val="17212B"/>
                </a:solidFill>
                <a:latin typeface="Arial" pitchFamily="34" charset="0"/>
                <a:ea typeface="Arial" pitchFamily="34" charset="-122"/>
                <a:cs typeface="Arial" pitchFamily="34" charset="-120"/>
              </a:rPr>
              <a:t>So RASS-96 is our subset</a:t>
            </a:r>
            <a:endParaRPr lang="en-US" sz="1400" dirty="0"/>
          </a:p>
          <a:p>
            <a:pPr indent="0" marL="0">
              <a:lnSpc>
                <a:spcPct val="100000"/>
              </a:lnSpc>
              <a:buNone/>
            </a:pPr>
            <a:r>
              <a:rPr lang="en-US" sz="1400" dirty="0">
                <a:solidFill>
                  <a:srgbClr val="17212B"/>
                </a:solidFill>
                <a:latin typeface="Arial" pitchFamily="34" charset="0"/>
                <a:ea typeface="Arial" pitchFamily="34" charset="-122"/>
                <a:cs typeface="Arial" pitchFamily="34" charset="-120"/>
              </a:rPr>
              <a:t>for reported results.</a:t>
            </a:r>
            <a:endParaRPr lang="en-US" sz="1400" dirty="0"/>
          </a:p>
        </p:txBody>
      </p:sp>
      <p:sp>
        <p:nvSpPr>
          <p:cNvPr id="18" name="MM note"/>
          <p:cNvSpPr txBox="1"/>
          <p:nvPr/>
        </p:nvSpPr>
        <p:spPr>
          <a:xfrm>
            <a:off x="822960" y="5303520"/>
            <a:ext cx="3017520" cy="548640"/>
          </a:xfrm>
          <a:prstGeom prst="rect">
            <a:avLst/>
          </a:prstGeom>
          <a:noFill/>
          <a:ln/>
        </p:spPr>
        <p:txBody>
          <a:bodyPr wrap="square" lIns="0" tIns="0" rIns="0" bIns="0" rtlCol="0" anchor="t"/>
          <a:lstStyle/>
          <a:p>
            <a:pPr indent="0" marL="0">
              <a:lnSpc>
                <a:spcPct val="100000"/>
              </a:lnSpc>
              <a:buNone/>
            </a:pPr>
            <a:r>
              <a:rPr lang="en-US" sz="1200" dirty="0">
                <a:solidFill>
                  <a:srgbClr val="5B6B78"/>
                </a:solidFill>
                <a:latin typeface="Arial" pitchFamily="34" charset="0"/>
                <a:ea typeface="Arial" pitchFamily="34" charset="-122"/>
                <a:cs typeface="Arial" pitchFamily="34" charset="-120"/>
              </a:rPr>
              <a:t>3 methods: Zip-NeRF, Feature-Splatting, Instant-NGP (no LPIPS)</a:t>
            </a:r>
            <a:endParaRPr lang="en-US" sz="1200" dirty="0"/>
          </a:p>
        </p:txBody>
      </p:sp>
      <p:sp>
        <p:nvSpPr>
          <p:cNvPr id="19" name="Gen sub"/>
          <p:cNvSpPr txBox="1"/>
          <p:nvPr/>
        </p:nvSpPr>
        <p:spPr>
          <a:xfrm>
            <a:off x="4613148" y="2468880"/>
            <a:ext cx="3017520" cy="320040"/>
          </a:xfrm>
          <a:prstGeom prst="rect">
            <a:avLst/>
          </a:prstGeom>
          <a:noFill/>
          <a:ln/>
        </p:spPr>
        <p:txBody>
          <a:bodyPr wrap="square" lIns="0" tIns="0" rIns="0" bIns="0" rtlCol="0" anchor="ctr"/>
          <a:lstStyle/>
          <a:p>
            <a:pPr indent="0" marL="0">
              <a:lnSpc>
                <a:spcPct val="100000"/>
              </a:lnSpc>
              <a:buNone/>
            </a:pPr>
            <a:r>
              <a:rPr lang="en-US" sz="1400" dirty="0">
                <a:solidFill>
                  <a:srgbClr val="A9B4BC"/>
                </a:solidFill>
                <a:latin typeface="Arial" pitchFamily="34" charset="0"/>
                <a:ea typeface="Arial" pitchFamily="34" charset="-122"/>
                <a:cs typeface="Arial" pitchFamily="34" charset="-120"/>
              </a:rPr>
              <a:t>Smallest certified size (scenes)</a:t>
            </a:r>
            <a:endParaRPr lang="en-US" sz="1400" dirty="0"/>
          </a:p>
        </p:txBody>
      </p:sp>
      <p:pic>
        <p:nvPicPr>
          <p:cNvPr id="20" name="Generator chart" descr="Smallest certified subset size: facility location 36 (unstable), balanced 48, random 48">    </p:cNvPr>
          <p:cNvPicPr>
            <a:picLocks noChangeAspect="1"/>
          </p:cNvPicPr>
          <p:nvPr/>
        </p:nvPicPr>
        <p:blipFill>
          <a:blip r:embed="rId4"/>
          <a:stretch>
            <a:fillRect/>
          </a:stretch>
        </p:blipFill>
        <p:spPr>
          <a:xfrm>
            <a:off x="4475988" y="2834640"/>
            <a:ext cx="3246120" cy="1600200"/>
          </a:xfrm>
          <a:prstGeom prst="rect">
            <a:avLst/>
          </a:prstGeom>
        </p:spPr>
      </p:pic>
      <p:pic>
        <p:nvPicPr>
          <p:cNvPr id="21" name="Image 4" descr="Fails">    </p:cNvPr>
          <p:cNvPicPr>
            <a:picLocks noChangeAspect="1"/>
          </p:cNvPicPr>
          <p:nvPr/>
        </p:nvPicPr>
        <p:blipFill>
          <a:blip r:embed="rId5"/>
          <a:stretch>
            <a:fillRect/>
          </a:stretch>
        </p:blipFill>
        <p:spPr>
          <a:xfrm>
            <a:off x="4613148" y="4572000"/>
            <a:ext cx="219456" cy="219456"/>
          </a:xfrm>
          <a:prstGeom prst="rect">
            <a:avLst/>
          </a:prstGeom>
        </p:spPr>
      </p:pic>
      <p:sp>
        <p:nvSpPr>
          <p:cNvPr id="22" name="Gen kcenter"/>
          <p:cNvSpPr txBox="1"/>
          <p:nvPr/>
        </p:nvSpPr>
        <p:spPr>
          <a:xfrm>
            <a:off x="4905756" y="4526280"/>
            <a:ext cx="2743200" cy="320040"/>
          </a:xfrm>
          <a:prstGeom prst="rect">
            <a:avLst/>
          </a:prstGeom>
          <a:noFill/>
          <a:ln/>
        </p:spPr>
        <p:txBody>
          <a:bodyPr wrap="square" lIns="0" tIns="0" rIns="0" bIns="0" rtlCol="0" anchor="ctr"/>
          <a:lstStyle/>
          <a:p>
            <a:pPr indent="0" marL="0">
              <a:lnSpc>
                <a:spcPct val="100000"/>
              </a:lnSpc>
              <a:buNone/>
            </a:pPr>
            <a:r>
              <a:rPr lang="en-US" sz="1400" b="1" dirty="0">
                <a:solidFill>
                  <a:srgbClr val="A9B4BC"/>
                </a:solidFill>
                <a:latin typeface="Arial" pitchFamily="34" charset="0"/>
                <a:ea typeface="Arial" pitchFamily="34" charset="-122"/>
                <a:cs typeface="Arial" pitchFamily="34" charset="-120"/>
              </a:rPr>
              <a:t>k-center fails up to 96</a:t>
            </a:r>
            <a:endParaRPr lang="en-US" sz="1400" dirty="0"/>
          </a:p>
        </p:txBody>
      </p:sp>
      <p:sp>
        <p:nvSpPr>
          <p:cNvPr id="23" name="Gen note"/>
          <p:cNvSpPr txBox="1"/>
          <p:nvPr/>
        </p:nvSpPr>
        <p:spPr>
          <a:xfrm>
            <a:off x="4613148" y="4937760"/>
            <a:ext cx="3017520" cy="594360"/>
          </a:xfrm>
          <a:prstGeom prst="rect">
            <a:avLst/>
          </a:prstGeom>
          <a:noFill/>
          <a:ln/>
        </p:spPr>
        <p:txBody>
          <a:bodyPr wrap="square" lIns="0" tIns="0" rIns="0" bIns="0" rtlCol="0" anchor="t"/>
          <a:lstStyle/>
          <a:p>
            <a:pPr indent="0" marL="0">
              <a:lnSpc>
                <a:spcPct val="100000"/>
              </a:lnSpc>
              <a:buNone/>
            </a:pPr>
            <a:r>
              <a:rPr lang="en-US" sz="1200" dirty="0">
                <a:solidFill>
                  <a:srgbClr val="BAC4CA"/>
                </a:solidFill>
                <a:latin typeface="Arial" pitchFamily="34" charset="0"/>
                <a:ea typeface="Arial" pitchFamily="34" charset="-122"/>
                <a:cs typeface="Arial" pitchFamily="34" charset="-120"/>
              </a:rPr>
              <a:t>Balanced also passes at 36 on an extended grid.</a:t>
            </a:r>
            <a:endParaRPr lang="en-US" sz="1200" dirty="0"/>
          </a:p>
        </p:txBody>
      </p:sp>
      <p:sp>
        <p:nvSpPr>
          <p:cNvPr id="24" name="DL3DV stat"/>
          <p:cNvSpPr txBox="1"/>
          <p:nvPr/>
        </p:nvSpPr>
        <p:spPr>
          <a:xfrm>
            <a:off x="8403336" y="2423160"/>
            <a:ext cx="3017520" cy="960120"/>
          </a:xfrm>
          <a:prstGeom prst="rect">
            <a:avLst/>
          </a:prstGeom>
          <a:noFill/>
          <a:ln/>
        </p:spPr>
        <p:txBody>
          <a:bodyPr wrap="square" lIns="0" tIns="0" rIns="0" bIns="0" rtlCol="0" anchor="ctr"/>
          <a:lstStyle/>
          <a:p>
            <a:pPr indent="0" marL="0">
              <a:lnSpc>
                <a:spcPct val="100000"/>
              </a:lnSpc>
              <a:buNone/>
            </a:pPr>
            <a:r>
              <a:rPr lang="en-US" sz="5600" b="1" dirty="0">
                <a:solidFill>
                  <a:srgbClr val="A8D3CE"/>
                </a:solidFill>
                <a:latin typeface="Arial" pitchFamily="34" charset="0"/>
                <a:ea typeface="Arial" pitchFamily="34" charset="-122"/>
                <a:cs typeface="Arial" pitchFamily="34" charset="-120"/>
              </a:rPr>
              <a:t>64</a:t>
            </a:r>
            <a:pPr indent="0" marL="0">
              <a:lnSpc>
                <a:spcPct val="100000"/>
              </a:lnSpc>
              <a:buNone/>
            </a:pPr>
            <a:r>
              <a:rPr lang="en-US" sz="2800" b="1" dirty="0">
                <a:solidFill>
                  <a:srgbClr val="A8D3CE"/>
                </a:solidFill>
                <a:latin typeface="Arial" pitchFamily="34" charset="0"/>
                <a:ea typeface="Arial" pitchFamily="34" charset="-122"/>
                <a:cs typeface="Arial" pitchFamily="34" charset="-120"/>
              </a:rPr>
              <a:t> / 140</a:t>
            </a:r>
            <a:endParaRPr lang="en-US" sz="5600" dirty="0"/>
          </a:p>
        </p:txBody>
      </p:sp>
      <p:sp>
        <p:nvSpPr>
          <p:cNvPr id="25" name="DL3DV desc"/>
          <p:cNvSpPr txBox="1"/>
          <p:nvPr/>
        </p:nvSpPr>
        <p:spPr>
          <a:xfrm>
            <a:off x="8403336" y="3474720"/>
            <a:ext cx="3017520" cy="731520"/>
          </a:xfrm>
          <a:prstGeom prst="rect">
            <a:avLst/>
          </a:prstGeom>
          <a:noFill/>
          <a:ln/>
        </p:spPr>
        <p:txBody>
          <a:bodyPr wrap="square" lIns="0" tIns="0" rIns="0" bIns="0" rtlCol="0" anchor="t"/>
          <a:lstStyle/>
          <a:p>
            <a:pPr indent="0" marL="0">
              <a:lnSpc>
                <a:spcPct val="100000"/>
              </a:lnSpc>
              <a:buNone/>
            </a:pPr>
            <a:r>
              <a:rPr lang="en-US" sz="1400" dirty="0">
                <a:solidFill>
                  <a:srgbClr val="A9B4BC"/>
                </a:solidFill>
                <a:latin typeface="Arial" pitchFamily="34" charset="0"/>
                <a:ea typeface="Arial" pitchFamily="34" charset="-122"/>
                <a:cs typeface="Arial" pitchFamily="34" charset="-120"/>
              </a:rPr>
              <a:t>DL3DV scenes certified for four methods (32 for one)</a:t>
            </a:r>
            <a:endParaRPr lang="en-US" sz="1400" dirty="0"/>
          </a:p>
        </p:txBody>
      </p:sp>
      <p:sp>
        <p:nvSpPr>
          <p:cNvPr id="26" name="DL3DV note"/>
          <p:cNvSpPr txBox="1"/>
          <p:nvPr/>
        </p:nvSpPr>
        <p:spPr>
          <a:xfrm>
            <a:off x="8403336" y="4343400"/>
            <a:ext cx="3017520" cy="731520"/>
          </a:xfrm>
          <a:prstGeom prst="rect">
            <a:avLst/>
          </a:prstGeom>
          <a:noFill/>
          <a:ln/>
        </p:spPr>
        <p:txBody>
          <a:bodyPr wrap="square" lIns="0" tIns="0" rIns="0" bIns="0" rtlCol="0" anchor="t"/>
          <a:lstStyle/>
          <a:p>
            <a:pPr indent="0" marL="0">
              <a:lnSpc>
                <a:spcPct val="100000"/>
              </a:lnSpc>
              <a:buNone/>
            </a:pPr>
            <a:r>
              <a:rPr lang="en-US" sz="1200" dirty="0">
                <a:solidFill>
                  <a:srgbClr val="BAC4CA"/>
                </a:solidFill>
                <a:latin typeface="Arial" pitchFamily="34" charset="0"/>
                <a:ea typeface="Arial" pitchFamily="34" charset="-122"/>
                <a:cs typeface="Arial" pitchFamily="34" charset="-120"/>
              </a:rPr>
              <a:t>Contract re-declared for DL3DV; proportional allocation, added post hoc.</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000" b="1" dirty="0">
                <a:solidFill>
                  <a:srgbClr val="17212B"/>
                </a:solidFill>
                <a:latin typeface="Arial" pitchFamily="34" charset="0"/>
                <a:ea typeface="Arial" pitchFamily="34" charset="-122"/>
                <a:cs typeface="Arial" pitchFamily="34" charset="-120"/>
              </a:rPr>
              <a:t>One audit covers more methods, generators, and datasets</a:t>
            </a:r>
            <a:endParaRPr lang="en-US" sz="3000" dirty="0"/>
          </a:p>
        </p:txBody>
      </p:sp>
      <p:sp>
        <p:nvSpPr>
          <p:cNvPr id="3" name="Ext card 1"/>
          <p:cNvSpPr/>
          <p:nvPr/>
        </p:nvSpPr>
        <p:spPr>
          <a:xfrm>
            <a:off x="548640" y="1417320"/>
            <a:ext cx="3511296" cy="4572000"/>
          </a:xfrm>
          <a:prstGeom prst="roundRect">
            <a:avLst>
              <a:gd name="adj" fmla="val 3125"/>
            </a:avLst>
          </a:prstGeom>
          <a:solidFill>
            <a:srgbClr val="F5F8F9"/>
          </a:solidFill>
          <a:ln/>
        </p:spPr>
      </p:sp>
      <p:sp>
        <p:nvSpPr>
          <p:cNvPr id="4" name="Ext icon bg 1"/>
          <p:cNvSpPr/>
          <p:nvPr/>
        </p:nvSpPr>
        <p:spPr>
          <a:xfrm>
            <a:off x="822960" y="1645920"/>
            <a:ext cx="548640" cy="548640"/>
          </a:xfrm>
          <a:prstGeom prst="ellipse">
            <a:avLst/>
          </a:prstGeom>
          <a:solidFill>
            <a:srgbClr val="B7DAD6"/>
          </a:solidFill>
          <a:ln/>
        </p:spPr>
      </p:sp>
      <p:pic>
        <p:nvPicPr>
          <p:cNvPr id="5" name="Image 0" descr="RASS-96 passes the 3- and 4-method audits">    </p:cNvPr>
          <p:cNvPicPr>
            <a:picLocks noChangeAspect="1"/>
          </p:cNvPicPr>
          <p:nvPr/>
        </p:nvPicPr>
        <p:blipFill>
          <a:blip r:embed="rId1"/>
          <a:stretch>
            <a:fillRect/>
          </a:stretch>
        </p:blipFill>
        <p:spPr>
          <a:xfrm>
            <a:off x="960120" y="1783080"/>
            <a:ext cx="274320" cy="274320"/>
          </a:xfrm>
          <a:prstGeom prst="rect">
            <a:avLst/>
          </a:prstGeom>
        </p:spPr>
      </p:pic>
      <p:sp>
        <p:nvSpPr>
          <p:cNvPr id="6" name="Ext head 1"/>
          <p:cNvSpPr txBox="1"/>
          <p:nvPr/>
        </p:nvSpPr>
        <p:spPr>
          <a:xfrm>
            <a:off x="1508760" y="1572768"/>
            <a:ext cx="2487168" cy="694944"/>
          </a:xfrm>
          <a:prstGeom prst="rect">
            <a:avLst/>
          </a:prstGeom>
          <a:noFill/>
          <a:ln/>
        </p:spPr>
        <p:txBody>
          <a:bodyPr wrap="square" lIns="0" tIns="0" rIns="0" bIns="0" rtlCol="0" anchor="ctr"/>
          <a:lstStyle/>
          <a:p>
            <a:pPr indent="0" marL="0">
              <a:lnSpc>
                <a:spcPct val="100000"/>
              </a:lnSpc>
              <a:buNone/>
            </a:pPr>
            <a:r>
              <a:rPr lang="en-US" sz="1500" b="1" dirty="0">
                <a:solidFill>
                  <a:srgbClr val="A9B4BC"/>
                </a:solidFill>
                <a:latin typeface="Arial" pitchFamily="34" charset="0"/>
                <a:ea typeface="Arial" pitchFamily="34" charset="-122"/>
                <a:cs typeface="Arial" pitchFamily="34" charset="-120"/>
              </a:rPr>
              <a:t>RASS-96 passes the</a:t>
            </a:r>
            <a:endParaRPr lang="en-US" sz="1500" dirty="0"/>
          </a:p>
          <a:p>
            <a:pPr indent="0" marL="0">
              <a:lnSpc>
                <a:spcPct val="100000"/>
              </a:lnSpc>
              <a:buNone/>
            </a:pPr>
            <a:r>
              <a:rPr lang="en-US" sz="1500" b="1" dirty="0">
                <a:solidFill>
                  <a:srgbClr val="A9B4BC"/>
                </a:solidFill>
                <a:latin typeface="Arial" pitchFamily="34" charset="0"/>
                <a:ea typeface="Arial" pitchFamily="34" charset="-122"/>
                <a:cs typeface="Arial" pitchFamily="34" charset="-120"/>
              </a:rPr>
              <a:t>3- and 4-method audits</a:t>
            </a:r>
            <a:endParaRPr lang="en-US" sz="1500" dirty="0"/>
          </a:p>
        </p:txBody>
      </p:sp>
      <p:sp>
        <p:nvSpPr>
          <p:cNvPr id="7" name="Ext card 2"/>
          <p:cNvSpPr/>
          <p:nvPr/>
        </p:nvSpPr>
        <p:spPr>
          <a:xfrm>
            <a:off x="4338828" y="1417320"/>
            <a:ext cx="3511296" cy="4572000"/>
          </a:xfrm>
          <a:prstGeom prst="roundRect">
            <a:avLst>
              <a:gd name="adj" fmla="val 3125"/>
            </a:avLst>
          </a:prstGeom>
          <a:solidFill>
            <a:srgbClr val="EEF3F4"/>
          </a:solidFill>
          <a:ln/>
        </p:spPr>
      </p:sp>
      <p:sp>
        <p:nvSpPr>
          <p:cNvPr id="8" name="Ext icon bg 2"/>
          <p:cNvSpPr/>
          <p:nvPr/>
        </p:nvSpPr>
        <p:spPr>
          <a:xfrm>
            <a:off x="4613148" y="1645920"/>
            <a:ext cx="548640" cy="548640"/>
          </a:xfrm>
          <a:prstGeom prst="ellipse">
            <a:avLst/>
          </a:prstGeom>
          <a:solidFill>
            <a:srgbClr val="1F8A80"/>
          </a:solidFill>
          <a:ln/>
        </p:spPr>
      </p:sp>
      <p:pic>
        <p:nvPicPr>
          <p:cNvPr id="9" name="Image 1" descr="Any candidate generator plugs in">    </p:cNvPr>
          <p:cNvPicPr>
            <a:picLocks noChangeAspect="1"/>
          </p:cNvPicPr>
          <p:nvPr/>
        </p:nvPicPr>
        <p:blipFill>
          <a:blip r:embed="rId2"/>
          <a:stretch>
            <a:fillRect/>
          </a:stretch>
        </p:blipFill>
        <p:spPr>
          <a:xfrm>
            <a:off x="4750308" y="1783080"/>
            <a:ext cx="274320" cy="274320"/>
          </a:xfrm>
          <a:prstGeom prst="rect">
            <a:avLst/>
          </a:prstGeom>
        </p:spPr>
      </p:pic>
      <p:sp>
        <p:nvSpPr>
          <p:cNvPr id="10" name="Ext head 2"/>
          <p:cNvSpPr txBox="1"/>
          <p:nvPr/>
        </p:nvSpPr>
        <p:spPr>
          <a:xfrm>
            <a:off x="5298948" y="1572768"/>
            <a:ext cx="2487168" cy="694944"/>
          </a:xfrm>
          <a:prstGeom prst="rect">
            <a:avLst/>
          </a:prstGeom>
          <a:noFill/>
          <a:ln/>
        </p:spPr>
        <p:txBody>
          <a:bodyPr wrap="square" lIns="0" tIns="0" rIns="0" bIns="0" rtlCol="0" anchor="ctr"/>
          <a:lstStyle/>
          <a:p>
            <a:pPr indent="0" marL="0">
              <a:lnSpc>
                <a:spcPct val="100000"/>
              </a:lnSpc>
              <a:buNone/>
            </a:pPr>
            <a:r>
              <a:rPr lang="en-US" sz="1500" b="1" dirty="0">
                <a:solidFill>
                  <a:srgbClr val="17212B"/>
                </a:solidFill>
                <a:latin typeface="Arial" pitchFamily="34" charset="0"/>
                <a:ea typeface="Arial" pitchFamily="34" charset="-122"/>
                <a:cs typeface="Arial" pitchFamily="34" charset="-120"/>
              </a:rPr>
              <a:t>Any candidate</a:t>
            </a:r>
            <a:endParaRPr lang="en-US" sz="1500" dirty="0"/>
          </a:p>
          <a:p>
            <a:pPr indent="0" marL="0">
              <a:lnSpc>
                <a:spcPct val="100000"/>
              </a:lnSpc>
              <a:buNone/>
            </a:pPr>
            <a:r>
              <a:rPr lang="en-US" sz="1500" b="1" dirty="0">
                <a:solidFill>
                  <a:srgbClr val="17212B"/>
                </a:solidFill>
                <a:latin typeface="Arial" pitchFamily="34" charset="0"/>
                <a:ea typeface="Arial" pitchFamily="34" charset="-122"/>
                <a:cs typeface="Arial" pitchFamily="34" charset="-120"/>
              </a:rPr>
              <a:t>generator plugs in</a:t>
            </a:r>
            <a:endParaRPr lang="en-US" sz="1500" dirty="0"/>
          </a:p>
        </p:txBody>
      </p:sp>
      <p:sp>
        <p:nvSpPr>
          <p:cNvPr id="11" name="Ext card 3"/>
          <p:cNvSpPr/>
          <p:nvPr/>
        </p:nvSpPr>
        <p:spPr>
          <a:xfrm>
            <a:off x="8129016" y="1417320"/>
            <a:ext cx="3511296" cy="4572000"/>
          </a:xfrm>
          <a:prstGeom prst="roundRect">
            <a:avLst>
              <a:gd name="adj" fmla="val 3125"/>
            </a:avLst>
          </a:prstGeom>
          <a:solidFill>
            <a:srgbClr val="F5F8F9"/>
          </a:solidFill>
          <a:ln/>
        </p:spPr>
      </p:sp>
      <p:sp>
        <p:nvSpPr>
          <p:cNvPr id="12" name="Ext icon bg 3"/>
          <p:cNvSpPr/>
          <p:nvPr/>
        </p:nvSpPr>
        <p:spPr>
          <a:xfrm>
            <a:off x="8403336" y="1645920"/>
            <a:ext cx="548640" cy="548640"/>
          </a:xfrm>
          <a:prstGeom prst="ellipse">
            <a:avLst/>
          </a:prstGeom>
          <a:solidFill>
            <a:srgbClr val="B7DAD6"/>
          </a:solidFill>
          <a:ln/>
        </p:spPr>
      </p:sp>
      <p:pic>
        <p:nvPicPr>
          <p:cNvPr id="13" name="Image 2" descr="The protocol transfers to DL3DV">    </p:cNvPr>
          <p:cNvPicPr>
            <a:picLocks noChangeAspect="1"/>
          </p:cNvPicPr>
          <p:nvPr/>
        </p:nvPicPr>
        <p:blipFill>
          <a:blip r:embed="rId3"/>
          <a:stretch>
            <a:fillRect/>
          </a:stretch>
        </p:blipFill>
        <p:spPr>
          <a:xfrm>
            <a:off x="8540496" y="1783080"/>
            <a:ext cx="274320" cy="274320"/>
          </a:xfrm>
          <a:prstGeom prst="rect">
            <a:avLst/>
          </a:prstGeom>
        </p:spPr>
      </p:pic>
      <p:sp>
        <p:nvSpPr>
          <p:cNvPr id="14" name="Ext head 3"/>
          <p:cNvSpPr txBox="1"/>
          <p:nvPr/>
        </p:nvSpPr>
        <p:spPr>
          <a:xfrm>
            <a:off x="9089136" y="1572768"/>
            <a:ext cx="2487168" cy="694944"/>
          </a:xfrm>
          <a:prstGeom prst="rect">
            <a:avLst/>
          </a:prstGeom>
          <a:noFill/>
          <a:ln/>
        </p:spPr>
        <p:txBody>
          <a:bodyPr wrap="square" lIns="0" tIns="0" rIns="0" bIns="0" rtlCol="0" anchor="ctr"/>
          <a:lstStyle/>
          <a:p>
            <a:pPr indent="0" marL="0">
              <a:lnSpc>
                <a:spcPct val="100000"/>
              </a:lnSpc>
              <a:buNone/>
            </a:pPr>
            <a:r>
              <a:rPr lang="en-US" sz="1500" b="1" dirty="0">
                <a:solidFill>
                  <a:srgbClr val="A9B4BC"/>
                </a:solidFill>
                <a:latin typeface="Arial" pitchFamily="34" charset="0"/>
                <a:ea typeface="Arial" pitchFamily="34" charset="-122"/>
                <a:cs typeface="Arial" pitchFamily="34" charset="-120"/>
              </a:rPr>
              <a:t>The protocol</a:t>
            </a:r>
            <a:endParaRPr lang="en-US" sz="1500" dirty="0"/>
          </a:p>
          <a:p>
            <a:pPr indent="0" marL="0">
              <a:lnSpc>
                <a:spcPct val="100000"/>
              </a:lnSpc>
              <a:buNone/>
            </a:pPr>
            <a:r>
              <a:rPr lang="en-US" sz="1500" b="1" dirty="0">
                <a:solidFill>
                  <a:srgbClr val="A9B4BC"/>
                </a:solidFill>
                <a:latin typeface="Arial" pitchFamily="34" charset="0"/>
                <a:ea typeface="Arial" pitchFamily="34" charset="-122"/>
                <a:cs typeface="Arial" pitchFamily="34" charset="-120"/>
              </a:rPr>
              <a:t>transfers to DL3DV</a:t>
            </a:r>
            <a:endParaRPr lang="en-US" sz="1500" dirty="0"/>
          </a:p>
        </p:txBody>
      </p:sp>
      <p:sp>
        <p:nvSpPr>
          <p:cNvPr id="15" name="MM sub"/>
          <p:cNvSpPr txBox="1"/>
          <p:nvPr/>
        </p:nvSpPr>
        <p:spPr>
          <a:xfrm>
            <a:off x="822960" y="2468880"/>
            <a:ext cx="3017520" cy="320040"/>
          </a:xfrm>
          <a:prstGeom prst="rect">
            <a:avLst/>
          </a:prstGeom>
          <a:noFill/>
          <a:ln/>
        </p:spPr>
        <p:txBody>
          <a:bodyPr wrap="square" lIns="0" tIns="0" rIns="0" bIns="0" rtlCol="0" anchor="ctr"/>
          <a:lstStyle/>
          <a:p>
            <a:pPr indent="0" marL="0">
              <a:lnSpc>
                <a:spcPct val="100000"/>
              </a:lnSpc>
              <a:buNone/>
            </a:pPr>
            <a:r>
              <a:rPr lang="en-US" sz="1400" dirty="0">
                <a:solidFill>
                  <a:srgbClr val="A9B4BC"/>
                </a:solidFill>
                <a:latin typeface="Arial" pitchFamily="34" charset="0"/>
                <a:ea typeface="Arial" pitchFamily="34" charset="-122"/>
                <a:cs typeface="Arial" pitchFamily="34" charset="-120"/>
              </a:rPr>
              <a:t>Constraints passed in joint audits</a:t>
            </a:r>
            <a:endParaRPr lang="en-US" sz="1400" dirty="0"/>
          </a:p>
        </p:txBody>
      </p:sp>
      <p:graphicFrame>
        <p:nvGraphicFramePr>
          <p:cNvPr id="10" name="MM table"/>
          <p:cNvGraphicFramePr>
            <a:graphicFrameLocks noGrp="1"/>
          </p:cNvGraphicFramePr>
          <p:nvPr>
            <p:extLst>
              <p:ext uri="{D42A27DB-BD31-4B8C-83A1-F6EECF244321}">
                <p14:modId xmlns:p14="http://schemas.microsoft.com/office/powerpoint/2010/main" val="1579011935"/>
              </p:ext>
            </p:extLst>
          </p:nvPr>
        </p:nvGraphicFramePr>
        <p:xfrm>
          <a:off x="822960" y="2880360"/>
          <a:ext cx="2962656" cy="914400"/>
        </p:xfrm>
        <a:graphic>
          <a:graphicData uri="http://schemas.openxmlformats.org/drawingml/2006/table">
            <a:tbl>
              <a:tblPr/>
              <a:tblGrid>
                <a:gridCol w="914400"/>
                <a:gridCol w="1024128"/>
                <a:gridCol w="1024128"/>
              </a:tblGrid>
              <a:tr h="384048">
                <a:tc>
                  <a:txBody>
                    <a:bodyPr/>
                    <a:lstStyle/>
                    <a:p>
                      <a:pPr indent="0" marL="0">
                        <a:buNone/>
                      </a:pPr>
                      <a:endParaRPr lang="en-US" sz="1200" dirty="0"/>
                    </a:p>
                  </a:txBody>
                  <a:tcPr marL="0" marR="0" marT="0" marB="0" anchor="ctr">
                    <a:lnL w="0" cap="flat" cmpd="sng" algn="ctr">
                      <a:noFill/>
                    </a:lnL>
                    <a:lnR w="0" cap="flat" cmpd="sng" algn="ctr">
                      <a:noFill/>
                    </a:lnR>
                    <a:lnT w="0" cap="flat" cmpd="sng" algn="ctr">
                      <a:noFill/>
                    </a:lnT>
                    <a:lnB w="0" cap="flat" cmpd="sng" algn="ctr">
                      <a:noFill/>
                    </a:lnB>
                    <a:solidFill>
                      <a:srgbClr val="F5F8F9"/>
                    </a:solidFill>
                  </a:tcPr>
                </a:tc>
                <a:tc>
                  <a:txBody>
                    <a:bodyPr/>
                    <a:lstStyle/>
                    <a:p>
                      <a:pPr algn="ctr" indent="0" marL="0">
                        <a:buNone/>
                      </a:pPr>
                      <a:r>
                        <a:rPr lang="en-US" sz="1300" b="1" dirty="0">
                          <a:solidFill>
                            <a:srgbClr val="BAC4CA"/>
                          </a:solidFill>
                          <a:latin typeface="Arial" pitchFamily="34" charset="0"/>
                          <a:ea typeface="Arial" pitchFamily="34" charset="-122"/>
                          <a:cs typeface="Arial" pitchFamily="34" charset="-120"/>
                        </a:rPr>
                        <a:t>3 methods</a:t>
                      </a:r>
                      <a:endParaRPr lang="en-US" sz="13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5F8F9"/>
                    </a:solidFill>
                  </a:tcPr>
                </a:tc>
                <a:tc>
                  <a:txBody>
                    <a:bodyPr/>
                    <a:lstStyle/>
                    <a:p>
                      <a:pPr algn="ctr" indent="0" marL="0">
                        <a:buNone/>
                      </a:pPr>
                      <a:r>
                        <a:rPr lang="en-US" sz="1300" b="1" dirty="0">
                          <a:solidFill>
                            <a:srgbClr val="BAC4CA"/>
                          </a:solidFill>
                          <a:latin typeface="Arial" pitchFamily="34" charset="0"/>
                          <a:ea typeface="Arial" pitchFamily="34" charset="-122"/>
                          <a:cs typeface="Arial" pitchFamily="34" charset="-120"/>
                        </a:rPr>
                        <a:t>+ nerfacto</a:t>
                      </a:r>
                      <a:endParaRPr lang="en-US" sz="13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5F8F9"/>
                    </a:solidFill>
                  </a:tcPr>
                </a:tc>
              </a:tr>
              <a:tr h="603504">
                <a:tc>
                  <a:txBody>
                    <a:bodyPr/>
                    <a:lstStyle/>
                    <a:p>
                      <a:pPr indent="0" marL="0">
                        <a:buNone/>
                      </a:pPr>
                      <a:r>
                        <a:rPr lang="en-US" sz="1400" b="1" dirty="0">
                          <a:solidFill>
                            <a:srgbClr val="BAC4CA"/>
                          </a:solidFill>
                          <a:latin typeface="Arial" pitchFamily="34" charset="0"/>
                          <a:ea typeface="Arial" pitchFamily="34" charset="-122"/>
                          <a:cs typeface="Arial" pitchFamily="34" charset="-120"/>
                        </a:rPr>
                        <a:t>RASS-48</a:t>
                      </a:r>
                      <a:endParaRPr lang="en-US" sz="14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5F8F9"/>
                    </a:solidFill>
                  </a:tcPr>
                </a:tc>
                <a:tc>
                  <a:txBody>
                    <a:bodyPr/>
                    <a:lstStyle/>
                    <a:p>
                      <a:pPr algn="ctr" indent="0" marL="0">
                        <a:buNone/>
                      </a:pPr>
                      <a:r>
                        <a:rPr lang="en-US" sz="2200" b="1" dirty="0">
                          <a:solidFill>
                            <a:srgbClr val="BAC4CA"/>
                          </a:solidFill>
                          <a:latin typeface="Arial" pitchFamily="34" charset="0"/>
                          <a:ea typeface="Arial" pitchFamily="34" charset="-122"/>
                          <a:cs typeface="Arial" pitchFamily="34" charset="-120"/>
                        </a:rPr>
                        <a:t>14/16</a:t>
                      </a:r>
                      <a:endParaRPr lang="en-US" sz="22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5F8F9"/>
                    </a:solidFill>
                  </a:tcPr>
                </a:tc>
                <a:tc>
                  <a:txBody>
                    <a:bodyPr/>
                    <a:lstStyle/>
                    <a:p>
                      <a:pPr algn="ctr" indent="0" marL="0">
                        <a:buNone/>
                      </a:pPr>
                      <a:r>
                        <a:rPr lang="en-US" sz="2200" b="1" dirty="0">
                          <a:solidFill>
                            <a:srgbClr val="BAC4CA"/>
                          </a:solidFill>
                          <a:latin typeface="Arial" pitchFamily="34" charset="0"/>
                          <a:ea typeface="Arial" pitchFamily="34" charset="-122"/>
                          <a:cs typeface="Arial" pitchFamily="34" charset="-120"/>
                        </a:rPr>
                        <a:t>19/22</a:t>
                      </a:r>
                      <a:endParaRPr lang="en-US" sz="22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5F8F9"/>
                    </a:solidFill>
                  </a:tcPr>
                </a:tc>
              </a:tr>
              <a:tr h="603504">
                <a:tc>
                  <a:txBody>
                    <a:bodyPr/>
                    <a:lstStyle/>
                    <a:p>
                      <a:pPr indent="0" marL="0">
                        <a:buNone/>
                      </a:pPr>
                      <a:r>
                        <a:rPr lang="en-US" sz="1400" b="1" dirty="0">
                          <a:solidFill>
                            <a:srgbClr val="A9B4BC"/>
                          </a:solidFill>
                          <a:latin typeface="Arial" pitchFamily="34" charset="0"/>
                          <a:ea typeface="Arial" pitchFamily="34" charset="-122"/>
                          <a:cs typeface="Arial" pitchFamily="34" charset="-120"/>
                        </a:rPr>
                        <a:t>RASS-96</a:t>
                      </a:r>
                      <a:endParaRPr lang="en-US" sz="14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5F8F9"/>
                    </a:solidFill>
                  </a:tcPr>
                </a:tc>
                <a:tc>
                  <a:txBody>
                    <a:bodyPr/>
                    <a:lstStyle/>
                    <a:p>
                      <a:pPr algn="ctr" indent="0" marL="0">
                        <a:buNone/>
                      </a:pPr>
                      <a:r>
                        <a:rPr lang="en-US" sz="2200" b="1" dirty="0">
                          <a:solidFill>
                            <a:srgbClr val="A8D3CE"/>
                          </a:solidFill>
                          <a:latin typeface="Arial" pitchFamily="34" charset="0"/>
                          <a:ea typeface="Arial" pitchFamily="34" charset="-122"/>
                          <a:cs typeface="Arial" pitchFamily="34" charset="-120"/>
                        </a:rPr>
                        <a:t>16/16</a:t>
                      </a:r>
                      <a:endParaRPr lang="en-US" sz="22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5F8F9"/>
                    </a:solidFill>
                  </a:tcPr>
                </a:tc>
                <a:tc>
                  <a:txBody>
                    <a:bodyPr/>
                    <a:lstStyle/>
                    <a:p>
                      <a:pPr algn="ctr" indent="0" marL="0">
                        <a:buNone/>
                      </a:pPr>
                      <a:r>
                        <a:rPr lang="en-US" sz="2200" b="1" dirty="0">
                          <a:solidFill>
                            <a:srgbClr val="A8D3CE"/>
                          </a:solidFill>
                          <a:latin typeface="Arial" pitchFamily="34" charset="0"/>
                          <a:ea typeface="Arial" pitchFamily="34" charset="-122"/>
                          <a:cs typeface="Arial" pitchFamily="34" charset="-120"/>
                        </a:rPr>
                        <a:t>22/22</a:t>
                      </a:r>
                      <a:endParaRPr lang="en-US" sz="22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5F8F9"/>
                    </a:solidFill>
                  </a:tcPr>
                </a:tc>
              </a:tr>
            </a:tbl>
          </a:graphicData>
        </a:graphic>
      </p:graphicFrame>
      <p:sp>
        <p:nvSpPr>
          <p:cNvPr id="17" name="MM desc"/>
          <p:cNvSpPr txBox="1"/>
          <p:nvPr/>
        </p:nvSpPr>
        <p:spPr>
          <a:xfrm>
            <a:off x="822960" y="4663440"/>
            <a:ext cx="3017520" cy="594360"/>
          </a:xfrm>
          <a:prstGeom prst="rect">
            <a:avLst/>
          </a:prstGeom>
          <a:noFill/>
          <a:ln/>
        </p:spPr>
        <p:txBody>
          <a:bodyPr wrap="square" lIns="0" tIns="0" rIns="0" bIns="0" rtlCol="0" anchor="t"/>
          <a:lstStyle/>
          <a:p>
            <a:pPr indent="0" marL="0">
              <a:lnSpc>
                <a:spcPct val="100000"/>
              </a:lnSpc>
              <a:buNone/>
            </a:pPr>
            <a:r>
              <a:rPr lang="en-US" sz="1400" dirty="0">
                <a:solidFill>
                  <a:srgbClr val="A9B4BC"/>
                </a:solidFill>
                <a:latin typeface="Arial" pitchFamily="34" charset="0"/>
                <a:ea typeface="Arial" pitchFamily="34" charset="-122"/>
                <a:cs typeface="Arial" pitchFamily="34" charset="-120"/>
              </a:rPr>
              <a:t>So RASS-96 is our subset</a:t>
            </a:r>
            <a:endParaRPr lang="en-US" sz="1400" dirty="0"/>
          </a:p>
          <a:p>
            <a:pPr indent="0" marL="0">
              <a:lnSpc>
                <a:spcPct val="100000"/>
              </a:lnSpc>
              <a:buNone/>
            </a:pPr>
            <a:r>
              <a:rPr lang="en-US" sz="1400" dirty="0">
                <a:solidFill>
                  <a:srgbClr val="A9B4BC"/>
                </a:solidFill>
                <a:latin typeface="Arial" pitchFamily="34" charset="0"/>
                <a:ea typeface="Arial" pitchFamily="34" charset="-122"/>
                <a:cs typeface="Arial" pitchFamily="34" charset="-120"/>
              </a:rPr>
              <a:t>for reported results.</a:t>
            </a:r>
            <a:endParaRPr lang="en-US" sz="1400" dirty="0"/>
          </a:p>
        </p:txBody>
      </p:sp>
      <p:sp>
        <p:nvSpPr>
          <p:cNvPr id="18" name="MM note"/>
          <p:cNvSpPr txBox="1"/>
          <p:nvPr/>
        </p:nvSpPr>
        <p:spPr>
          <a:xfrm>
            <a:off x="822960" y="5303520"/>
            <a:ext cx="3017520" cy="548640"/>
          </a:xfrm>
          <a:prstGeom prst="rect">
            <a:avLst/>
          </a:prstGeom>
          <a:noFill/>
          <a:ln/>
        </p:spPr>
        <p:txBody>
          <a:bodyPr wrap="square" lIns="0" tIns="0" rIns="0" bIns="0" rtlCol="0" anchor="t"/>
          <a:lstStyle/>
          <a:p>
            <a:pPr indent="0" marL="0">
              <a:lnSpc>
                <a:spcPct val="100000"/>
              </a:lnSpc>
              <a:buNone/>
            </a:pPr>
            <a:r>
              <a:rPr lang="en-US" sz="1200" dirty="0">
                <a:solidFill>
                  <a:srgbClr val="BAC4CA"/>
                </a:solidFill>
                <a:latin typeface="Arial" pitchFamily="34" charset="0"/>
                <a:ea typeface="Arial" pitchFamily="34" charset="-122"/>
                <a:cs typeface="Arial" pitchFamily="34" charset="-120"/>
              </a:rPr>
              <a:t>3 methods: Zip-NeRF, Feature-Splatting, Instant-NGP (no LPIPS)</a:t>
            </a:r>
            <a:endParaRPr lang="en-US" sz="1200" dirty="0"/>
          </a:p>
        </p:txBody>
      </p:sp>
      <p:sp>
        <p:nvSpPr>
          <p:cNvPr id="19" name="Gen sub"/>
          <p:cNvSpPr txBox="1"/>
          <p:nvPr/>
        </p:nvSpPr>
        <p:spPr>
          <a:xfrm>
            <a:off x="4613148" y="2468880"/>
            <a:ext cx="3017520" cy="320040"/>
          </a:xfrm>
          <a:prstGeom prst="rect">
            <a:avLst/>
          </a:prstGeom>
          <a:noFill/>
          <a:ln/>
        </p:spPr>
        <p:txBody>
          <a:bodyPr wrap="square" lIns="0" tIns="0" rIns="0" bIns="0" rtlCol="0" anchor="ctr"/>
          <a:lstStyle/>
          <a:p>
            <a:pPr indent="0" marL="0">
              <a:lnSpc>
                <a:spcPct val="100000"/>
              </a:lnSpc>
              <a:buNone/>
            </a:pPr>
            <a:r>
              <a:rPr lang="en-US" sz="1400" dirty="0">
                <a:solidFill>
                  <a:srgbClr val="17212B"/>
                </a:solidFill>
                <a:latin typeface="Arial" pitchFamily="34" charset="0"/>
                <a:ea typeface="Arial" pitchFamily="34" charset="-122"/>
                <a:cs typeface="Arial" pitchFamily="34" charset="-120"/>
              </a:rPr>
              <a:t>Smallest certified size (scenes)</a:t>
            </a:r>
            <a:endParaRPr lang="en-US" sz="1400" dirty="0"/>
          </a:p>
        </p:txBody>
      </p:sp>
      <p:pic>
        <p:nvPicPr>
          <p:cNvPr id="20" name="Generator chart" descr="Smallest certified subset size: facility location 36 (unstable), balanced 48, random 48">    </p:cNvPr>
          <p:cNvPicPr>
            <a:picLocks noChangeAspect="1"/>
          </p:cNvPicPr>
          <p:nvPr/>
        </p:nvPicPr>
        <p:blipFill>
          <a:blip r:embed="rId4"/>
          <a:stretch>
            <a:fillRect/>
          </a:stretch>
        </p:blipFill>
        <p:spPr>
          <a:xfrm>
            <a:off x="4475988" y="2834640"/>
            <a:ext cx="3246120" cy="1600200"/>
          </a:xfrm>
          <a:prstGeom prst="rect">
            <a:avLst/>
          </a:prstGeom>
        </p:spPr>
      </p:pic>
      <p:pic>
        <p:nvPicPr>
          <p:cNvPr id="21" name="Image 4" descr="Fails">    </p:cNvPr>
          <p:cNvPicPr>
            <a:picLocks noChangeAspect="1"/>
          </p:cNvPicPr>
          <p:nvPr/>
        </p:nvPicPr>
        <p:blipFill>
          <a:blip r:embed="rId5"/>
          <a:stretch>
            <a:fillRect/>
          </a:stretch>
        </p:blipFill>
        <p:spPr>
          <a:xfrm>
            <a:off x="4613148" y="4572000"/>
            <a:ext cx="219456" cy="219456"/>
          </a:xfrm>
          <a:prstGeom prst="rect">
            <a:avLst/>
          </a:prstGeom>
        </p:spPr>
      </p:pic>
      <p:sp>
        <p:nvSpPr>
          <p:cNvPr id="22" name="Gen kcenter"/>
          <p:cNvSpPr txBox="1"/>
          <p:nvPr/>
        </p:nvSpPr>
        <p:spPr>
          <a:xfrm>
            <a:off x="4905756" y="4526280"/>
            <a:ext cx="2743200" cy="320040"/>
          </a:xfrm>
          <a:prstGeom prst="rect">
            <a:avLst/>
          </a:prstGeom>
          <a:noFill/>
          <a:ln/>
        </p:spPr>
        <p:txBody>
          <a:bodyPr wrap="square" lIns="0" tIns="0" rIns="0" bIns="0" rtlCol="0" anchor="ctr"/>
          <a:lstStyle/>
          <a:p>
            <a:pPr indent="0" marL="0">
              <a:lnSpc>
                <a:spcPct val="100000"/>
              </a:lnSpc>
              <a:buNone/>
            </a:pPr>
            <a:r>
              <a:rPr lang="en-US" sz="1400" b="1" dirty="0">
                <a:solidFill>
                  <a:srgbClr val="17212B"/>
                </a:solidFill>
                <a:latin typeface="Arial" pitchFamily="34" charset="0"/>
                <a:ea typeface="Arial" pitchFamily="34" charset="-122"/>
                <a:cs typeface="Arial" pitchFamily="34" charset="-120"/>
              </a:rPr>
              <a:t>k-center fails up to 96</a:t>
            </a:r>
            <a:endParaRPr lang="en-US" sz="1400" dirty="0"/>
          </a:p>
        </p:txBody>
      </p:sp>
      <p:sp>
        <p:nvSpPr>
          <p:cNvPr id="23" name="Gen note"/>
          <p:cNvSpPr txBox="1"/>
          <p:nvPr/>
        </p:nvSpPr>
        <p:spPr>
          <a:xfrm>
            <a:off x="4613148" y="4937760"/>
            <a:ext cx="3017520" cy="594360"/>
          </a:xfrm>
          <a:prstGeom prst="rect">
            <a:avLst/>
          </a:prstGeom>
          <a:noFill/>
          <a:ln/>
        </p:spPr>
        <p:txBody>
          <a:bodyPr wrap="square" lIns="0" tIns="0" rIns="0" bIns="0" rtlCol="0" anchor="t"/>
          <a:lstStyle/>
          <a:p>
            <a:pPr indent="0" marL="0">
              <a:lnSpc>
                <a:spcPct val="100000"/>
              </a:lnSpc>
              <a:buNone/>
            </a:pPr>
            <a:r>
              <a:rPr lang="en-US" sz="1200" dirty="0">
                <a:solidFill>
                  <a:srgbClr val="5B6B78"/>
                </a:solidFill>
                <a:latin typeface="Arial" pitchFamily="34" charset="0"/>
                <a:ea typeface="Arial" pitchFamily="34" charset="-122"/>
                <a:cs typeface="Arial" pitchFamily="34" charset="-120"/>
              </a:rPr>
              <a:t>Balanced also passes at 36 on an extended grid.</a:t>
            </a:r>
            <a:endParaRPr lang="en-US" sz="1200" dirty="0"/>
          </a:p>
        </p:txBody>
      </p:sp>
      <p:sp>
        <p:nvSpPr>
          <p:cNvPr id="24" name="DL3DV stat"/>
          <p:cNvSpPr txBox="1"/>
          <p:nvPr/>
        </p:nvSpPr>
        <p:spPr>
          <a:xfrm>
            <a:off x="8403336" y="2423160"/>
            <a:ext cx="3017520" cy="960120"/>
          </a:xfrm>
          <a:prstGeom prst="rect">
            <a:avLst/>
          </a:prstGeom>
          <a:noFill/>
          <a:ln/>
        </p:spPr>
        <p:txBody>
          <a:bodyPr wrap="square" lIns="0" tIns="0" rIns="0" bIns="0" rtlCol="0" anchor="ctr"/>
          <a:lstStyle/>
          <a:p>
            <a:pPr indent="0" marL="0">
              <a:lnSpc>
                <a:spcPct val="100000"/>
              </a:lnSpc>
              <a:buNone/>
            </a:pPr>
            <a:r>
              <a:rPr lang="en-US" sz="5600" b="1" dirty="0">
                <a:solidFill>
                  <a:srgbClr val="A8D3CE"/>
                </a:solidFill>
                <a:latin typeface="Arial" pitchFamily="34" charset="0"/>
                <a:ea typeface="Arial" pitchFamily="34" charset="-122"/>
                <a:cs typeface="Arial" pitchFamily="34" charset="-120"/>
              </a:rPr>
              <a:t>64</a:t>
            </a:r>
            <a:pPr indent="0" marL="0">
              <a:lnSpc>
                <a:spcPct val="100000"/>
              </a:lnSpc>
              <a:buNone/>
            </a:pPr>
            <a:r>
              <a:rPr lang="en-US" sz="2800" b="1" dirty="0">
                <a:solidFill>
                  <a:srgbClr val="A8D3CE"/>
                </a:solidFill>
                <a:latin typeface="Arial" pitchFamily="34" charset="0"/>
                <a:ea typeface="Arial" pitchFamily="34" charset="-122"/>
                <a:cs typeface="Arial" pitchFamily="34" charset="-120"/>
              </a:rPr>
              <a:t> / 140</a:t>
            </a:r>
            <a:endParaRPr lang="en-US" sz="5600" dirty="0"/>
          </a:p>
        </p:txBody>
      </p:sp>
      <p:sp>
        <p:nvSpPr>
          <p:cNvPr id="25" name="DL3DV desc"/>
          <p:cNvSpPr txBox="1"/>
          <p:nvPr/>
        </p:nvSpPr>
        <p:spPr>
          <a:xfrm>
            <a:off x="8403336" y="3474720"/>
            <a:ext cx="3017520" cy="731520"/>
          </a:xfrm>
          <a:prstGeom prst="rect">
            <a:avLst/>
          </a:prstGeom>
          <a:noFill/>
          <a:ln/>
        </p:spPr>
        <p:txBody>
          <a:bodyPr wrap="square" lIns="0" tIns="0" rIns="0" bIns="0" rtlCol="0" anchor="t"/>
          <a:lstStyle/>
          <a:p>
            <a:pPr indent="0" marL="0">
              <a:lnSpc>
                <a:spcPct val="100000"/>
              </a:lnSpc>
              <a:buNone/>
            </a:pPr>
            <a:r>
              <a:rPr lang="en-US" sz="1400" dirty="0">
                <a:solidFill>
                  <a:srgbClr val="A9B4BC"/>
                </a:solidFill>
                <a:latin typeface="Arial" pitchFamily="34" charset="0"/>
                <a:ea typeface="Arial" pitchFamily="34" charset="-122"/>
                <a:cs typeface="Arial" pitchFamily="34" charset="-120"/>
              </a:rPr>
              <a:t>DL3DV scenes certified for four methods (32 for one)</a:t>
            </a:r>
            <a:endParaRPr lang="en-US" sz="1400" dirty="0"/>
          </a:p>
        </p:txBody>
      </p:sp>
      <p:sp>
        <p:nvSpPr>
          <p:cNvPr id="26" name="DL3DV note"/>
          <p:cNvSpPr txBox="1"/>
          <p:nvPr/>
        </p:nvSpPr>
        <p:spPr>
          <a:xfrm>
            <a:off x="8403336" y="4343400"/>
            <a:ext cx="3017520" cy="731520"/>
          </a:xfrm>
          <a:prstGeom prst="rect">
            <a:avLst/>
          </a:prstGeom>
          <a:noFill/>
          <a:ln/>
        </p:spPr>
        <p:txBody>
          <a:bodyPr wrap="square" lIns="0" tIns="0" rIns="0" bIns="0" rtlCol="0" anchor="t"/>
          <a:lstStyle/>
          <a:p>
            <a:pPr indent="0" marL="0">
              <a:lnSpc>
                <a:spcPct val="100000"/>
              </a:lnSpc>
              <a:buNone/>
            </a:pPr>
            <a:r>
              <a:rPr lang="en-US" sz="1200" dirty="0">
                <a:solidFill>
                  <a:srgbClr val="BAC4CA"/>
                </a:solidFill>
                <a:latin typeface="Arial" pitchFamily="34" charset="0"/>
                <a:ea typeface="Arial" pitchFamily="34" charset="-122"/>
                <a:cs typeface="Arial" pitchFamily="34" charset="-120"/>
              </a:rPr>
              <a:t>Contract re-declared for DL3DV; proportional allocation, added post hoc.</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000" b="1" dirty="0">
                <a:solidFill>
                  <a:srgbClr val="17212B"/>
                </a:solidFill>
                <a:latin typeface="Arial" pitchFamily="34" charset="0"/>
                <a:ea typeface="Arial" pitchFamily="34" charset="-122"/>
                <a:cs typeface="Arial" pitchFamily="34" charset="-120"/>
              </a:rPr>
              <a:t>One audit covers more methods, generators, and datasets</a:t>
            </a:r>
            <a:endParaRPr lang="en-US" sz="3000" dirty="0"/>
          </a:p>
        </p:txBody>
      </p:sp>
      <p:sp>
        <p:nvSpPr>
          <p:cNvPr id="3" name="Ext card 1"/>
          <p:cNvSpPr/>
          <p:nvPr/>
        </p:nvSpPr>
        <p:spPr>
          <a:xfrm>
            <a:off x="548640" y="1417320"/>
            <a:ext cx="3511296" cy="4572000"/>
          </a:xfrm>
          <a:prstGeom prst="roundRect">
            <a:avLst>
              <a:gd name="adj" fmla="val 3125"/>
            </a:avLst>
          </a:prstGeom>
          <a:solidFill>
            <a:srgbClr val="F5F8F9"/>
          </a:solidFill>
          <a:ln/>
        </p:spPr>
      </p:sp>
      <p:sp>
        <p:nvSpPr>
          <p:cNvPr id="4" name="Ext icon bg 1"/>
          <p:cNvSpPr/>
          <p:nvPr/>
        </p:nvSpPr>
        <p:spPr>
          <a:xfrm>
            <a:off x="822960" y="1645920"/>
            <a:ext cx="548640" cy="548640"/>
          </a:xfrm>
          <a:prstGeom prst="ellipse">
            <a:avLst/>
          </a:prstGeom>
          <a:solidFill>
            <a:srgbClr val="B7DAD6"/>
          </a:solidFill>
          <a:ln/>
        </p:spPr>
      </p:sp>
      <p:pic>
        <p:nvPicPr>
          <p:cNvPr id="5" name="Image 0" descr="RASS-96 passes the 3- and 4-method audits">    </p:cNvPr>
          <p:cNvPicPr>
            <a:picLocks noChangeAspect="1"/>
          </p:cNvPicPr>
          <p:nvPr/>
        </p:nvPicPr>
        <p:blipFill>
          <a:blip r:embed="rId1"/>
          <a:stretch>
            <a:fillRect/>
          </a:stretch>
        </p:blipFill>
        <p:spPr>
          <a:xfrm>
            <a:off x="960120" y="1783080"/>
            <a:ext cx="274320" cy="274320"/>
          </a:xfrm>
          <a:prstGeom prst="rect">
            <a:avLst/>
          </a:prstGeom>
        </p:spPr>
      </p:pic>
      <p:sp>
        <p:nvSpPr>
          <p:cNvPr id="6" name="Ext head 1"/>
          <p:cNvSpPr txBox="1"/>
          <p:nvPr/>
        </p:nvSpPr>
        <p:spPr>
          <a:xfrm>
            <a:off x="1508760" y="1572768"/>
            <a:ext cx="2487168" cy="694944"/>
          </a:xfrm>
          <a:prstGeom prst="rect">
            <a:avLst/>
          </a:prstGeom>
          <a:noFill/>
          <a:ln/>
        </p:spPr>
        <p:txBody>
          <a:bodyPr wrap="square" lIns="0" tIns="0" rIns="0" bIns="0" rtlCol="0" anchor="ctr"/>
          <a:lstStyle/>
          <a:p>
            <a:pPr indent="0" marL="0">
              <a:lnSpc>
                <a:spcPct val="100000"/>
              </a:lnSpc>
              <a:buNone/>
            </a:pPr>
            <a:r>
              <a:rPr lang="en-US" sz="1500" b="1" dirty="0">
                <a:solidFill>
                  <a:srgbClr val="A9B4BC"/>
                </a:solidFill>
                <a:latin typeface="Arial" pitchFamily="34" charset="0"/>
                <a:ea typeface="Arial" pitchFamily="34" charset="-122"/>
                <a:cs typeface="Arial" pitchFamily="34" charset="-120"/>
              </a:rPr>
              <a:t>RASS-96 passes the</a:t>
            </a:r>
            <a:endParaRPr lang="en-US" sz="1500" dirty="0"/>
          </a:p>
          <a:p>
            <a:pPr indent="0" marL="0">
              <a:lnSpc>
                <a:spcPct val="100000"/>
              </a:lnSpc>
              <a:buNone/>
            </a:pPr>
            <a:r>
              <a:rPr lang="en-US" sz="1500" b="1" dirty="0">
                <a:solidFill>
                  <a:srgbClr val="A9B4BC"/>
                </a:solidFill>
                <a:latin typeface="Arial" pitchFamily="34" charset="0"/>
                <a:ea typeface="Arial" pitchFamily="34" charset="-122"/>
                <a:cs typeface="Arial" pitchFamily="34" charset="-120"/>
              </a:rPr>
              <a:t>3- and 4-method audits</a:t>
            </a:r>
            <a:endParaRPr lang="en-US" sz="1500" dirty="0"/>
          </a:p>
        </p:txBody>
      </p:sp>
      <p:sp>
        <p:nvSpPr>
          <p:cNvPr id="7" name="Ext card 2"/>
          <p:cNvSpPr/>
          <p:nvPr/>
        </p:nvSpPr>
        <p:spPr>
          <a:xfrm>
            <a:off x="4338828" y="1417320"/>
            <a:ext cx="3511296" cy="4572000"/>
          </a:xfrm>
          <a:prstGeom prst="roundRect">
            <a:avLst>
              <a:gd name="adj" fmla="val 3125"/>
            </a:avLst>
          </a:prstGeom>
          <a:solidFill>
            <a:srgbClr val="F5F8F9"/>
          </a:solidFill>
          <a:ln/>
        </p:spPr>
      </p:sp>
      <p:sp>
        <p:nvSpPr>
          <p:cNvPr id="8" name="Ext icon bg 2"/>
          <p:cNvSpPr/>
          <p:nvPr/>
        </p:nvSpPr>
        <p:spPr>
          <a:xfrm>
            <a:off x="4613148" y="1645920"/>
            <a:ext cx="548640" cy="548640"/>
          </a:xfrm>
          <a:prstGeom prst="ellipse">
            <a:avLst/>
          </a:prstGeom>
          <a:solidFill>
            <a:srgbClr val="B7DAD6"/>
          </a:solidFill>
          <a:ln/>
        </p:spPr>
      </p:sp>
      <p:pic>
        <p:nvPicPr>
          <p:cNvPr id="9" name="Image 1" descr="Any candidate generator plugs in">    </p:cNvPr>
          <p:cNvPicPr>
            <a:picLocks noChangeAspect="1"/>
          </p:cNvPicPr>
          <p:nvPr/>
        </p:nvPicPr>
        <p:blipFill>
          <a:blip r:embed="rId2"/>
          <a:stretch>
            <a:fillRect/>
          </a:stretch>
        </p:blipFill>
        <p:spPr>
          <a:xfrm>
            <a:off x="4750308" y="1783080"/>
            <a:ext cx="274320" cy="274320"/>
          </a:xfrm>
          <a:prstGeom prst="rect">
            <a:avLst/>
          </a:prstGeom>
        </p:spPr>
      </p:pic>
      <p:sp>
        <p:nvSpPr>
          <p:cNvPr id="10" name="Ext head 2"/>
          <p:cNvSpPr txBox="1"/>
          <p:nvPr/>
        </p:nvSpPr>
        <p:spPr>
          <a:xfrm>
            <a:off x="5298948" y="1572768"/>
            <a:ext cx="2487168" cy="694944"/>
          </a:xfrm>
          <a:prstGeom prst="rect">
            <a:avLst/>
          </a:prstGeom>
          <a:noFill/>
          <a:ln/>
        </p:spPr>
        <p:txBody>
          <a:bodyPr wrap="square" lIns="0" tIns="0" rIns="0" bIns="0" rtlCol="0" anchor="ctr"/>
          <a:lstStyle/>
          <a:p>
            <a:pPr indent="0" marL="0">
              <a:lnSpc>
                <a:spcPct val="100000"/>
              </a:lnSpc>
              <a:buNone/>
            </a:pPr>
            <a:r>
              <a:rPr lang="en-US" sz="1500" b="1" dirty="0">
                <a:solidFill>
                  <a:srgbClr val="A9B4BC"/>
                </a:solidFill>
                <a:latin typeface="Arial" pitchFamily="34" charset="0"/>
                <a:ea typeface="Arial" pitchFamily="34" charset="-122"/>
                <a:cs typeface="Arial" pitchFamily="34" charset="-120"/>
              </a:rPr>
              <a:t>Any candidate</a:t>
            </a:r>
            <a:endParaRPr lang="en-US" sz="1500" dirty="0"/>
          </a:p>
          <a:p>
            <a:pPr indent="0" marL="0">
              <a:lnSpc>
                <a:spcPct val="100000"/>
              </a:lnSpc>
              <a:buNone/>
            </a:pPr>
            <a:r>
              <a:rPr lang="en-US" sz="1500" b="1" dirty="0">
                <a:solidFill>
                  <a:srgbClr val="A9B4BC"/>
                </a:solidFill>
                <a:latin typeface="Arial" pitchFamily="34" charset="0"/>
                <a:ea typeface="Arial" pitchFamily="34" charset="-122"/>
                <a:cs typeface="Arial" pitchFamily="34" charset="-120"/>
              </a:rPr>
              <a:t>generator plugs in</a:t>
            </a:r>
            <a:endParaRPr lang="en-US" sz="1500" dirty="0"/>
          </a:p>
        </p:txBody>
      </p:sp>
      <p:sp>
        <p:nvSpPr>
          <p:cNvPr id="11" name="Ext card 3"/>
          <p:cNvSpPr/>
          <p:nvPr/>
        </p:nvSpPr>
        <p:spPr>
          <a:xfrm>
            <a:off x="8129016" y="1417320"/>
            <a:ext cx="3511296" cy="4572000"/>
          </a:xfrm>
          <a:prstGeom prst="roundRect">
            <a:avLst>
              <a:gd name="adj" fmla="val 3125"/>
            </a:avLst>
          </a:prstGeom>
          <a:solidFill>
            <a:srgbClr val="EEF3F4"/>
          </a:solidFill>
          <a:ln/>
        </p:spPr>
      </p:sp>
      <p:sp>
        <p:nvSpPr>
          <p:cNvPr id="12" name="Ext icon bg 3"/>
          <p:cNvSpPr/>
          <p:nvPr/>
        </p:nvSpPr>
        <p:spPr>
          <a:xfrm>
            <a:off x="8403336" y="1645920"/>
            <a:ext cx="548640" cy="548640"/>
          </a:xfrm>
          <a:prstGeom prst="ellipse">
            <a:avLst/>
          </a:prstGeom>
          <a:solidFill>
            <a:srgbClr val="1F8A80"/>
          </a:solidFill>
          <a:ln/>
        </p:spPr>
      </p:sp>
      <p:pic>
        <p:nvPicPr>
          <p:cNvPr id="13" name="Image 2" descr="The protocol transfers to DL3DV">    </p:cNvPr>
          <p:cNvPicPr>
            <a:picLocks noChangeAspect="1"/>
          </p:cNvPicPr>
          <p:nvPr/>
        </p:nvPicPr>
        <p:blipFill>
          <a:blip r:embed="rId3"/>
          <a:stretch>
            <a:fillRect/>
          </a:stretch>
        </p:blipFill>
        <p:spPr>
          <a:xfrm>
            <a:off x="8540496" y="1783080"/>
            <a:ext cx="274320" cy="274320"/>
          </a:xfrm>
          <a:prstGeom prst="rect">
            <a:avLst/>
          </a:prstGeom>
        </p:spPr>
      </p:pic>
      <p:sp>
        <p:nvSpPr>
          <p:cNvPr id="14" name="Ext head 3"/>
          <p:cNvSpPr txBox="1"/>
          <p:nvPr/>
        </p:nvSpPr>
        <p:spPr>
          <a:xfrm>
            <a:off x="9089136" y="1572768"/>
            <a:ext cx="2487168" cy="694944"/>
          </a:xfrm>
          <a:prstGeom prst="rect">
            <a:avLst/>
          </a:prstGeom>
          <a:noFill/>
          <a:ln/>
        </p:spPr>
        <p:txBody>
          <a:bodyPr wrap="square" lIns="0" tIns="0" rIns="0" bIns="0" rtlCol="0" anchor="ctr"/>
          <a:lstStyle/>
          <a:p>
            <a:pPr indent="0" marL="0">
              <a:lnSpc>
                <a:spcPct val="100000"/>
              </a:lnSpc>
              <a:buNone/>
            </a:pPr>
            <a:r>
              <a:rPr lang="en-US" sz="1500" b="1" dirty="0">
                <a:solidFill>
                  <a:srgbClr val="17212B"/>
                </a:solidFill>
                <a:latin typeface="Arial" pitchFamily="34" charset="0"/>
                <a:ea typeface="Arial" pitchFamily="34" charset="-122"/>
                <a:cs typeface="Arial" pitchFamily="34" charset="-120"/>
              </a:rPr>
              <a:t>The protocol</a:t>
            </a:r>
            <a:endParaRPr lang="en-US" sz="1500" dirty="0"/>
          </a:p>
          <a:p>
            <a:pPr indent="0" marL="0">
              <a:lnSpc>
                <a:spcPct val="100000"/>
              </a:lnSpc>
              <a:buNone/>
            </a:pPr>
            <a:r>
              <a:rPr lang="en-US" sz="1500" b="1" dirty="0">
                <a:solidFill>
                  <a:srgbClr val="17212B"/>
                </a:solidFill>
                <a:latin typeface="Arial" pitchFamily="34" charset="0"/>
                <a:ea typeface="Arial" pitchFamily="34" charset="-122"/>
                <a:cs typeface="Arial" pitchFamily="34" charset="-120"/>
              </a:rPr>
              <a:t>transfers to DL3DV</a:t>
            </a:r>
            <a:endParaRPr lang="en-US" sz="1500" dirty="0"/>
          </a:p>
        </p:txBody>
      </p:sp>
      <p:sp>
        <p:nvSpPr>
          <p:cNvPr id="15" name="MM sub"/>
          <p:cNvSpPr txBox="1"/>
          <p:nvPr/>
        </p:nvSpPr>
        <p:spPr>
          <a:xfrm>
            <a:off x="822960" y="2468880"/>
            <a:ext cx="3017520" cy="320040"/>
          </a:xfrm>
          <a:prstGeom prst="rect">
            <a:avLst/>
          </a:prstGeom>
          <a:noFill/>
          <a:ln/>
        </p:spPr>
        <p:txBody>
          <a:bodyPr wrap="square" lIns="0" tIns="0" rIns="0" bIns="0" rtlCol="0" anchor="ctr"/>
          <a:lstStyle/>
          <a:p>
            <a:pPr indent="0" marL="0">
              <a:lnSpc>
                <a:spcPct val="100000"/>
              </a:lnSpc>
              <a:buNone/>
            </a:pPr>
            <a:r>
              <a:rPr lang="en-US" sz="1400" dirty="0">
                <a:solidFill>
                  <a:srgbClr val="A9B4BC"/>
                </a:solidFill>
                <a:latin typeface="Arial" pitchFamily="34" charset="0"/>
                <a:ea typeface="Arial" pitchFamily="34" charset="-122"/>
                <a:cs typeface="Arial" pitchFamily="34" charset="-120"/>
              </a:rPr>
              <a:t>Constraints passed in joint audits</a:t>
            </a:r>
            <a:endParaRPr lang="en-US" sz="1400" dirty="0"/>
          </a:p>
        </p:txBody>
      </p:sp>
      <p:graphicFrame>
        <p:nvGraphicFramePr>
          <p:cNvPr id="11" name="MM table"/>
          <p:cNvGraphicFramePr>
            <a:graphicFrameLocks noGrp="1"/>
          </p:cNvGraphicFramePr>
          <p:nvPr>
            <p:extLst>
              <p:ext uri="{D42A27DB-BD31-4B8C-83A1-F6EECF244321}">
                <p14:modId xmlns:p14="http://schemas.microsoft.com/office/powerpoint/2010/main" val="1579011935"/>
              </p:ext>
            </p:extLst>
          </p:nvPr>
        </p:nvGraphicFramePr>
        <p:xfrm>
          <a:off x="822960" y="2880360"/>
          <a:ext cx="2962656" cy="914400"/>
        </p:xfrm>
        <a:graphic>
          <a:graphicData uri="http://schemas.openxmlformats.org/drawingml/2006/table">
            <a:tbl>
              <a:tblPr/>
              <a:tblGrid>
                <a:gridCol w="914400"/>
                <a:gridCol w="1024128"/>
                <a:gridCol w="1024128"/>
              </a:tblGrid>
              <a:tr h="384048">
                <a:tc>
                  <a:txBody>
                    <a:bodyPr/>
                    <a:lstStyle/>
                    <a:p>
                      <a:pPr indent="0" marL="0">
                        <a:buNone/>
                      </a:pPr>
                      <a:endParaRPr lang="en-US" sz="1200" dirty="0"/>
                    </a:p>
                  </a:txBody>
                  <a:tcPr marL="0" marR="0" marT="0" marB="0" anchor="ctr">
                    <a:lnL w="0" cap="flat" cmpd="sng" algn="ctr">
                      <a:noFill/>
                    </a:lnL>
                    <a:lnR w="0" cap="flat" cmpd="sng" algn="ctr">
                      <a:noFill/>
                    </a:lnR>
                    <a:lnT w="0" cap="flat" cmpd="sng" algn="ctr">
                      <a:noFill/>
                    </a:lnT>
                    <a:lnB w="0" cap="flat" cmpd="sng" algn="ctr">
                      <a:noFill/>
                    </a:lnB>
                    <a:solidFill>
                      <a:srgbClr val="F5F8F9"/>
                    </a:solidFill>
                  </a:tcPr>
                </a:tc>
                <a:tc>
                  <a:txBody>
                    <a:bodyPr/>
                    <a:lstStyle/>
                    <a:p>
                      <a:pPr algn="ctr" indent="0" marL="0">
                        <a:buNone/>
                      </a:pPr>
                      <a:r>
                        <a:rPr lang="en-US" sz="1300" b="1" dirty="0">
                          <a:solidFill>
                            <a:srgbClr val="BAC4CA"/>
                          </a:solidFill>
                          <a:latin typeface="Arial" pitchFamily="34" charset="0"/>
                          <a:ea typeface="Arial" pitchFamily="34" charset="-122"/>
                          <a:cs typeface="Arial" pitchFamily="34" charset="-120"/>
                        </a:rPr>
                        <a:t>3 methods</a:t>
                      </a:r>
                      <a:endParaRPr lang="en-US" sz="13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5F8F9"/>
                    </a:solidFill>
                  </a:tcPr>
                </a:tc>
                <a:tc>
                  <a:txBody>
                    <a:bodyPr/>
                    <a:lstStyle/>
                    <a:p>
                      <a:pPr algn="ctr" indent="0" marL="0">
                        <a:buNone/>
                      </a:pPr>
                      <a:r>
                        <a:rPr lang="en-US" sz="1300" b="1" dirty="0">
                          <a:solidFill>
                            <a:srgbClr val="BAC4CA"/>
                          </a:solidFill>
                          <a:latin typeface="Arial" pitchFamily="34" charset="0"/>
                          <a:ea typeface="Arial" pitchFamily="34" charset="-122"/>
                          <a:cs typeface="Arial" pitchFamily="34" charset="-120"/>
                        </a:rPr>
                        <a:t>+ nerfacto</a:t>
                      </a:r>
                      <a:endParaRPr lang="en-US" sz="13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5F8F9"/>
                    </a:solidFill>
                  </a:tcPr>
                </a:tc>
              </a:tr>
              <a:tr h="603504">
                <a:tc>
                  <a:txBody>
                    <a:bodyPr/>
                    <a:lstStyle/>
                    <a:p>
                      <a:pPr indent="0" marL="0">
                        <a:buNone/>
                      </a:pPr>
                      <a:r>
                        <a:rPr lang="en-US" sz="1400" b="1" dirty="0">
                          <a:solidFill>
                            <a:srgbClr val="BAC4CA"/>
                          </a:solidFill>
                          <a:latin typeface="Arial" pitchFamily="34" charset="0"/>
                          <a:ea typeface="Arial" pitchFamily="34" charset="-122"/>
                          <a:cs typeface="Arial" pitchFamily="34" charset="-120"/>
                        </a:rPr>
                        <a:t>RASS-48</a:t>
                      </a:r>
                      <a:endParaRPr lang="en-US" sz="14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5F8F9"/>
                    </a:solidFill>
                  </a:tcPr>
                </a:tc>
                <a:tc>
                  <a:txBody>
                    <a:bodyPr/>
                    <a:lstStyle/>
                    <a:p>
                      <a:pPr algn="ctr" indent="0" marL="0">
                        <a:buNone/>
                      </a:pPr>
                      <a:r>
                        <a:rPr lang="en-US" sz="2200" b="1" dirty="0">
                          <a:solidFill>
                            <a:srgbClr val="BAC4CA"/>
                          </a:solidFill>
                          <a:latin typeface="Arial" pitchFamily="34" charset="0"/>
                          <a:ea typeface="Arial" pitchFamily="34" charset="-122"/>
                          <a:cs typeface="Arial" pitchFamily="34" charset="-120"/>
                        </a:rPr>
                        <a:t>14/16</a:t>
                      </a:r>
                      <a:endParaRPr lang="en-US" sz="22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5F8F9"/>
                    </a:solidFill>
                  </a:tcPr>
                </a:tc>
                <a:tc>
                  <a:txBody>
                    <a:bodyPr/>
                    <a:lstStyle/>
                    <a:p>
                      <a:pPr algn="ctr" indent="0" marL="0">
                        <a:buNone/>
                      </a:pPr>
                      <a:r>
                        <a:rPr lang="en-US" sz="2200" b="1" dirty="0">
                          <a:solidFill>
                            <a:srgbClr val="BAC4CA"/>
                          </a:solidFill>
                          <a:latin typeface="Arial" pitchFamily="34" charset="0"/>
                          <a:ea typeface="Arial" pitchFamily="34" charset="-122"/>
                          <a:cs typeface="Arial" pitchFamily="34" charset="-120"/>
                        </a:rPr>
                        <a:t>19/22</a:t>
                      </a:r>
                      <a:endParaRPr lang="en-US" sz="22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5F8F9"/>
                    </a:solidFill>
                  </a:tcPr>
                </a:tc>
              </a:tr>
              <a:tr h="603504">
                <a:tc>
                  <a:txBody>
                    <a:bodyPr/>
                    <a:lstStyle/>
                    <a:p>
                      <a:pPr indent="0" marL="0">
                        <a:buNone/>
                      </a:pPr>
                      <a:r>
                        <a:rPr lang="en-US" sz="1400" b="1" dirty="0">
                          <a:solidFill>
                            <a:srgbClr val="A9B4BC"/>
                          </a:solidFill>
                          <a:latin typeface="Arial" pitchFamily="34" charset="0"/>
                          <a:ea typeface="Arial" pitchFamily="34" charset="-122"/>
                          <a:cs typeface="Arial" pitchFamily="34" charset="-120"/>
                        </a:rPr>
                        <a:t>RASS-96</a:t>
                      </a:r>
                      <a:endParaRPr lang="en-US" sz="14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5F8F9"/>
                    </a:solidFill>
                  </a:tcPr>
                </a:tc>
                <a:tc>
                  <a:txBody>
                    <a:bodyPr/>
                    <a:lstStyle/>
                    <a:p>
                      <a:pPr algn="ctr" indent="0" marL="0">
                        <a:buNone/>
                      </a:pPr>
                      <a:r>
                        <a:rPr lang="en-US" sz="2200" b="1" dirty="0">
                          <a:solidFill>
                            <a:srgbClr val="A8D3CE"/>
                          </a:solidFill>
                          <a:latin typeface="Arial" pitchFamily="34" charset="0"/>
                          <a:ea typeface="Arial" pitchFamily="34" charset="-122"/>
                          <a:cs typeface="Arial" pitchFamily="34" charset="-120"/>
                        </a:rPr>
                        <a:t>16/16</a:t>
                      </a:r>
                      <a:endParaRPr lang="en-US" sz="22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5F8F9"/>
                    </a:solidFill>
                  </a:tcPr>
                </a:tc>
                <a:tc>
                  <a:txBody>
                    <a:bodyPr/>
                    <a:lstStyle/>
                    <a:p>
                      <a:pPr algn="ctr" indent="0" marL="0">
                        <a:buNone/>
                      </a:pPr>
                      <a:r>
                        <a:rPr lang="en-US" sz="2200" b="1" dirty="0">
                          <a:solidFill>
                            <a:srgbClr val="A8D3CE"/>
                          </a:solidFill>
                          <a:latin typeface="Arial" pitchFamily="34" charset="0"/>
                          <a:ea typeface="Arial" pitchFamily="34" charset="-122"/>
                          <a:cs typeface="Arial" pitchFamily="34" charset="-120"/>
                        </a:rPr>
                        <a:t>22/22</a:t>
                      </a:r>
                      <a:endParaRPr lang="en-US" sz="2200" dirty="0">
                        <a:latin typeface="Arial" charset="0"/>
                        <a:ea typeface="Arial" charset="0"/>
                        <a:cs typeface="Arial" charset="0"/>
                      </a:endParaRPr>
                    </a:p>
                  </a:txBody>
                  <a:tcPr marL="0" marR="0" marT="0" marB="0" anchor="ctr">
                    <a:lnL w="0" cap="flat" cmpd="sng" algn="ctr">
                      <a:noFill/>
                    </a:lnL>
                    <a:lnR w="0" cap="flat" cmpd="sng" algn="ctr">
                      <a:noFill/>
                    </a:lnR>
                    <a:lnT w="0" cap="flat" cmpd="sng" algn="ctr">
                      <a:noFill/>
                    </a:lnT>
                    <a:lnB w="0" cap="flat" cmpd="sng" algn="ctr">
                      <a:noFill/>
                    </a:lnB>
                    <a:solidFill>
                      <a:srgbClr val="F5F8F9"/>
                    </a:solidFill>
                  </a:tcPr>
                </a:tc>
              </a:tr>
            </a:tbl>
          </a:graphicData>
        </a:graphic>
      </p:graphicFrame>
      <p:sp>
        <p:nvSpPr>
          <p:cNvPr id="17" name="MM desc"/>
          <p:cNvSpPr txBox="1"/>
          <p:nvPr/>
        </p:nvSpPr>
        <p:spPr>
          <a:xfrm>
            <a:off x="822960" y="4663440"/>
            <a:ext cx="3017520" cy="594360"/>
          </a:xfrm>
          <a:prstGeom prst="rect">
            <a:avLst/>
          </a:prstGeom>
          <a:noFill/>
          <a:ln/>
        </p:spPr>
        <p:txBody>
          <a:bodyPr wrap="square" lIns="0" tIns="0" rIns="0" bIns="0" rtlCol="0" anchor="t"/>
          <a:lstStyle/>
          <a:p>
            <a:pPr indent="0" marL="0">
              <a:lnSpc>
                <a:spcPct val="100000"/>
              </a:lnSpc>
              <a:buNone/>
            </a:pPr>
            <a:r>
              <a:rPr lang="en-US" sz="1400" dirty="0">
                <a:solidFill>
                  <a:srgbClr val="A9B4BC"/>
                </a:solidFill>
                <a:latin typeface="Arial" pitchFamily="34" charset="0"/>
                <a:ea typeface="Arial" pitchFamily="34" charset="-122"/>
                <a:cs typeface="Arial" pitchFamily="34" charset="-120"/>
              </a:rPr>
              <a:t>So RASS-96 is our subset</a:t>
            </a:r>
            <a:endParaRPr lang="en-US" sz="1400" dirty="0"/>
          </a:p>
          <a:p>
            <a:pPr indent="0" marL="0">
              <a:lnSpc>
                <a:spcPct val="100000"/>
              </a:lnSpc>
              <a:buNone/>
            </a:pPr>
            <a:r>
              <a:rPr lang="en-US" sz="1400" dirty="0">
                <a:solidFill>
                  <a:srgbClr val="A9B4BC"/>
                </a:solidFill>
                <a:latin typeface="Arial" pitchFamily="34" charset="0"/>
                <a:ea typeface="Arial" pitchFamily="34" charset="-122"/>
                <a:cs typeface="Arial" pitchFamily="34" charset="-120"/>
              </a:rPr>
              <a:t>for reported results.</a:t>
            </a:r>
            <a:endParaRPr lang="en-US" sz="1400" dirty="0"/>
          </a:p>
        </p:txBody>
      </p:sp>
      <p:sp>
        <p:nvSpPr>
          <p:cNvPr id="18" name="MM note"/>
          <p:cNvSpPr txBox="1"/>
          <p:nvPr/>
        </p:nvSpPr>
        <p:spPr>
          <a:xfrm>
            <a:off x="822960" y="5303520"/>
            <a:ext cx="3017520" cy="548640"/>
          </a:xfrm>
          <a:prstGeom prst="rect">
            <a:avLst/>
          </a:prstGeom>
          <a:noFill/>
          <a:ln/>
        </p:spPr>
        <p:txBody>
          <a:bodyPr wrap="square" lIns="0" tIns="0" rIns="0" bIns="0" rtlCol="0" anchor="t"/>
          <a:lstStyle/>
          <a:p>
            <a:pPr indent="0" marL="0">
              <a:lnSpc>
                <a:spcPct val="100000"/>
              </a:lnSpc>
              <a:buNone/>
            </a:pPr>
            <a:r>
              <a:rPr lang="en-US" sz="1200" dirty="0">
                <a:solidFill>
                  <a:srgbClr val="BAC4CA"/>
                </a:solidFill>
                <a:latin typeface="Arial" pitchFamily="34" charset="0"/>
                <a:ea typeface="Arial" pitchFamily="34" charset="-122"/>
                <a:cs typeface="Arial" pitchFamily="34" charset="-120"/>
              </a:rPr>
              <a:t>3 methods: Zip-NeRF, Feature-Splatting, Instant-NGP (no LPIPS)</a:t>
            </a:r>
            <a:endParaRPr lang="en-US" sz="1200" dirty="0"/>
          </a:p>
        </p:txBody>
      </p:sp>
      <p:sp>
        <p:nvSpPr>
          <p:cNvPr id="19" name="Gen sub"/>
          <p:cNvSpPr txBox="1"/>
          <p:nvPr/>
        </p:nvSpPr>
        <p:spPr>
          <a:xfrm>
            <a:off x="4613148" y="2468880"/>
            <a:ext cx="3017520" cy="320040"/>
          </a:xfrm>
          <a:prstGeom prst="rect">
            <a:avLst/>
          </a:prstGeom>
          <a:noFill/>
          <a:ln/>
        </p:spPr>
        <p:txBody>
          <a:bodyPr wrap="square" lIns="0" tIns="0" rIns="0" bIns="0" rtlCol="0" anchor="ctr"/>
          <a:lstStyle/>
          <a:p>
            <a:pPr indent="0" marL="0">
              <a:lnSpc>
                <a:spcPct val="100000"/>
              </a:lnSpc>
              <a:buNone/>
            </a:pPr>
            <a:r>
              <a:rPr lang="en-US" sz="1400" dirty="0">
                <a:solidFill>
                  <a:srgbClr val="A9B4BC"/>
                </a:solidFill>
                <a:latin typeface="Arial" pitchFamily="34" charset="0"/>
                <a:ea typeface="Arial" pitchFamily="34" charset="-122"/>
                <a:cs typeface="Arial" pitchFamily="34" charset="-120"/>
              </a:rPr>
              <a:t>Smallest certified size (scenes)</a:t>
            </a:r>
            <a:endParaRPr lang="en-US" sz="1400" dirty="0"/>
          </a:p>
        </p:txBody>
      </p:sp>
      <p:pic>
        <p:nvPicPr>
          <p:cNvPr id="20" name="Generator chart" descr="Smallest certified subset size: facility location 36 (unstable), balanced 48, random 48">    </p:cNvPr>
          <p:cNvPicPr>
            <a:picLocks noChangeAspect="1"/>
          </p:cNvPicPr>
          <p:nvPr/>
        </p:nvPicPr>
        <p:blipFill>
          <a:blip r:embed="rId4"/>
          <a:stretch>
            <a:fillRect/>
          </a:stretch>
        </p:blipFill>
        <p:spPr>
          <a:xfrm>
            <a:off x="4475988" y="2834640"/>
            <a:ext cx="3246120" cy="1600200"/>
          </a:xfrm>
          <a:prstGeom prst="rect">
            <a:avLst/>
          </a:prstGeom>
        </p:spPr>
      </p:pic>
      <p:pic>
        <p:nvPicPr>
          <p:cNvPr id="21" name="Image 4" descr="Fails">    </p:cNvPr>
          <p:cNvPicPr>
            <a:picLocks noChangeAspect="1"/>
          </p:cNvPicPr>
          <p:nvPr/>
        </p:nvPicPr>
        <p:blipFill>
          <a:blip r:embed="rId5"/>
          <a:stretch>
            <a:fillRect/>
          </a:stretch>
        </p:blipFill>
        <p:spPr>
          <a:xfrm>
            <a:off x="4613148" y="4572000"/>
            <a:ext cx="219456" cy="219456"/>
          </a:xfrm>
          <a:prstGeom prst="rect">
            <a:avLst/>
          </a:prstGeom>
        </p:spPr>
      </p:pic>
      <p:sp>
        <p:nvSpPr>
          <p:cNvPr id="22" name="Gen kcenter"/>
          <p:cNvSpPr txBox="1"/>
          <p:nvPr/>
        </p:nvSpPr>
        <p:spPr>
          <a:xfrm>
            <a:off x="4905756" y="4526280"/>
            <a:ext cx="2743200" cy="320040"/>
          </a:xfrm>
          <a:prstGeom prst="rect">
            <a:avLst/>
          </a:prstGeom>
          <a:noFill/>
          <a:ln/>
        </p:spPr>
        <p:txBody>
          <a:bodyPr wrap="square" lIns="0" tIns="0" rIns="0" bIns="0" rtlCol="0" anchor="ctr"/>
          <a:lstStyle/>
          <a:p>
            <a:pPr indent="0" marL="0">
              <a:lnSpc>
                <a:spcPct val="100000"/>
              </a:lnSpc>
              <a:buNone/>
            </a:pPr>
            <a:r>
              <a:rPr lang="en-US" sz="1400" b="1" dirty="0">
                <a:solidFill>
                  <a:srgbClr val="A9B4BC"/>
                </a:solidFill>
                <a:latin typeface="Arial" pitchFamily="34" charset="0"/>
                <a:ea typeface="Arial" pitchFamily="34" charset="-122"/>
                <a:cs typeface="Arial" pitchFamily="34" charset="-120"/>
              </a:rPr>
              <a:t>k-center fails up to 96</a:t>
            </a:r>
            <a:endParaRPr lang="en-US" sz="1400" dirty="0"/>
          </a:p>
        </p:txBody>
      </p:sp>
      <p:sp>
        <p:nvSpPr>
          <p:cNvPr id="23" name="Gen note"/>
          <p:cNvSpPr txBox="1"/>
          <p:nvPr/>
        </p:nvSpPr>
        <p:spPr>
          <a:xfrm>
            <a:off x="4613148" y="4937760"/>
            <a:ext cx="3017520" cy="594360"/>
          </a:xfrm>
          <a:prstGeom prst="rect">
            <a:avLst/>
          </a:prstGeom>
          <a:noFill/>
          <a:ln/>
        </p:spPr>
        <p:txBody>
          <a:bodyPr wrap="square" lIns="0" tIns="0" rIns="0" bIns="0" rtlCol="0" anchor="t"/>
          <a:lstStyle/>
          <a:p>
            <a:pPr indent="0" marL="0">
              <a:lnSpc>
                <a:spcPct val="100000"/>
              </a:lnSpc>
              <a:buNone/>
            </a:pPr>
            <a:r>
              <a:rPr lang="en-US" sz="1200" dirty="0">
                <a:solidFill>
                  <a:srgbClr val="BAC4CA"/>
                </a:solidFill>
                <a:latin typeface="Arial" pitchFamily="34" charset="0"/>
                <a:ea typeface="Arial" pitchFamily="34" charset="-122"/>
                <a:cs typeface="Arial" pitchFamily="34" charset="-120"/>
              </a:rPr>
              <a:t>Balanced also passes at 36 on an extended grid.</a:t>
            </a:r>
            <a:endParaRPr lang="en-US" sz="1200" dirty="0"/>
          </a:p>
        </p:txBody>
      </p:sp>
      <p:sp>
        <p:nvSpPr>
          <p:cNvPr id="24" name="DL3DV stat"/>
          <p:cNvSpPr txBox="1"/>
          <p:nvPr/>
        </p:nvSpPr>
        <p:spPr>
          <a:xfrm>
            <a:off x="8403336" y="2423160"/>
            <a:ext cx="3017520" cy="960120"/>
          </a:xfrm>
          <a:prstGeom prst="rect">
            <a:avLst/>
          </a:prstGeom>
          <a:noFill/>
          <a:ln/>
        </p:spPr>
        <p:txBody>
          <a:bodyPr wrap="square" lIns="0" tIns="0" rIns="0" bIns="0" rtlCol="0" anchor="ctr"/>
          <a:lstStyle/>
          <a:p>
            <a:pPr indent="0" marL="0">
              <a:lnSpc>
                <a:spcPct val="100000"/>
              </a:lnSpc>
              <a:buNone/>
            </a:pPr>
            <a:r>
              <a:rPr lang="en-US" sz="5600" b="1" dirty="0">
                <a:solidFill>
                  <a:srgbClr val="1F8A80"/>
                </a:solidFill>
                <a:latin typeface="Arial" pitchFamily="34" charset="0"/>
                <a:ea typeface="Arial" pitchFamily="34" charset="-122"/>
                <a:cs typeface="Arial" pitchFamily="34" charset="-120"/>
              </a:rPr>
              <a:t>64</a:t>
            </a:r>
            <a:pPr indent="0" marL="0">
              <a:lnSpc>
                <a:spcPct val="100000"/>
              </a:lnSpc>
              <a:buNone/>
            </a:pPr>
            <a:r>
              <a:rPr lang="en-US" sz="2800" b="1" dirty="0">
                <a:solidFill>
                  <a:srgbClr val="1F8A80"/>
                </a:solidFill>
                <a:latin typeface="Arial" pitchFamily="34" charset="0"/>
                <a:ea typeface="Arial" pitchFamily="34" charset="-122"/>
                <a:cs typeface="Arial" pitchFamily="34" charset="-120"/>
              </a:rPr>
              <a:t> / 140</a:t>
            </a:r>
            <a:endParaRPr lang="en-US" sz="5600" dirty="0"/>
          </a:p>
        </p:txBody>
      </p:sp>
      <p:sp>
        <p:nvSpPr>
          <p:cNvPr id="25" name="DL3DV desc"/>
          <p:cNvSpPr txBox="1"/>
          <p:nvPr/>
        </p:nvSpPr>
        <p:spPr>
          <a:xfrm>
            <a:off x="8403336" y="3474720"/>
            <a:ext cx="3017520" cy="731520"/>
          </a:xfrm>
          <a:prstGeom prst="rect">
            <a:avLst/>
          </a:prstGeom>
          <a:noFill/>
          <a:ln/>
        </p:spPr>
        <p:txBody>
          <a:bodyPr wrap="square" lIns="0" tIns="0" rIns="0" bIns="0" rtlCol="0" anchor="t"/>
          <a:lstStyle/>
          <a:p>
            <a:pPr indent="0" marL="0">
              <a:lnSpc>
                <a:spcPct val="100000"/>
              </a:lnSpc>
              <a:buNone/>
            </a:pPr>
            <a:r>
              <a:rPr lang="en-US" sz="1400" dirty="0">
                <a:solidFill>
                  <a:srgbClr val="17212B"/>
                </a:solidFill>
                <a:latin typeface="Arial" pitchFamily="34" charset="0"/>
                <a:ea typeface="Arial" pitchFamily="34" charset="-122"/>
                <a:cs typeface="Arial" pitchFamily="34" charset="-120"/>
              </a:rPr>
              <a:t>DL3DV scenes certified for four methods (32 for one)</a:t>
            </a:r>
            <a:endParaRPr lang="en-US" sz="1400" dirty="0"/>
          </a:p>
        </p:txBody>
      </p:sp>
      <p:sp>
        <p:nvSpPr>
          <p:cNvPr id="26" name="DL3DV note"/>
          <p:cNvSpPr txBox="1"/>
          <p:nvPr/>
        </p:nvSpPr>
        <p:spPr>
          <a:xfrm>
            <a:off x="8403336" y="4343400"/>
            <a:ext cx="3017520" cy="731520"/>
          </a:xfrm>
          <a:prstGeom prst="rect">
            <a:avLst/>
          </a:prstGeom>
          <a:noFill/>
          <a:ln/>
        </p:spPr>
        <p:txBody>
          <a:bodyPr wrap="square" lIns="0" tIns="0" rIns="0" bIns="0" rtlCol="0" anchor="t"/>
          <a:lstStyle/>
          <a:p>
            <a:pPr indent="0" marL="0">
              <a:lnSpc>
                <a:spcPct val="100000"/>
              </a:lnSpc>
              <a:buNone/>
            </a:pPr>
            <a:r>
              <a:rPr lang="en-US" sz="1200" dirty="0">
                <a:solidFill>
                  <a:srgbClr val="5B6B78"/>
                </a:solidFill>
                <a:latin typeface="Arial" pitchFamily="34" charset="0"/>
                <a:ea typeface="Arial" pitchFamily="34" charset="-122"/>
                <a:cs typeface="Arial" pitchFamily="34" charset="-120"/>
              </a:rPr>
              <a:t>Contract re-declared for DL3DV; proportional allocation, added post hoc.</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000" b="1" dirty="0">
                <a:solidFill>
                  <a:srgbClr val="FFFFFF"/>
                </a:solidFill>
                <a:latin typeface="Arial" pitchFamily="34" charset="0"/>
                <a:ea typeface="Arial" pitchFamily="34" charset="-122"/>
                <a:cs typeface="Arial" pitchFamily="34" charset="-120"/>
              </a:rPr>
              <a:t>Certify the procedure, not one lucky subset</a:t>
            </a:r>
            <a:endParaRPr lang="en-US" sz="3000" dirty="0"/>
          </a:p>
        </p:txBody>
      </p:sp>
      <p:sp>
        <p:nvSpPr>
          <p:cNvPr id="3" name="Use card 1"/>
          <p:cNvSpPr/>
          <p:nvPr/>
        </p:nvSpPr>
        <p:spPr>
          <a:xfrm>
            <a:off x="548640" y="1463040"/>
            <a:ext cx="5408676" cy="1737360"/>
          </a:xfrm>
          <a:prstGeom prst="roundRect">
            <a:avLst>
              <a:gd name="adj" fmla="val 6316"/>
            </a:avLst>
          </a:prstGeom>
          <a:solidFill>
            <a:srgbClr val="2E4756"/>
          </a:solidFill>
          <a:ln/>
        </p:spPr>
      </p:sp>
      <p:sp>
        <p:nvSpPr>
          <p:cNvPr id="4" name="Use name 1"/>
          <p:cNvSpPr txBox="1"/>
          <p:nvPr/>
        </p:nvSpPr>
        <p:spPr>
          <a:xfrm>
            <a:off x="868680" y="1618488"/>
            <a:ext cx="4754880" cy="640080"/>
          </a:xfrm>
          <a:prstGeom prst="rect">
            <a:avLst/>
          </a:prstGeom>
          <a:noFill/>
          <a:ln/>
        </p:spPr>
        <p:txBody>
          <a:bodyPr wrap="square" lIns="0" tIns="0" rIns="0" bIns="0" rtlCol="0" anchor="ctr"/>
          <a:lstStyle/>
          <a:p>
            <a:pPr indent="0" marL="0">
              <a:lnSpc>
                <a:spcPct val="100000"/>
              </a:lnSpc>
              <a:buNone/>
            </a:pPr>
            <a:r>
              <a:rPr lang="en-US" sz="3400" b="1" dirty="0">
                <a:solidFill>
                  <a:srgbClr val="FFFFFF"/>
                </a:solidFill>
                <a:latin typeface="Arial" pitchFamily="34" charset="0"/>
                <a:ea typeface="Arial" pitchFamily="34" charset="-122"/>
                <a:cs typeface="Arial" pitchFamily="34" charset="-120"/>
              </a:rPr>
              <a:t>RASS-48</a:t>
            </a:r>
            <a:endParaRPr lang="en-US" sz="3400" dirty="0"/>
          </a:p>
        </p:txBody>
      </p:sp>
      <p:sp>
        <p:nvSpPr>
          <p:cNvPr id="5" name="Use role 1"/>
          <p:cNvSpPr txBox="1"/>
          <p:nvPr/>
        </p:nvSpPr>
        <p:spPr>
          <a:xfrm>
            <a:off x="868680" y="2258568"/>
            <a:ext cx="4754880" cy="365760"/>
          </a:xfrm>
          <a:prstGeom prst="rect">
            <a:avLst/>
          </a:prstGeom>
          <a:noFill/>
          <a:ln/>
        </p:spPr>
        <p:txBody>
          <a:bodyPr wrap="square" lIns="0" tIns="0" rIns="0" bIns="0" rtlCol="0" anchor="ctr"/>
          <a:lstStyle/>
          <a:p>
            <a:pPr indent="0" marL="0">
              <a:lnSpc>
                <a:spcPct val="100000"/>
              </a:lnSpc>
              <a:buNone/>
            </a:pPr>
            <a:r>
              <a:rPr lang="en-US" sz="1700" b="1" i="1" dirty="0">
                <a:solidFill>
                  <a:srgbClr val="F2A541"/>
                </a:solidFill>
                <a:latin typeface="Arial" pitchFamily="34" charset="0"/>
                <a:ea typeface="Arial" pitchFamily="34" charset="-122"/>
                <a:cs typeface="Arial" pitchFamily="34" charset="-120"/>
              </a:rPr>
              <a:t>Screening &amp; ablations</a:t>
            </a:r>
            <a:endParaRPr lang="en-US" sz="1700" dirty="0"/>
          </a:p>
        </p:txBody>
      </p:sp>
      <p:sp>
        <p:nvSpPr>
          <p:cNvPr id="6" name="Use detail 1"/>
          <p:cNvSpPr txBox="1"/>
          <p:nvPr/>
        </p:nvSpPr>
        <p:spPr>
          <a:xfrm>
            <a:off x="868680" y="2624328"/>
            <a:ext cx="4937760" cy="365760"/>
          </a:xfrm>
          <a:prstGeom prst="rect">
            <a:avLst/>
          </a:prstGeom>
          <a:noFill/>
          <a:ln/>
        </p:spPr>
        <p:txBody>
          <a:bodyPr wrap="square" lIns="0" tIns="0" rIns="0" bIns="0" rtlCol="0" anchor="ctr"/>
          <a:lstStyle/>
          <a:p>
            <a:pPr indent="0" marL="0">
              <a:lnSpc>
                <a:spcPct val="100000"/>
              </a:lnSpc>
              <a:buNone/>
            </a:pPr>
            <a:r>
              <a:rPr lang="en-US" sz="1400" dirty="0">
                <a:solidFill>
                  <a:srgbClr val="7FC8BF"/>
                </a:solidFill>
                <a:latin typeface="Arial" pitchFamily="34" charset="0"/>
                <a:ea typeface="Arial" pitchFamily="34" charset="-122"/>
                <a:cs typeface="Arial" pitchFamily="34" charset="-120"/>
              </a:rPr>
              <a:t>Smallest evaluated budget with LCB ≥ 0.08</a:t>
            </a:r>
            <a:endParaRPr lang="en-US" sz="1400" dirty="0"/>
          </a:p>
        </p:txBody>
      </p:sp>
      <p:sp>
        <p:nvSpPr>
          <p:cNvPr id="7" name="Use card 2"/>
          <p:cNvSpPr/>
          <p:nvPr/>
        </p:nvSpPr>
        <p:spPr>
          <a:xfrm>
            <a:off x="6231636" y="1463040"/>
            <a:ext cx="5408676" cy="1737360"/>
          </a:xfrm>
          <a:prstGeom prst="roundRect">
            <a:avLst>
              <a:gd name="adj" fmla="val 6316"/>
            </a:avLst>
          </a:prstGeom>
          <a:solidFill>
            <a:srgbClr val="2E4756"/>
          </a:solidFill>
          <a:ln/>
        </p:spPr>
      </p:sp>
      <p:sp>
        <p:nvSpPr>
          <p:cNvPr id="8" name="Use name 2"/>
          <p:cNvSpPr txBox="1"/>
          <p:nvPr/>
        </p:nvSpPr>
        <p:spPr>
          <a:xfrm>
            <a:off x="6551676" y="1618488"/>
            <a:ext cx="4754880" cy="640080"/>
          </a:xfrm>
          <a:prstGeom prst="rect">
            <a:avLst/>
          </a:prstGeom>
          <a:noFill/>
          <a:ln/>
        </p:spPr>
        <p:txBody>
          <a:bodyPr wrap="square" lIns="0" tIns="0" rIns="0" bIns="0" rtlCol="0" anchor="ctr"/>
          <a:lstStyle/>
          <a:p>
            <a:pPr indent="0" marL="0">
              <a:lnSpc>
                <a:spcPct val="100000"/>
              </a:lnSpc>
              <a:buNone/>
            </a:pPr>
            <a:r>
              <a:rPr lang="en-US" sz="3400" b="1" dirty="0">
                <a:solidFill>
                  <a:srgbClr val="FFFFFF"/>
                </a:solidFill>
                <a:latin typeface="Arial" pitchFamily="34" charset="0"/>
                <a:ea typeface="Arial" pitchFamily="34" charset="-122"/>
                <a:cs typeface="Arial" pitchFamily="34" charset="-120"/>
              </a:rPr>
              <a:t>RASS-96</a:t>
            </a:r>
            <a:endParaRPr lang="en-US" sz="3400" dirty="0"/>
          </a:p>
        </p:txBody>
      </p:sp>
      <p:sp>
        <p:nvSpPr>
          <p:cNvPr id="9" name="Use role 2"/>
          <p:cNvSpPr txBox="1"/>
          <p:nvPr/>
        </p:nvSpPr>
        <p:spPr>
          <a:xfrm>
            <a:off x="6551676" y="2258568"/>
            <a:ext cx="4754880" cy="365760"/>
          </a:xfrm>
          <a:prstGeom prst="rect">
            <a:avLst/>
          </a:prstGeom>
          <a:noFill/>
          <a:ln/>
        </p:spPr>
        <p:txBody>
          <a:bodyPr wrap="square" lIns="0" tIns="0" rIns="0" bIns="0" rtlCol="0" anchor="ctr"/>
          <a:lstStyle/>
          <a:p>
            <a:pPr indent="0" marL="0">
              <a:lnSpc>
                <a:spcPct val="100000"/>
              </a:lnSpc>
              <a:buNone/>
            </a:pPr>
            <a:r>
              <a:rPr lang="en-US" sz="1700" b="1" i="1" dirty="0">
                <a:solidFill>
                  <a:srgbClr val="F2A541"/>
                </a:solidFill>
                <a:latin typeface="Arial" pitchFamily="34" charset="0"/>
                <a:ea typeface="Arial" pitchFamily="34" charset="-122"/>
                <a:cs typeface="Arial" pitchFamily="34" charset="-120"/>
              </a:rPr>
              <a:t>Compact reporting</a:t>
            </a:r>
            <a:endParaRPr lang="en-US" sz="1700" dirty="0"/>
          </a:p>
        </p:txBody>
      </p:sp>
      <p:sp>
        <p:nvSpPr>
          <p:cNvPr id="10" name="Use detail 2"/>
          <p:cNvSpPr txBox="1"/>
          <p:nvPr/>
        </p:nvSpPr>
        <p:spPr>
          <a:xfrm>
            <a:off x="6551676" y="2624328"/>
            <a:ext cx="4937760" cy="365760"/>
          </a:xfrm>
          <a:prstGeom prst="rect">
            <a:avLst/>
          </a:prstGeom>
          <a:noFill/>
          <a:ln/>
        </p:spPr>
        <p:txBody>
          <a:bodyPr wrap="square" lIns="0" tIns="0" rIns="0" bIns="0" rtlCol="0" anchor="ctr"/>
          <a:lstStyle/>
          <a:p>
            <a:pPr indent="0" marL="0">
              <a:lnSpc>
                <a:spcPct val="100000"/>
              </a:lnSpc>
              <a:buNone/>
            </a:pPr>
            <a:r>
              <a:rPr lang="en-US" sz="1400" dirty="0">
                <a:solidFill>
                  <a:srgbClr val="7FC8BF"/>
                </a:solidFill>
                <a:latin typeface="Arial" pitchFamily="34" charset="0"/>
                <a:ea typeface="Arial" pitchFamily="34" charset="-122"/>
                <a:cs typeface="Arial" pitchFamily="34" charset="-120"/>
              </a:rPr>
              <a:t>LCB ≥ 0.20; passes the 3- and 4-method joint audits</a:t>
            </a:r>
            <a:endParaRPr lang="en-US" sz="1400" dirty="0"/>
          </a:p>
        </p:txBody>
      </p:sp>
      <p:sp>
        <p:nvSpPr>
          <p:cNvPr id="11" name="Usage"/>
          <p:cNvSpPr txBox="1"/>
          <p:nvPr/>
        </p:nvSpPr>
        <p:spPr>
          <a:xfrm>
            <a:off x="548640" y="3566160"/>
            <a:ext cx="9052560" cy="731520"/>
          </a:xfrm>
          <a:prstGeom prst="rect">
            <a:avLst/>
          </a:prstGeom>
          <a:noFill/>
          <a:ln/>
        </p:spPr>
        <p:txBody>
          <a:bodyPr wrap="square" lIns="0" tIns="0" rIns="0" bIns="0" rtlCol="0" anchor="t"/>
          <a:lstStyle/>
          <a:p>
            <a:pPr indent="0" marL="0">
              <a:lnSpc>
                <a:spcPct val="100000"/>
              </a:lnSpc>
              <a:buNone/>
            </a:pPr>
            <a:r>
              <a:rPr lang="en-US" sz="1700" b="1" dirty="0">
                <a:solidFill>
                  <a:srgbClr val="F2A541"/>
                </a:solidFill>
                <a:latin typeface="Arial" pitchFamily="34" charset="0"/>
                <a:ea typeface="Arial" pitchFamily="34" charset="-122"/>
                <a:cs typeface="Arial" pitchFamily="34" charset="-120"/>
              </a:rPr>
              <a:t>How to use: </a:t>
            </a:r>
            <a:pPr indent="0" marL="0">
              <a:lnSpc>
                <a:spcPct val="100000"/>
              </a:lnSpc>
              <a:buNone/>
            </a:pPr>
            <a:r>
              <a:rPr lang="en-US" sz="1700" dirty="0">
                <a:solidFill>
                  <a:srgbClr val="FFFFFF"/>
                </a:solidFill>
                <a:latin typeface="Arial" pitchFamily="34" charset="0"/>
                <a:ea typeface="Arial" pitchFamily="34" charset="-122"/>
                <a:cs typeface="Arial" pitchFamily="34" charset="-120"/>
              </a:rPr>
              <a:t>train only on RASS-48 or RASS-96, compare with our released logs on the same scenes, and report the subset version.</a:t>
            </a:r>
            <a:endParaRPr lang="en-US" sz="1700" dirty="0"/>
          </a:p>
        </p:txBody>
      </p:sp>
      <p:pic>
        <p:nvPicPr>
          <p:cNvPr id="12" name="Image 0" descr="github.com/GCVCG/RASS">    </p:cNvPr>
          <p:cNvPicPr>
            <a:picLocks noChangeAspect="1"/>
          </p:cNvPicPr>
          <p:nvPr/>
        </p:nvPicPr>
        <p:blipFill>
          <a:blip r:embed="rId1"/>
          <a:stretch>
            <a:fillRect/>
          </a:stretch>
        </p:blipFill>
        <p:spPr>
          <a:xfrm>
            <a:off x="548640" y="4572000"/>
            <a:ext cx="329184" cy="329184"/>
          </a:xfrm>
          <a:prstGeom prst="rect">
            <a:avLst/>
          </a:prstGeom>
        </p:spPr>
      </p:pic>
      <p:sp>
        <p:nvSpPr>
          <p:cNvPr id="13" name="Link 1">
            <a:hlinkClick r:id="rId2" tooltip=""/>
          </p:cNvPr>
          <p:cNvSpPr txBox="1"/>
          <p:nvPr/>
        </p:nvSpPr>
        <p:spPr>
          <a:xfrm>
            <a:off x="1005840" y="4553712"/>
            <a:ext cx="7863840" cy="365760"/>
          </a:xfrm>
          <a:prstGeom prst="rect">
            <a:avLst/>
          </a:prstGeom>
          <a:noFill/>
          <a:ln/>
        </p:spPr>
        <p:txBody>
          <a:bodyPr wrap="square" lIns="0" tIns="0" rIns="0" bIns="0" rtlCol="0" anchor="ctr"/>
          <a:lstStyle/>
          <a:p>
            <a:pPr indent="0" marL="0">
              <a:lnSpc>
                <a:spcPct val="100000"/>
              </a:lnSpc>
              <a:buNone/>
            </a:pPr>
            <a:r>
              <a:rPr lang="en-US" sz="1500" u="sng" dirty="0">
                <a:solidFill>
                  <a:srgbClr val="7FC8BF"/>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github.com/GCVCG/RASS</a:t>
            </a:r>
            <a:endParaRPr lang="en-US" sz="1500" dirty="0"/>
          </a:p>
        </p:txBody>
      </p:sp>
      <p:pic>
        <p:nvPicPr>
          <p:cNvPr id="14" name="Image 1" descr="kaggle.com/datasets/ahmadalmughrabi/rass-nerf-benchmark-artifact">    </p:cNvPr>
          <p:cNvPicPr>
            <a:picLocks noChangeAspect="1"/>
          </p:cNvPicPr>
          <p:nvPr/>
        </p:nvPicPr>
        <p:blipFill>
          <a:blip r:embed="rId3"/>
          <a:stretch>
            <a:fillRect/>
          </a:stretch>
        </p:blipFill>
        <p:spPr>
          <a:xfrm>
            <a:off x="548640" y="5029200"/>
            <a:ext cx="329184" cy="329184"/>
          </a:xfrm>
          <a:prstGeom prst="rect">
            <a:avLst/>
          </a:prstGeom>
        </p:spPr>
      </p:pic>
      <p:sp>
        <p:nvSpPr>
          <p:cNvPr id="15" name="Link 2">
            <a:hlinkClick r:id="rId4" tooltip=""/>
          </p:cNvPr>
          <p:cNvSpPr txBox="1"/>
          <p:nvPr/>
        </p:nvSpPr>
        <p:spPr>
          <a:xfrm>
            <a:off x="1005840" y="5010912"/>
            <a:ext cx="7863840" cy="365760"/>
          </a:xfrm>
          <a:prstGeom prst="rect">
            <a:avLst/>
          </a:prstGeom>
          <a:noFill/>
          <a:ln/>
        </p:spPr>
        <p:txBody>
          <a:bodyPr wrap="square" lIns="0" tIns="0" rIns="0" bIns="0" rtlCol="0" anchor="ctr"/>
          <a:lstStyle/>
          <a:p>
            <a:pPr indent="0" marL="0">
              <a:lnSpc>
                <a:spcPct val="100000"/>
              </a:lnSpc>
              <a:buNone/>
            </a:pPr>
            <a:r>
              <a:rPr lang="en-US" sz="1500" u="sng" dirty="0">
                <a:solidFill>
                  <a:srgbClr val="7FC8BF"/>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kaggle.com/datasets/ahmadalmughrabi/rass-nerf-benchmark-artifact</a:t>
            </a:r>
            <a:endParaRPr lang="en-US" sz="1500" dirty="0"/>
          </a:p>
        </p:txBody>
      </p:sp>
      <p:sp>
        <p:nvSpPr>
          <p:cNvPr id="16" name="Thanks"/>
          <p:cNvSpPr txBox="1"/>
          <p:nvPr/>
        </p:nvSpPr>
        <p:spPr>
          <a:xfrm>
            <a:off x="548640" y="5760720"/>
            <a:ext cx="5486400" cy="502920"/>
          </a:xfrm>
          <a:prstGeom prst="rect">
            <a:avLst/>
          </a:prstGeom>
          <a:noFill/>
          <a:ln/>
        </p:spPr>
        <p:txBody>
          <a:bodyPr wrap="square" lIns="0" tIns="0" rIns="0" bIns="0" rtlCol="0" anchor="ctr"/>
          <a:lstStyle/>
          <a:p>
            <a:pPr indent="0" marL="0">
              <a:lnSpc>
                <a:spcPct val="100000"/>
              </a:lnSpc>
              <a:buNone/>
            </a:pPr>
            <a:r>
              <a:rPr lang="en-US" sz="2400" b="1" dirty="0">
                <a:solidFill>
                  <a:srgbClr val="F2A541"/>
                </a:solidFill>
                <a:latin typeface="Arial" pitchFamily="34" charset="0"/>
                <a:ea typeface="Arial" pitchFamily="34" charset="-122"/>
                <a:cs typeface="Arial" pitchFamily="34" charset="-120"/>
              </a:rPr>
              <a:t>Thank you</a:t>
            </a:r>
            <a:endParaRPr lang="en-US" sz="2400" dirty="0"/>
          </a:p>
        </p:txBody>
      </p:sp>
      <p:sp>
        <p:nvSpPr>
          <p:cNvPr id="17" name="QR card"/>
          <p:cNvSpPr/>
          <p:nvPr/>
        </p:nvSpPr>
        <p:spPr>
          <a:xfrm>
            <a:off x="9921240" y="3566160"/>
            <a:ext cx="1719072" cy="2148840"/>
          </a:xfrm>
          <a:prstGeom prst="roundRect">
            <a:avLst>
              <a:gd name="adj" fmla="val 6383"/>
            </a:avLst>
          </a:prstGeom>
          <a:solidFill>
            <a:srgbClr val="FFFFFF"/>
          </a:solidFill>
          <a:ln/>
        </p:spPr>
      </p:sp>
      <p:pic>
        <p:nvPicPr>
          <p:cNvPr id="18" name="QR code" descr="QR code linking to github.com/GCVCG/RASS">    </p:cNvPr>
          <p:cNvPicPr>
            <a:picLocks noChangeAspect="1"/>
          </p:cNvPicPr>
          <p:nvPr/>
        </p:nvPicPr>
        <p:blipFill>
          <a:blip r:embed="rId5"/>
          <a:stretch>
            <a:fillRect/>
          </a:stretch>
        </p:blipFill>
        <p:spPr>
          <a:xfrm>
            <a:off x="10049256" y="3657600"/>
            <a:ext cx="1463040" cy="1463040"/>
          </a:xfrm>
          <a:prstGeom prst="rect">
            <a:avLst/>
          </a:prstGeom>
        </p:spPr>
      </p:pic>
      <p:sp>
        <p:nvSpPr>
          <p:cNvPr id="19" name="QR caption"/>
          <p:cNvSpPr txBox="1"/>
          <p:nvPr/>
        </p:nvSpPr>
        <p:spPr>
          <a:xfrm>
            <a:off x="9921240" y="5230368"/>
            <a:ext cx="1719072" cy="365760"/>
          </a:xfrm>
          <a:prstGeom prst="rect">
            <a:avLst/>
          </a:prstGeom>
          <a:noFill/>
          <a:ln/>
        </p:spPr>
        <p:txBody>
          <a:bodyPr wrap="square" lIns="0" tIns="0" rIns="0" bIns="0" rtlCol="0" anchor="ctr"/>
          <a:lstStyle/>
          <a:p>
            <a:pPr algn="ctr" indent="0" marL="0">
              <a:lnSpc>
                <a:spcPct val="100000"/>
              </a:lnSpc>
              <a:buNone/>
            </a:pPr>
            <a:r>
              <a:rPr lang="en-US" sz="1400" b="1" dirty="0">
                <a:solidFill>
                  <a:srgbClr val="10313A"/>
                </a:solidFill>
                <a:latin typeface="Arial" pitchFamily="34" charset="0"/>
                <a:ea typeface="Arial" pitchFamily="34" charset="-122"/>
                <a:cs typeface="Arial" pitchFamily="34" charset="-120"/>
              </a:rPr>
              <a:t>Code &amp; data</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C8BF"/>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RASS Audit">
  <a:themeElements>
    <a:clrScheme name="RASS Audit">
      <a:dk1>
        <a:srgbClr val="17212B"/>
      </a:dk1>
      <a:lt1>
        <a:srgbClr val="FFFFFF"/>
      </a:lt1>
      <a:dk2>
        <a:srgbClr val="10313A"/>
      </a:dk2>
      <a:lt2>
        <a:srgbClr val="EEF3F4"/>
      </a:lt2>
      <a:accent1>
        <a:srgbClr val="1F8A80"/>
      </a:accent1>
      <a:accent2>
        <a:srgbClr val="E4572E"/>
      </a:accent2>
      <a:accent3>
        <a:srgbClr val="F2A541"/>
      </a:accent3>
      <a:accent4>
        <a:srgbClr val="5B6B78"/>
      </a:accent4>
      <a:accent5>
        <a:srgbClr val="7FC8BF"/>
      </a:accent5>
      <a:accent6>
        <a:srgbClr val="2E4756"/>
      </a:accent6>
      <a:hlink>
        <a:srgbClr val="1F8A80"/>
      </a:hlink>
      <a:folHlink>
        <a:srgbClr val="5B6B78"/>
      </a:folHlink>
    </a:clrScheme>
    <a:fontScheme name="RASS Audi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RASS: Risk-Audited Budget Selection for Compact NeRF Benchmark Subsets</dc:title>
  <dc:subject>PptxGenJS Presentation</dc:subject>
  <dc:creator>Ahmad AlMughrabi, Flavià Serret, Ricardo Marques, Petia Radeva</dc:creator>
  <cp:lastModifiedBy>Ahmad AlMughrabi, Flavià Serret, Ricardo Marques, Petia Radeva</cp:lastModifiedBy>
  <cp:revision>1</cp:revision>
  <dcterms:created xsi:type="dcterms:W3CDTF">2026-10-10T14:04:39Z</dcterms:created>
  <dcterms:modified xsi:type="dcterms:W3CDTF">2026-10-10T14:04:39Z</dcterms:modified>
</cp:coreProperties>
</file>